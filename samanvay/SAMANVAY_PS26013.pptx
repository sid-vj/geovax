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2.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3.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Mean score across the AOI</c:v>
                </c:pt>
              </c:strCache>
            </c:strRef>
          </c:tx>
          <c:spPr>
            <a:solidFill>
              <a:srgbClr val="0F6E5F"/>
            </a:solidFill>
            <a:effectLst/>
          </c:spPr>
          <c:invertIfNegative val="0"/>
          <c:dLbls>
            <c:numFmt formatCode="0.00" sourceLinked="0"/>
            <c:txPr>
              <a:bodyPr/>
              <a:lstStyle/>
              <a:p>
                <a:pPr>
                  <a:defRPr b="0" i="0" strike="noStrike" sz="1100" u="none">
                    <a:solidFill>
                      <a:srgbClr val="13202F"/>
                    </a:solidFill>
                    <a:latin typeface="Calibri"/>
                  </a:defRPr>
                </a:pPr>
              </a:p>
            </c:txPr>
            <c:showLegendKey val="0"/>
            <c:showVal val="1"/>
            <c:showCatName val="0"/>
            <c:showSerName val="0"/>
            <c:showPercent val="0"/>
            <c:showBubbleSize val="0"/>
            <c:showLeaderLines val="0"/>
          </c:dLbls>
          <c:cat>
            <c:multiLvlStrRef>
              <c:f>Sheet1!$A$2:$A$7</c:f>
              <c:multiLvlStrCache>
                <c:ptCount val="6"/>
                <c:lvl>
                  <c:pt idx="0">
                    <c:v>Lineage integrity</c:v>
                  </c:pt>
                  <c:pt idx="1">
                    <c:v>Topological</c:v>
                  </c:pt>
                  <c:pt idx="2">
                    <c:v>Temporal currency</c:v>
                  </c:pt>
                  <c:pt idx="3">
                    <c:v>Attribute completeness</c:v>
                  </c:pt>
                  <c:pt idx="4">
                    <c:v>Positional</c:v>
                  </c:pt>
                  <c:pt idx="5">
                    <c:v>Source agreement</c:v>
                  </c:pt>
                </c:lvl>
              </c:multiLvlStrCache>
            </c:multiLvlStrRef>
          </c:cat>
          <c:val>
            <c:numRef>
              <c:f>Sheet1!$B$2:$B$7</c:f>
              <c:numCache>
                <c:formatCode>General</c:formatCode>
                <c:ptCount val="6"/>
                <c:pt idx="0">
                  <c:v>1</c:v>
                </c:pt>
                <c:pt idx="1">
                  <c:v>1</c:v>
                </c:pt>
                <c:pt idx="2">
                  <c:v>0.73</c:v>
                </c:pt>
                <c:pt idx="3">
                  <c:v>0.49</c:v>
                </c:pt>
                <c:pt idx="4">
                  <c:v>0.42</c:v>
                </c:pt>
                <c:pt idx="5">
                  <c:v>0.33</c:v>
                </c:pt>
              </c:numCache>
            </c:numRef>
          </c:val>
        </c:ser>
        <c:dLbls>
          <c:numFmt formatCode="0.00" sourceLinked="0"/>
          <c:txPr>
            <a:bodyPr/>
            <a:lstStyle/>
            <a:p>
              <a:pPr>
                <a:defRPr b="0" i="0" strike="noStrike" sz="1100" u="none">
                  <a:solidFill>
                    <a:srgbClr val="13202F"/>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50" b="0" i="0" u="none" strike="noStrike">
                <a:solidFill>
                  <a:srgbClr val="13202F"/>
                </a:solidFill>
                <a:latin typeface="Calibri"/>
              </a:defRPr>
            </a:pPr>
            <a:endParaRPr lang="en-US"/>
          </a:p>
        </c:txPr>
        <c:crossAx val="2094734552"/>
        <c:crosses val="autoZero"/>
        <c:auto val="1"/>
        <c:lblAlgn val="ctr"/>
        <c:noMultiLvlLbl val="1"/>
      </c:catAx>
      <c:valAx>
        <c:axId val="2094734552"/>
        <c:scaling>
          <c:orientation val="minMax"/>
          <c:max val="1.1"/>
          <c:min val="0"/>
        </c:scaling>
        <c:delete val="0"/>
        <c:axPos val="b"/>
        <c:majorGridlines>
          <c:spPr>
            <a:ln w="12700" cap="flat">
              <a:solidFill>
                <a:srgbClr val="E3E8ED"/>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C6B7A"/>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Buildings</c:v>
                </c:pt>
              </c:strCache>
            </c:strRef>
          </c:tx>
          <c:spPr>
            <a:solidFill>
              <a:srgbClr val="1E3350"/>
            </a:solidFill>
            <a:effectLst/>
          </c:spPr>
          <c:invertIfNegative val="0"/>
          <c:dLbls>
            <c:numFmt formatCode="#,##0" sourceLinked="0"/>
            <c:txPr>
              <a:bodyPr/>
              <a:lstStyle/>
              <a:p>
                <a:pPr>
                  <a:defRPr b="0" i="0" strike="noStrike" sz="1000" u="none">
                    <a:solidFill>
                      <a:srgbClr val="13202F"/>
                    </a:solidFill>
                    <a:latin typeface="Calibri"/>
                  </a:defRPr>
                </a:pPr>
              </a:p>
            </c:txPr>
            <c:showLegendKey val="0"/>
            <c:showVal val="1"/>
            <c:showCatName val="0"/>
            <c:showSerName val="0"/>
            <c:showPercent val="0"/>
            <c:showBubbleSize val="0"/>
            <c:showLeaderLines val="0"/>
          </c:dLbls>
          <c:cat>
            <c:multiLvlStrRef>
              <c:f>Sheet1!$A$2:$A$7</c:f>
              <c:multiLvlStrCache>
                <c:ptCount val="6"/>
                <c:lvl>
                  <c:pt idx="0">
                    <c:v>1 storey</c:v>
                  </c:pt>
                  <c:pt idx="1">
                    <c:v>2</c:v>
                  </c:pt>
                  <c:pt idx="2">
                    <c:v>3</c:v>
                  </c:pt>
                  <c:pt idx="3">
                    <c:v>4</c:v>
                  </c:pt>
                  <c:pt idx="4">
                    <c:v>5</c:v>
                  </c:pt>
                  <c:pt idx="5">
                    <c:v>6</c:v>
                  </c:pt>
                </c:lvl>
              </c:multiLvlStrCache>
            </c:multiLvlStrRef>
          </c:cat>
          <c:val>
            <c:numRef>
              <c:f>Sheet1!$B$2:$B$7</c:f>
              <c:numCache>
                <c:formatCode>General</c:formatCode>
                <c:ptCount val="6"/>
                <c:pt idx="0">
                  <c:v>62</c:v>
                </c:pt>
                <c:pt idx="1">
                  <c:v>165</c:v>
                </c:pt>
                <c:pt idx="2">
                  <c:v>83</c:v>
                </c:pt>
                <c:pt idx="3">
                  <c:v>13</c:v>
                </c:pt>
                <c:pt idx="4">
                  <c:v>3</c:v>
                </c:pt>
                <c:pt idx="5">
                  <c:v>2</c:v>
                </c:pt>
              </c:numCache>
            </c:numRef>
          </c:val>
        </c:ser>
        <c:dLbls>
          <c:numFmt formatCode="#,##0" sourceLinked="0"/>
          <c:txPr>
            <a:bodyPr/>
            <a:lstStyle/>
            <a:p>
              <a:pPr>
                <a:defRPr b="0" i="0" strike="noStrike" sz="1000" u="none">
                  <a:solidFill>
                    <a:srgbClr val="13202F"/>
                  </a:solidFill>
                  <a:latin typeface="Calibri"/>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13202F"/>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3E8E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C6B7A"/>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Confidence grade</c:v>
                </c:pt>
              </c:strCache>
            </c:strRef>
          </c:tx>
          <c:spPr>
            <a:solidFill>
              <a:schemeClr val="accent1"/>
            </a:solidFill>
            <a:ln w="9525" cap="flat">
              <a:solidFill>
                <a:srgbClr val="F9F9F9"/>
              </a:solidFill>
              <a:prstDash val="solid"/>
              <a:round/>
            </a:ln>
            <a:effectLst/>
          </c:spPr>
          <c:dPt>
            <c:idx val="0"/>
            <c:bubble3D val="0"/>
            <c:spPr>
              <a:solidFill>
                <a:srgbClr val="0F6E5F"/>
              </a:solidFill>
              <a:effectLst/>
            </c:spPr>
          </c:dPt>
          <c:dPt>
            <c:idx val="1"/>
            <c:bubble3D val="0"/>
            <c:spPr>
              <a:solidFill>
                <a:srgbClr val="D9743B"/>
              </a:solidFill>
              <a:effectLst/>
            </c:spPr>
          </c:dPt>
          <c:dLbls>
            <c:dLbl>
              <c:idx val="0"/>
              <c:numFmt formatCode="0%" sourceLinked="0"/>
              <c:spPr/>
              <c:txPr>
                <a:bodyPr/>
                <a:lstStyle/>
                <a:p>
                  <a:pPr>
                    <a:defRPr sz="1300" b="1" i="0" u="none" strike="noStrike">
                      <a:solidFill>
                        <a:srgbClr val="FFFFFF"/>
                      </a:solidFill>
                      <a:latin typeface="Calibri"/>
                    </a:defRPr>
                  </a:pPr>
                </a:p>
              </c:txPr>
              <c:showLegendKey val="0"/>
              <c:showVal val="0"/>
              <c:showCatName val="0"/>
              <c:showSerName val="0"/>
              <c:showPercent val="1"/>
              <c:showBubbleSize val="0"/>
            </c:dLbl>
            <c:dLbl>
              <c:idx val="1"/>
              <c:numFmt formatCode="0%" sourceLinked="0"/>
              <c:spPr/>
              <c:txPr>
                <a:bodyPr/>
                <a:lstStyle/>
                <a:p>
                  <a:pPr>
                    <a:defRPr sz="1300" b="1" i="0" u="none" strike="noStrike">
                      <a:solidFill>
                        <a:srgbClr val="FFFFFF"/>
                      </a:solidFill>
                      <a:latin typeface="Calibri"/>
                    </a:defRPr>
                  </a:pPr>
                </a:p>
              </c:txPr>
              <c:showLegendKey val="0"/>
              <c:showVal val="0"/>
              <c:showCatName val="0"/>
              <c:showSerName val="0"/>
              <c:showPercent val="1"/>
              <c:showBubbleSize val="0"/>
            </c:dLbl>
            <c:numFmt formatCode="0%"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C — desk review</c:v>
                </c:pt>
                <c:pt idx="1">
                  <c:v>D — field verification</c:v>
                </c:pt>
              </c:strCache>
            </c:strRef>
          </c:cat>
          <c:val>
            <c:numRef>
              <c:f>Sheet1!$B$2:$B$3</c:f>
              <c:numCache>
                <c:ptCount val="2"/>
                <c:pt idx="0">
                  <c:v>51852</c:v>
                </c:pt>
                <c:pt idx="1">
                  <c:v>55410</c:v>
                </c:pt>
              </c:numCache>
            </c:numRef>
          </c:val>
        </c:ser>
        <c:firstSliceAng val="0"/>
        <c:holeSize val="55"/>
      </c:doughnutChart>
      <c:spPr>
        <a:noFill/>
        <a:ln>
          <a:noFill/>
        </a:ln>
        <a:effectLst/>
      </c:spPr>
    </c:plotArea>
    <c:legend>
      <c:legendPos val="b"/>
      <c:overlay val="0"/>
      <c:txPr>
        <a:bodyPr/>
        <a:lstStyle/>
        <a:p>
          <a:pPr>
            <a:defRPr sz="1150">
              <a:solidFill>
                <a:srgbClr val="C9D6E2"/>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SAMANVAY is Sanskrit for harmonisation. Problem Statement 26013 from the Department of Land Resources asks for automated integration and intelligent harmonisation of multi-source geospatial data for urban land records. Everything in this deck was measured on real Indian government data — there is no synthetic data anywhere in the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any piece of urban ground in India there are between four and ten authoritative-looking geometries and they disagree. The revenue map, the corporation survey, the utility layer, the satellite-derived footprints and the new drone survey each put the same wall somewhere different, with a different identifier, in a different schema, from a different year, to a different accuracy. None of them is simply wrong. Today a GIS analyst reconciles this by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outputs. The confidence score and the adjudication queue are what make the other four usable: an officer needs to know which records to publish, which to review, and which to send a team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Claims are immutable. A source asserts a claim; the platform decides which claims survive and records why. That is what lets a decision be re-examined years later, and what lets a policy change be replayed over the same claims without re-ingesting anything.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Synthetic data would have made every number better and none of them meaningful — a matcher tuned on generated offsets learns the generator. The discrepancies found here are the discrepancies that exist in Indian urban land data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Nobody has ever produced a labelled correspondence set for Indian cadastral layers, and waiting for one is why this problem stays unsolved. Eight programmatic labelling functions vote on the easy cases; pairs they disagree on abstain, because those are exactly the pairs the model is needed for. Self-training then expands the labels over the full distribution.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real measurement from the real data, and it is the single clearest demonstration of why the platform is worth running. The Greater Chennai Corporation survey and the Google Open Buildings extraction are systematically offset by 1.51 m on a bearing of 073 degrees. Every overlay anyone builds from these two layers inherits that error silently. The platform measures it from 522 confident pairs using a median rather than a mean, so genuine change cannot drag the estimate, removes it before matching, and reports it as a finding to the department.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Dempster-Shafer separates disagreement from ignorance. A source with reliability 0.9 asserting X puts 0.1 on unknown, not on not-X. That is what allows a single source to be a weak witness rather than an implicit refutation of everything else. The conflict mass K is retained rather than normalised away, because a high K is precisely the signal that a human is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single number is useless to the officer who has to sign the record. They need to know what kind of doubt they are looking at: a parcel that is positionally excellent but has one unverified owner name needs a different action from one whose geometry three sources disagree about.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Escalation is only useful if the escalated cases arrive in an order that respects the officer's time. And the most damaging mistake a harmonisation platform can make is to treat a re-survey as thousands of mutations.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independent photogrammetric reconstructions of the same flight depict the same ground at the same instant. Every region the change detector flags between them is a false positive by construction. That turns change detection into a controlled null experiment with a measured noise floor, rather than an asserted accuracy.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of these is implemented and running, and each exists because the problem statement's outcome — standardised digital land governance — needs it even though the requirement list does not name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high-impact features built on the existing architecture, connecting modern GIS with traditional land administration and legal 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result of running the platform over Chennai's real, current, official land data, and it is worth stating plainly. No feature reaches grade A or B against NAKSHA's 0.5 metre urban specification. The best available source is a 1 metre municipal survey and three quarters of features are corroborated by only one source. That is not a failure of the platform — it is the platform doing its job: quantifying the gap that NAKSHA exists to close, parcel by parcel, so survey effort can be directed where the evidence says it is needed rather than uniformly.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land-records platform that does not fit its legal and technical frame is a prototype, not a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this is a working system, not a mock-up. Ten thousand lines of Python, eighty-one passing tests, running end to end on half a million real government features on two CPU cores — because a platform that needs a data centre to harmonise one ward cannot be deployed to four thousand urban local bodies.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02F"/>
        </a:solidFill>
      </p:bgPr>
    </p:bg>
    <p:spTree>
      <p:nvGrpSpPr>
        <p:cNvPr id="1" name=""/>
        <p:cNvGrpSpPr/>
        <p:nvPr/>
      </p:nvGrpSpPr>
      <p:grpSpPr>
        <a:xfrm>
          <a:off x="0" y="0"/>
          <a:ext cx="0" cy="0"/>
          <a:chOff x="0" y="0"/>
          <a:chExt cx="0" cy="0"/>
        </a:xfrm>
      </p:grpSpPr>
      <p:sp>
        <p:nvSpPr>
          <p:cNvPr id="3" name="Shape 0"/>
          <p:cNvSpPr/>
          <p:nvPr/>
        </p:nvSpPr>
        <p:spPr>
          <a:xfrm>
            <a:off x="8321040" y="-1371600"/>
            <a:ext cx="5852160" cy="5852160"/>
          </a:xfrm>
          <a:prstGeom prst="ellipse">
            <a:avLst/>
          </a:prstGeom>
          <a:solidFill>
            <a:srgbClr val="1E3350"/>
          </a:solidFill>
          <a:ln w="12700">
            <a:solidFill>
              <a:srgbClr val="1E3350"/>
            </a:solidFill>
            <a:prstDash val="solid"/>
          </a:ln>
        </p:spPr>
      </p:sp>
      <p:sp>
        <p:nvSpPr>
          <p:cNvPr id="4" name="Shape 1"/>
          <p:cNvSpPr/>
          <p:nvPr/>
        </p:nvSpPr>
        <p:spPr>
          <a:xfrm>
            <a:off x="9692640" y="2834640"/>
            <a:ext cx="3291840" cy="3291840"/>
          </a:xfrm>
          <a:prstGeom prst="ellipse">
            <a:avLst/>
          </a:prstGeom>
          <a:solidFill>
            <a:srgbClr val="0F6E5F"/>
          </a:solidFill>
          <a:ln w="12700">
            <a:solidFill>
              <a:srgbClr val="0F6E5F"/>
            </a:solidFill>
            <a:prstDash val="solid"/>
          </a:ln>
        </p:spPr>
      </p:sp>
      <p:sp>
        <p:nvSpPr>
          <p:cNvPr id="5" name="Text 2"/>
          <p:cNvSpPr txBox="1"/>
          <p:nvPr/>
        </p:nvSpPr>
        <p:spPr>
          <a:xfrm>
            <a:off x="566928" y="1874520"/>
            <a:ext cx="7863840" cy="1143000"/>
          </a:xfrm>
          <a:prstGeom prst="rect">
            <a:avLst/>
          </a:prstGeom>
          <a:noFill/>
          <a:ln/>
        </p:spPr>
        <p:txBody>
          <a:bodyPr wrap="square" lIns="0" tIns="0" rIns="0" bIns="0" rtlCol="0" anchor="t"/>
          <a:lstStyle/>
          <a:p>
            <a:pPr indent="0" marL="0">
              <a:buNone/>
            </a:pPr>
            <a:r>
              <a:rPr lang="en-US" sz="6000" b="1" spc="300" kern="0" dirty="0">
                <a:solidFill>
                  <a:srgbClr val="FFFFFF"/>
                </a:solidFill>
                <a:latin typeface="Cambria" pitchFamily="34" charset="0"/>
                <a:ea typeface="Cambria" pitchFamily="34" charset="-122"/>
                <a:cs typeface="Cambria" pitchFamily="34" charset="-120"/>
              </a:rPr>
              <a:t>SAMANVAY</a:t>
            </a:r>
            <a:endParaRPr lang="en-US" sz="6000" dirty="0"/>
          </a:p>
        </p:txBody>
      </p:sp>
      <p:sp>
        <p:nvSpPr>
          <p:cNvPr id="6" name="Text 3"/>
          <p:cNvSpPr txBox="1"/>
          <p:nvPr/>
        </p:nvSpPr>
        <p:spPr>
          <a:xfrm>
            <a:off x="566928" y="3035808"/>
            <a:ext cx="7589520" cy="914400"/>
          </a:xfrm>
          <a:prstGeom prst="rect">
            <a:avLst/>
          </a:prstGeom>
          <a:noFill/>
          <a:ln/>
        </p:spPr>
        <p:txBody>
          <a:bodyPr wrap="square" lIns="0" tIns="0" rIns="0" bIns="0" rtlCol="0" anchor="t"/>
          <a:lstStyle/>
          <a:p>
            <a:pPr indent="0" marL="0">
              <a:lnSpc>
                <a:spcPts val="2600"/>
              </a:lnSpc>
              <a:buNone/>
            </a:pPr>
            <a:r>
              <a:rPr lang="en-US" sz="1700" dirty="0">
                <a:solidFill>
                  <a:srgbClr val="C9D6E2"/>
                </a:solidFill>
                <a:latin typeface="Calibri" pitchFamily="34" charset="0"/>
                <a:ea typeface="Calibri" pitchFamily="34" charset="-122"/>
                <a:cs typeface="Calibri" pitchFamily="34" charset="-120"/>
              </a:rPr>
              <a:t>An AI-enabled platform that integrates, harmonises, validates and</a:t>
            </a:r>
            <a:endParaRPr lang="en-US" sz="1700" dirty="0"/>
          </a:p>
          <a:p>
            <a:pPr indent="0" marL="0">
              <a:lnSpc>
                <a:spcPts val="2600"/>
              </a:lnSpc>
              <a:buNone/>
            </a:pPr>
            <a:r>
              <a:rPr lang="en-US" sz="1700" dirty="0">
                <a:solidFill>
                  <a:srgbClr val="C9D6E2"/>
                </a:solidFill>
                <a:latin typeface="Calibri" pitchFamily="34" charset="0"/>
                <a:ea typeface="Calibri" pitchFamily="34" charset="-122"/>
                <a:cs typeface="Calibri" pitchFamily="34" charset="-120"/>
              </a:rPr>
              <a:t>synchronises multi-source land data — and shows its working.</a:t>
            </a:r>
            <a:endParaRPr lang="en-US" sz="1700" dirty="0"/>
          </a:p>
        </p:txBody>
      </p:sp>
      <p:sp>
        <p:nvSpPr>
          <p:cNvPr id="7" name="Shape 4"/>
          <p:cNvSpPr/>
          <p:nvPr/>
        </p:nvSpPr>
        <p:spPr>
          <a:xfrm>
            <a:off x="566928" y="4224528"/>
            <a:ext cx="4846320" cy="457200"/>
          </a:xfrm>
          <a:prstGeom prst="roundRect">
            <a:avLst>
              <a:gd name="adj" fmla="val 50000"/>
            </a:avLst>
          </a:prstGeom>
          <a:solidFill>
            <a:srgbClr val="D9743B"/>
          </a:solidFill>
          <a:ln w="12700">
            <a:solidFill>
              <a:srgbClr val="D9743B"/>
            </a:solidFill>
            <a:prstDash val="solid"/>
          </a:ln>
        </p:spPr>
      </p:sp>
      <p:sp>
        <p:nvSpPr>
          <p:cNvPr id="8" name="Text 5"/>
          <p:cNvSpPr txBox="1"/>
          <p:nvPr/>
        </p:nvSpPr>
        <p:spPr>
          <a:xfrm>
            <a:off x="566928" y="4224528"/>
            <a:ext cx="484632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PS 26013  ·  Smart India Hackathon 2026</a:t>
            </a:r>
            <a:endParaRPr lang="en-US" sz="1300" dirty="0"/>
          </a:p>
        </p:txBody>
      </p:sp>
      <p:sp>
        <p:nvSpPr>
          <p:cNvPr id="9" name="Text 6"/>
          <p:cNvSpPr txBox="1"/>
          <p:nvPr/>
        </p:nvSpPr>
        <p:spPr>
          <a:xfrm>
            <a:off x="566928" y="4956048"/>
            <a:ext cx="7863840" cy="292608"/>
          </a:xfrm>
          <a:prstGeom prst="rect">
            <a:avLst/>
          </a:prstGeom>
          <a:noFill/>
          <a:ln/>
        </p:spPr>
        <p:txBody>
          <a:bodyPr wrap="square" lIns="0" tIns="0" rIns="0" bIns="0" rtlCol="0" anchor="t"/>
          <a:lstStyle/>
          <a:p>
            <a:pPr indent="0" marL="0">
              <a:buNone/>
            </a:pPr>
            <a:r>
              <a:rPr lang="en-US" sz="1200" dirty="0">
                <a:solidFill>
                  <a:srgbClr val="C9D6E2"/>
                </a:solidFill>
                <a:latin typeface="Calibri" pitchFamily="34" charset="0"/>
                <a:ea typeface="Calibri" pitchFamily="34" charset="-122"/>
                <a:cs typeface="Calibri" pitchFamily="34" charset="-120"/>
              </a:rPr>
              <a:t>Ministry of Rural Development  ·  Department of Land Resources  ·  Smart Automation</a:t>
            </a:r>
            <a:endParaRPr lang="en-US" sz="1200" dirty="0"/>
          </a:p>
        </p:txBody>
      </p:sp>
      <p:sp>
        <p:nvSpPr>
          <p:cNvPr id="10" name="Text 7"/>
          <p:cNvSpPr txBox="1"/>
          <p:nvPr/>
        </p:nvSpPr>
        <p:spPr>
          <a:xfrm>
            <a:off x="566928" y="5623560"/>
            <a:ext cx="8595360" cy="329184"/>
          </a:xfrm>
          <a:prstGeom prst="rect">
            <a:avLst/>
          </a:prstGeom>
          <a:noFill/>
          <a:ln/>
        </p:spPr>
        <p:txBody>
          <a:bodyPr wrap="square" lIns="0" tIns="0" rIns="0" bIns="0" rtlCol="0" anchor="t"/>
          <a:lstStyle/>
          <a:p>
            <a:pPr indent="0" marL="0">
              <a:buNone/>
            </a:pPr>
            <a:r>
              <a:rPr lang="en-US" sz="1250" i="1" dirty="0">
                <a:solidFill>
                  <a:srgbClr val="D9743B"/>
                </a:solidFill>
                <a:latin typeface="Calibri" pitchFamily="34" charset="0"/>
                <a:ea typeface="Calibri" pitchFamily="34" charset="-122"/>
                <a:cs typeface="Calibri" pitchFamily="34" charset="-120"/>
              </a:rPr>
              <a:t>531,020 real features  ·  5 government sources  ·  76.7 km² of Chennai  ·  zero synthetic data</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10896"/>
            <a:ext cx="10058400" cy="237744"/>
          </a:xfrm>
          <a:prstGeom prst="rect">
            <a:avLst/>
          </a:prstGeom>
          <a:noFill/>
          <a:ln/>
        </p:spPr>
        <p:txBody>
          <a:bodyPr wrap="square" lIns="0" tIns="0" rIns="0" bIns="0" rtlCol="0" anchor="t"/>
          <a:lstStyle/>
          <a:p>
            <a:pPr indent="0" marL="0">
              <a:buNone/>
            </a:pPr>
            <a:r>
              <a:rPr lang="en-US" sz="1100" b="1" spc="200" kern="0" dirty="0">
                <a:solidFill>
                  <a:srgbClr val="D9743B"/>
                </a:solidFill>
                <a:latin typeface="Calibri" pitchFamily="34" charset="0"/>
                <a:ea typeface="Calibri" pitchFamily="34" charset="-122"/>
                <a:cs typeface="Calibri" pitchFamily="34" charset="-120"/>
              </a:rPr>
              <a:t>THE PROBLEM</a:t>
            </a:r>
            <a:endParaRPr lang="en-US" sz="1100" dirty="0"/>
          </a:p>
        </p:txBody>
      </p:sp>
      <p:sp>
        <p:nvSpPr>
          <p:cNvPr id="3" name="Text 1"/>
          <p:cNvSpPr txBox="1"/>
          <p:nvPr/>
        </p:nvSpPr>
        <p:spPr>
          <a:xfrm>
            <a:off x="566928" y="621792"/>
            <a:ext cx="11064240" cy="896112"/>
          </a:xfrm>
          <a:prstGeom prst="rect">
            <a:avLst/>
          </a:prstGeom>
          <a:noFill/>
          <a:ln/>
        </p:spPr>
        <p:txBody>
          <a:bodyPr wrap="square" lIns="0" tIns="0" rIns="0" bIns="0" rtlCol="0" anchor="t"/>
          <a:lstStyle/>
          <a:p>
            <a:pPr indent="0" marL="0">
              <a:buNone/>
            </a:pPr>
            <a:r>
              <a:rPr lang="en-US" sz="3000" b="1" dirty="0">
                <a:solidFill>
                  <a:srgbClr val="13202F"/>
                </a:solidFill>
                <a:latin typeface="Cambria" pitchFamily="34" charset="0"/>
                <a:ea typeface="Cambria" pitchFamily="34" charset="-122"/>
                <a:cs typeface="Cambria" pitchFamily="34" charset="-120"/>
              </a:rPr>
              <a:t>One wall. Six authoritative positions. All defensible.</a:t>
            </a:r>
            <a:endParaRPr lang="en-US" sz="3000" dirty="0"/>
          </a:p>
        </p:txBody>
      </p:sp>
      <p:sp>
        <p:nvSpPr>
          <p:cNvPr id="5" name="Text 2"/>
          <p:cNvSpPr txBox="1"/>
          <p:nvPr/>
        </p:nvSpPr>
        <p:spPr>
          <a:xfrm>
            <a:off x="566928" y="1700784"/>
            <a:ext cx="3566160" cy="237744"/>
          </a:xfrm>
          <a:prstGeom prst="rect">
            <a:avLst/>
          </a:prstGeom>
          <a:noFill/>
          <a:ln/>
        </p:spPr>
        <p:txBody>
          <a:bodyPr wrap="square" lIns="0" tIns="0" rIns="0" bIns="0" rtlCol="0" anchor="t"/>
          <a:lstStyle/>
          <a:p>
            <a:pPr indent="0" marL="0">
              <a:buNone/>
            </a:pPr>
            <a:r>
              <a:rPr lang="en-US" sz="950" b="1" spc="100" kern="0" dirty="0">
                <a:solidFill>
                  <a:srgbClr val="5C6B7A"/>
                </a:solidFill>
                <a:latin typeface="Calibri" pitchFamily="34" charset="0"/>
                <a:ea typeface="Calibri" pitchFamily="34" charset="-122"/>
                <a:cs typeface="Calibri" pitchFamily="34" charset="-120"/>
              </a:rPr>
              <a:t>PRODUCING AUTHORITY</a:t>
            </a:r>
            <a:endParaRPr lang="en-US" sz="950" dirty="0"/>
          </a:p>
        </p:txBody>
      </p:sp>
      <p:sp>
        <p:nvSpPr>
          <p:cNvPr id="6" name="Text 3"/>
          <p:cNvSpPr txBox="1"/>
          <p:nvPr/>
        </p:nvSpPr>
        <p:spPr>
          <a:xfrm>
            <a:off x="4224528" y="1700784"/>
            <a:ext cx="3108960" cy="237744"/>
          </a:xfrm>
          <a:prstGeom prst="rect">
            <a:avLst/>
          </a:prstGeom>
          <a:noFill/>
          <a:ln/>
        </p:spPr>
        <p:txBody>
          <a:bodyPr wrap="square" lIns="0" tIns="0" rIns="0" bIns="0" rtlCol="0" anchor="t"/>
          <a:lstStyle/>
          <a:p>
            <a:pPr indent="0" marL="0">
              <a:buNone/>
            </a:pPr>
            <a:r>
              <a:rPr lang="en-US" sz="950" b="1" spc="100" kern="0" dirty="0">
                <a:solidFill>
                  <a:srgbClr val="5C6B7A"/>
                </a:solidFill>
                <a:latin typeface="Calibri" pitchFamily="34" charset="0"/>
                <a:ea typeface="Calibri" pitchFamily="34" charset="-122"/>
                <a:cs typeface="Calibri" pitchFamily="34" charset="-120"/>
              </a:rPr>
              <a:t>WHAT IT PRODUCES</a:t>
            </a:r>
            <a:endParaRPr lang="en-US" sz="950" dirty="0"/>
          </a:p>
        </p:txBody>
      </p:sp>
      <p:sp>
        <p:nvSpPr>
          <p:cNvPr id="7" name="Text 4"/>
          <p:cNvSpPr txBox="1"/>
          <p:nvPr/>
        </p:nvSpPr>
        <p:spPr>
          <a:xfrm>
            <a:off x="7424928" y="1700784"/>
            <a:ext cx="1920240" cy="237744"/>
          </a:xfrm>
          <a:prstGeom prst="rect">
            <a:avLst/>
          </a:prstGeom>
          <a:noFill/>
          <a:ln/>
        </p:spPr>
        <p:txBody>
          <a:bodyPr wrap="square" lIns="0" tIns="0" rIns="0" bIns="0" rtlCol="0" anchor="t"/>
          <a:lstStyle/>
          <a:p>
            <a:pPr indent="0" marL="0">
              <a:buNone/>
            </a:pPr>
            <a:r>
              <a:rPr lang="en-US" sz="950" b="1" spc="100" kern="0" dirty="0">
                <a:solidFill>
                  <a:srgbClr val="5C6B7A"/>
                </a:solidFill>
                <a:latin typeface="Calibri" pitchFamily="34" charset="0"/>
                <a:ea typeface="Calibri" pitchFamily="34" charset="-122"/>
                <a:cs typeface="Calibri" pitchFamily="34" charset="-120"/>
              </a:rPr>
              <a:t>TYPICAL ERROR</a:t>
            </a:r>
            <a:endParaRPr lang="en-US" sz="950" dirty="0"/>
          </a:p>
        </p:txBody>
      </p:sp>
      <p:sp>
        <p:nvSpPr>
          <p:cNvPr id="8" name="Text 5"/>
          <p:cNvSpPr txBox="1"/>
          <p:nvPr/>
        </p:nvSpPr>
        <p:spPr>
          <a:xfrm>
            <a:off x="9436608" y="1700784"/>
            <a:ext cx="2103120" cy="237744"/>
          </a:xfrm>
          <a:prstGeom prst="rect">
            <a:avLst/>
          </a:prstGeom>
          <a:noFill/>
          <a:ln/>
        </p:spPr>
        <p:txBody>
          <a:bodyPr wrap="square" lIns="0" tIns="0" rIns="0" bIns="0" rtlCol="0" anchor="t"/>
          <a:lstStyle/>
          <a:p>
            <a:pPr indent="0" marL="0">
              <a:buNone/>
            </a:pPr>
            <a:r>
              <a:rPr lang="en-US" sz="950" b="1" spc="100" kern="0" dirty="0">
                <a:solidFill>
                  <a:srgbClr val="5C6B7A"/>
                </a:solidFill>
                <a:latin typeface="Calibri" pitchFamily="34" charset="0"/>
                <a:ea typeface="Calibri" pitchFamily="34" charset="-122"/>
                <a:cs typeface="Calibri" pitchFamily="34" charset="-120"/>
              </a:rPr>
              <a:t>CADENCE</a:t>
            </a:r>
            <a:endParaRPr lang="en-US" sz="950" dirty="0"/>
          </a:p>
        </p:txBody>
      </p:sp>
      <p:sp>
        <p:nvSpPr>
          <p:cNvPr id="9" name="Shape 6"/>
          <p:cNvSpPr/>
          <p:nvPr/>
        </p:nvSpPr>
        <p:spPr>
          <a:xfrm>
            <a:off x="420624" y="1984248"/>
            <a:ext cx="11320272" cy="475488"/>
          </a:xfrm>
          <a:prstGeom prst="roundRect">
            <a:avLst>
              <a:gd name="adj" fmla="val 15385"/>
            </a:avLst>
          </a:prstGeom>
          <a:solidFill>
            <a:srgbClr val="EEF2F5"/>
          </a:solidFill>
          <a:ln w="12700">
            <a:solidFill>
              <a:srgbClr val="EEF2F5"/>
            </a:solidFill>
            <a:prstDash val="solid"/>
          </a:ln>
        </p:spPr>
      </p:sp>
      <p:sp>
        <p:nvSpPr>
          <p:cNvPr id="10" name="Text 7"/>
          <p:cNvSpPr txBox="1"/>
          <p:nvPr/>
        </p:nvSpPr>
        <p:spPr>
          <a:xfrm>
            <a:off x="566928" y="2029968"/>
            <a:ext cx="3566160" cy="384048"/>
          </a:xfrm>
          <a:prstGeom prst="rect">
            <a:avLst/>
          </a:prstGeom>
          <a:noFill/>
          <a:ln/>
        </p:spPr>
        <p:txBody>
          <a:bodyPr wrap="square" lIns="0" tIns="0" rIns="0" bIns="0" rtlCol="0" anchor="ctr"/>
          <a:lstStyle/>
          <a:p>
            <a:pPr indent="0" marL="0">
              <a:buNone/>
            </a:pPr>
            <a:r>
              <a:rPr lang="en-US" sz="1250" b="1" dirty="0">
                <a:solidFill>
                  <a:srgbClr val="13202F"/>
                </a:solidFill>
                <a:latin typeface="Calibri" pitchFamily="34" charset="0"/>
                <a:ea typeface="Calibri" pitchFamily="34" charset="-122"/>
                <a:cs typeface="Calibri" pitchFamily="34" charset="-120"/>
              </a:rPr>
              <a:t>Drone survey / photogrammetry</a:t>
            </a:r>
            <a:endParaRPr lang="en-US" sz="1250" dirty="0"/>
          </a:p>
        </p:txBody>
      </p:sp>
      <p:sp>
        <p:nvSpPr>
          <p:cNvPr id="11" name="Text 8"/>
          <p:cNvSpPr txBox="1"/>
          <p:nvPr/>
        </p:nvSpPr>
        <p:spPr>
          <a:xfrm>
            <a:off x="4224528" y="2029968"/>
            <a:ext cx="3108960" cy="384048"/>
          </a:xfrm>
          <a:prstGeom prst="rect">
            <a:avLst/>
          </a:prstGeom>
          <a:noFill/>
          <a:ln/>
        </p:spPr>
        <p:txBody>
          <a:bodyPr wrap="square" lIns="0" tIns="0" rIns="0" bIns="0" rtlCol="0" anchor="ctr"/>
          <a:lstStyle/>
          <a:p>
            <a:pPr indent="0" marL="0">
              <a:buNone/>
            </a:pPr>
            <a:r>
              <a:rPr lang="en-US" sz="1250" dirty="0">
                <a:solidFill>
                  <a:srgbClr val="13202F"/>
                </a:solidFill>
                <a:latin typeface="Calibri" pitchFamily="34" charset="0"/>
                <a:ea typeface="Calibri" pitchFamily="34" charset="-122"/>
                <a:cs typeface="Calibri" pitchFamily="34" charset="-120"/>
              </a:rPr>
              <a:t>ORI, DSM, DTM</a:t>
            </a:r>
            <a:endParaRPr lang="en-US" sz="1250" dirty="0"/>
          </a:p>
        </p:txBody>
      </p:sp>
      <p:sp>
        <p:nvSpPr>
          <p:cNvPr id="12" name="Text 9"/>
          <p:cNvSpPr txBox="1"/>
          <p:nvPr/>
        </p:nvSpPr>
        <p:spPr>
          <a:xfrm>
            <a:off x="7424928" y="2029968"/>
            <a:ext cx="1920240" cy="384048"/>
          </a:xfrm>
          <a:prstGeom prst="rect">
            <a:avLst/>
          </a:prstGeom>
          <a:noFill/>
          <a:ln/>
        </p:spPr>
        <p:txBody>
          <a:bodyPr wrap="square" lIns="0" tIns="0" rIns="0" bIns="0" rtlCol="0" anchor="ctr"/>
          <a:lstStyle/>
          <a:p>
            <a:pPr indent="0" marL="0">
              <a:buNone/>
            </a:pPr>
            <a:r>
              <a:rPr lang="en-US" sz="1250" dirty="0">
                <a:solidFill>
                  <a:srgbClr val="D9743B"/>
                </a:solidFill>
                <a:latin typeface="Calibri" pitchFamily="34" charset="0"/>
                <a:ea typeface="Calibri" pitchFamily="34" charset="-122"/>
                <a:cs typeface="Calibri" pitchFamily="34" charset="-120"/>
              </a:rPr>
              <a:t>3–10 cm</a:t>
            </a:r>
            <a:endParaRPr lang="en-US" sz="1250" dirty="0"/>
          </a:p>
        </p:txBody>
      </p:sp>
      <p:sp>
        <p:nvSpPr>
          <p:cNvPr id="13" name="Text 10"/>
          <p:cNvSpPr txBox="1"/>
          <p:nvPr/>
        </p:nvSpPr>
        <p:spPr>
          <a:xfrm>
            <a:off x="9436608" y="2029968"/>
            <a:ext cx="2103120" cy="384048"/>
          </a:xfrm>
          <a:prstGeom prst="rect">
            <a:avLst/>
          </a:prstGeom>
          <a:noFill/>
          <a:ln/>
        </p:spPr>
        <p:txBody>
          <a:bodyPr wrap="square" lIns="0" tIns="0" rIns="0" bIns="0" rtlCol="0" anchor="ctr"/>
          <a:lstStyle/>
          <a:p>
            <a:pPr indent="0" marL="0">
              <a:buNone/>
            </a:pPr>
            <a:r>
              <a:rPr lang="en-US" sz="1250" dirty="0">
                <a:solidFill>
                  <a:srgbClr val="13202F"/>
                </a:solidFill>
                <a:latin typeface="Calibri" pitchFamily="34" charset="0"/>
                <a:ea typeface="Calibri" pitchFamily="34" charset="-122"/>
                <a:cs typeface="Calibri" pitchFamily="34" charset="-120"/>
              </a:rPr>
              <a:t>one campaign</a:t>
            </a:r>
            <a:endParaRPr lang="en-US" sz="1250" dirty="0"/>
          </a:p>
        </p:txBody>
      </p:sp>
      <p:sp>
        <p:nvSpPr>
          <p:cNvPr id="14" name="Shape 11"/>
          <p:cNvSpPr/>
          <p:nvPr/>
        </p:nvSpPr>
        <p:spPr>
          <a:xfrm>
            <a:off x="420624" y="2532888"/>
            <a:ext cx="11320272" cy="475488"/>
          </a:xfrm>
          <a:prstGeom prst="roundRect">
            <a:avLst>
              <a:gd name="adj" fmla="val 15385"/>
            </a:avLst>
          </a:prstGeom>
          <a:solidFill>
            <a:srgbClr val="FFFFFF"/>
          </a:solidFill>
          <a:ln w="12700">
            <a:solidFill>
              <a:srgbClr val="FFFFFF"/>
            </a:solidFill>
            <a:prstDash val="solid"/>
          </a:ln>
        </p:spPr>
      </p:sp>
      <p:sp>
        <p:nvSpPr>
          <p:cNvPr id="15" name="Text 12"/>
          <p:cNvSpPr txBox="1"/>
          <p:nvPr/>
        </p:nvSpPr>
        <p:spPr>
          <a:xfrm>
            <a:off x="566928" y="2578608"/>
            <a:ext cx="3566160" cy="384048"/>
          </a:xfrm>
          <a:prstGeom prst="rect">
            <a:avLst/>
          </a:prstGeom>
          <a:noFill/>
          <a:ln/>
        </p:spPr>
        <p:txBody>
          <a:bodyPr wrap="square" lIns="0" tIns="0" rIns="0" bIns="0" rtlCol="0" anchor="ctr"/>
          <a:lstStyle/>
          <a:p>
            <a:pPr indent="0" marL="0">
              <a:buNone/>
            </a:pPr>
            <a:r>
              <a:rPr lang="en-US" sz="1250" b="1" dirty="0">
                <a:solidFill>
                  <a:srgbClr val="13202F"/>
                </a:solidFill>
                <a:latin typeface="Calibri" pitchFamily="34" charset="0"/>
                <a:ea typeface="Calibri" pitchFamily="34" charset="-122"/>
                <a:cs typeface="Calibri" pitchFamily="34" charset="-120"/>
              </a:rPr>
              <a:t>GeoAI feature extraction</a:t>
            </a:r>
            <a:endParaRPr lang="en-US" sz="1250" dirty="0"/>
          </a:p>
        </p:txBody>
      </p:sp>
      <p:sp>
        <p:nvSpPr>
          <p:cNvPr id="16" name="Text 13"/>
          <p:cNvSpPr txBox="1"/>
          <p:nvPr/>
        </p:nvSpPr>
        <p:spPr>
          <a:xfrm>
            <a:off x="4224528" y="2578608"/>
            <a:ext cx="3108960" cy="384048"/>
          </a:xfrm>
          <a:prstGeom prst="rect">
            <a:avLst/>
          </a:prstGeom>
          <a:noFill/>
          <a:ln/>
        </p:spPr>
        <p:txBody>
          <a:bodyPr wrap="square" lIns="0" tIns="0" rIns="0" bIns="0" rtlCol="0" anchor="ctr"/>
          <a:lstStyle/>
          <a:p>
            <a:pPr indent="0" marL="0">
              <a:buNone/>
            </a:pPr>
            <a:r>
              <a:rPr lang="en-US" sz="1250" dirty="0">
                <a:solidFill>
                  <a:srgbClr val="13202F"/>
                </a:solidFill>
                <a:latin typeface="Calibri" pitchFamily="34" charset="0"/>
                <a:ea typeface="Calibri" pitchFamily="34" charset="-122"/>
                <a:cs typeface="Calibri" pitchFamily="34" charset="-120"/>
              </a:rPr>
              <a:t>building &amp; parcel polygons</a:t>
            </a:r>
            <a:endParaRPr lang="en-US" sz="1250" dirty="0"/>
          </a:p>
        </p:txBody>
      </p:sp>
      <p:sp>
        <p:nvSpPr>
          <p:cNvPr id="17" name="Text 14"/>
          <p:cNvSpPr txBox="1"/>
          <p:nvPr/>
        </p:nvSpPr>
        <p:spPr>
          <a:xfrm>
            <a:off x="7424928" y="2578608"/>
            <a:ext cx="1920240" cy="384048"/>
          </a:xfrm>
          <a:prstGeom prst="rect">
            <a:avLst/>
          </a:prstGeom>
          <a:noFill/>
          <a:ln/>
        </p:spPr>
        <p:txBody>
          <a:bodyPr wrap="square" lIns="0" tIns="0" rIns="0" bIns="0" rtlCol="0" anchor="ctr"/>
          <a:lstStyle/>
          <a:p>
            <a:pPr indent="0" marL="0">
              <a:buNone/>
            </a:pPr>
            <a:r>
              <a:rPr lang="en-US" sz="1250" dirty="0">
                <a:solidFill>
                  <a:srgbClr val="D9743B"/>
                </a:solidFill>
                <a:latin typeface="Calibri" pitchFamily="34" charset="0"/>
                <a:ea typeface="Calibri" pitchFamily="34" charset="-122"/>
                <a:cs typeface="Calibri" pitchFamily="34" charset="-120"/>
              </a:rPr>
              <a:t>0.3–2 m</a:t>
            </a:r>
            <a:endParaRPr lang="en-US" sz="1250" dirty="0"/>
          </a:p>
        </p:txBody>
      </p:sp>
      <p:sp>
        <p:nvSpPr>
          <p:cNvPr id="18" name="Text 15"/>
          <p:cNvSpPr txBox="1"/>
          <p:nvPr/>
        </p:nvSpPr>
        <p:spPr>
          <a:xfrm>
            <a:off x="9436608" y="2578608"/>
            <a:ext cx="2103120" cy="384048"/>
          </a:xfrm>
          <a:prstGeom prst="rect">
            <a:avLst/>
          </a:prstGeom>
          <a:noFill/>
          <a:ln/>
        </p:spPr>
        <p:txBody>
          <a:bodyPr wrap="square" lIns="0" tIns="0" rIns="0" bIns="0" rtlCol="0" anchor="ctr"/>
          <a:lstStyle/>
          <a:p>
            <a:pPr indent="0" marL="0">
              <a:buNone/>
            </a:pPr>
            <a:r>
              <a:rPr lang="en-US" sz="1250" dirty="0">
                <a:solidFill>
                  <a:srgbClr val="13202F"/>
                </a:solidFill>
                <a:latin typeface="Calibri" pitchFamily="34" charset="0"/>
                <a:ea typeface="Calibri" pitchFamily="34" charset="-122"/>
                <a:cs typeface="Calibri" pitchFamily="34" charset="-120"/>
              </a:rPr>
              <a:t>per campaign</a:t>
            </a:r>
            <a:endParaRPr lang="en-US" sz="1250" dirty="0"/>
          </a:p>
        </p:txBody>
      </p:sp>
      <p:sp>
        <p:nvSpPr>
          <p:cNvPr id="19" name="Shape 16"/>
          <p:cNvSpPr/>
          <p:nvPr/>
        </p:nvSpPr>
        <p:spPr>
          <a:xfrm>
            <a:off x="420624" y="3081528"/>
            <a:ext cx="11320272" cy="475488"/>
          </a:xfrm>
          <a:prstGeom prst="roundRect">
            <a:avLst>
              <a:gd name="adj" fmla="val 15385"/>
            </a:avLst>
          </a:prstGeom>
          <a:solidFill>
            <a:srgbClr val="EEF2F5"/>
          </a:solidFill>
          <a:ln w="12700">
            <a:solidFill>
              <a:srgbClr val="EEF2F5"/>
            </a:solidFill>
            <a:prstDash val="solid"/>
          </a:ln>
        </p:spPr>
      </p:sp>
      <p:sp>
        <p:nvSpPr>
          <p:cNvPr id="20" name="Text 17"/>
          <p:cNvSpPr txBox="1"/>
          <p:nvPr/>
        </p:nvSpPr>
        <p:spPr>
          <a:xfrm>
            <a:off x="566928" y="3127248"/>
            <a:ext cx="3566160" cy="384048"/>
          </a:xfrm>
          <a:prstGeom prst="rect">
            <a:avLst/>
          </a:prstGeom>
          <a:noFill/>
          <a:ln/>
        </p:spPr>
        <p:txBody>
          <a:bodyPr wrap="square" lIns="0" tIns="0" rIns="0" bIns="0" rtlCol="0" anchor="ctr"/>
          <a:lstStyle/>
          <a:p>
            <a:pPr indent="0" marL="0">
              <a:buNone/>
            </a:pPr>
            <a:r>
              <a:rPr lang="en-US" sz="1250" b="1" dirty="0">
                <a:solidFill>
                  <a:srgbClr val="13202F"/>
                </a:solidFill>
                <a:latin typeface="Calibri" pitchFamily="34" charset="0"/>
                <a:ea typeface="Calibri" pitchFamily="34" charset="-122"/>
                <a:cs typeface="Calibri" pitchFamily="34" charset="-120"/>
              </a:rPr>
              <a:t>Municipal corporation GIS</a:t>
            </a:r>
            <a:endParaRPr lang="en-US" sz="1250" dirty="0"/>
          </a:p>
        </p:txBody>
      </p:sp>
      <p:sp>
        <p:nvSpPr>
          <p:cNvPr id="21" name="Text 18"/>
          <p:cNvSpPr txBox="1"/>
          <p:nvPr/>
        </p:nvSpPr>
        <p:spPr>
          <a:xfrm>
            <a:off x="4224528" y="3127248"/>
            <a:ext cx="3108960" cy="384048"/>
          </a:xfrm>
          <a:prstGeom prst="rect">
            <a:avLst/>
          </a:prstGeom>
          <a:noFill/>
          <a:ln/>
        </p:spPr>
        <p:txBody>
          <a:bodyPr wrap="square" lIns="0" tIns="0" rIns="0" bIns="0" rtlCol="0" anchor="ctr"/>
          <a:lstStyle/>
          <a:p>
            <a:pPr indent="0" marL="0">
              <a:buNone/>
            </a:pPr>
            <a:r>
              <a:rPr lang="en-US" sz="1250" dirty="0">
                <a:solidFill>
                  <a:srgbClr val="13202F"/>
                </a:solidFill>
                <a:latin typeface="Calibri" pitchFamily="34" charset="0"/>
                <a:ea typeface="Calibri" pitchFamily="34" charset="-122"/>
                <a:cs typeface="Calibri" pitchFamily="34" charset="-120"/>
              </a:rPr>
              <a:t>ward, road, property</a:t>
            </a:r>
            <a:endParaRPr lang="en-US" sz="1250" dirty="0"/>
          </a:p>
        </p:txBody>
      </p:sp>
      <p:sp>
        <p:nvSpPr>
          <p:cNvPr id="22" name="Text 19"/>
          <p:cNvSpPr txBox="1"/>
          <p:nvPr/>
        </p:nvSpPr>
        <p:spPr>
          <a:xfrm>
            <a:off x="7424928" y="3127248"/>
            <a:ext cx="1920240" cy="384048"/>
          </a:xfrm>
          <a:prstGeom prst="rect">
            <a:avLst/>
          </a:prstGeom>
          <a:noFill/>
          <a:ln/>
        </p:spPr>
        <p:txBody>
          <a:bodyPr wrap="square" lIns="0" tIns="0" rIns="0" bIns="0" rtlCol="0" anchor="ctr"/>
          <a:lstStyle/>
          <a:p>
            <a:pPr indent="0" marL="0">
              <a:buNone/>
            </a:pPr>
            <a:r>
              <a:rPr lang="en-US" sz="1250" dirty="0">
                <a:solidFill>
                  <a:srgbClr val="D9743B"/>
                </a:solidFill>
                <a:latin typeface="Calibri" pitchFamily="34" charset="0"/>
                <a:ea typeface="Calibri" pitchFamily="34" charset="-122"/>
                <a:cs typeface="Calibri" pitchFamily="34" charset="-120"/>
              </a:rPr>
              <a:t>1–5 m</a:t>
            </a:r>
            <a:endParaRPr lang="en-US" sz="1250" dirty="0"/>
          </a:p>
        </p:txBody>
      </p:sp>
      <p:sp>
        <p:nvSpPr>
          <p:cNvPr id="23" name="Text 20"/>
          <p:cNvSpPr txBox="1"/>
          <p:nvPr/>
        </p:nvSpPr>
        <p:spPr>
          <a:xfrm>
            <a:off x="9436608" y="3127248"/>
            <a:ext cx="2103120" cy="384048"/>
          </a:xfrm>
          <a:prstGeom prst="rect">
            <a:avLst/>
          </a:prstGeom>
          <a:noFill/>
          <a:ln/>
        </p:spPr>
        <p:txBody>
          <a:bodyPr wrap="square" lIns="0" tIns="0" rIns="0" bIns="0" rtlCol="0" anchor="ctr"/>
          <a:lstStyle/>
          <a:p>
            <a:pPr indent="0" marL="0">
              <a:buNone/>
            </a:pPr>
            <a:r>
              <a:rPr lang="en-US" sz="1250" dirty="0">
                <a:solidFill>
                  <a:srgbClr val="13202F"/>
                </a:solidFill>
                <a:latin typeface="Calibri" pitchFamily="34" charset="0"/>
                <a:ea typeface="Calibri" pitchFamily="34" charset="-122"/>
                <a:cs typeface="Calibri" pitchFamily="34" charset="-120"/>
              </a:rPr>
              <a:t>continuous</a:t>
            </a:r>
            <a:endParaRPr lang="en-US" sz="1250" dirty="0"/>
          </a:p>
        </p:txBody>
      </p:sp>
      <p:sp>
        <p:nvSpPr>
          <p:cNvPr id="24" name="Shape 21"/>
          <p:cNvSpPr/>
          <p:nvPr/>
        </p:nvSpPr>
        <p:spPr>
          <a:xfrm>
            <a:off x="420624" y="3630168"/>
            <a:ext cx="11320272" cy="475488"/>
          </a:xfrm>
          <a:prstGeom prst="roundRect">
            <a:avLst>
              <a:gd name="adj" fmla="val 15385"/>
            </a:avLst>
          </a:prstGeom>
          <a:solidFill>
            <a:srgbClr val="FFFFFF"/>
          </a:solidFill>
          <a:ln w="12700">
            <a:solidFill>
              <a:srgbClr val="FFFFFF"/>
            </a:solidFill>
            <a:prstDash val="solid"/>
          </a:ln>
        </p:spPr>
      </p:sp>
      <p:sp>
        <p:nvSpPr>
          <p:cNvPr id="25" name="Text 22"/>
          <p:cNvSpPr txBox="1"/>
          <p:nvPr/>
        </p:nvSpPr>
        <p:spPr>
          <a:xfrm>
            <a:off x="566928" y="3675888"/>
            <a:ext cx="3566160" cy="384048"/>
          </a:xfrm>
          <a:prstGeom prst="rect">
            <a:avLst/>
          </a:prstGeom>
          <a:noFill/>
          <a:ln/>
        </p:spPr>
        <p:txBody>
          <a:bodyPr wrap="square" lIns="0" tIns="0" rIns="0" bIns="0" rtlCol="0" anchor="ctr"/>
          <a:lstStyle/>
          <a:p>
            <a:pPr indent="0" marL="0">
              <a:buNone/>
            </a:pPr>
            <a:r>
              <a:rPr lang="en-US" sz="1250" b="1" dirty="0">
                <a:solidFill>
                  <a:srgbClr val="13202F"/>
                </a:solidFill>
                <a:latin typeface="Calibri" pitchFamily="34" charset="0"/>
                <a:ea typeface="Calibri" pitchFamily="34" charset="-122"/>
                <a:cs typeface="Calibri" pitchFamily="34" charset="-120"/>
              </a:rPr>
              <a:t>Revenue department</a:t>
            </a:r>
            <a:endParaRPr lang="en-US" sz="1250" dirty="0"/>
          </a:p>
        </p:txBody>
      </p:sp>
      <p:sp>
        <p:nvSpPr>
          <p:cNvPr id="26" name="Text 23"/>
          <p:cNvSpPr txBox="1"/>
          <p:nvPr/>
        </p:nvSpPr>
        <p:spPr>
          <a:xfrm>
            <a:off x="4224528" y="3675888"/>
            <a:ext cx="3108960" cy="384048"/>
          </a:xfrm>
          <a:prstGeom prst="rect">
            <a:avLst/>
          </a:prstGeom>
          <a:noFill/>
          <a:ln/>
        </p:spPr>
        <p:txBody>
          <a:bodyPr wrap="square" lIns="0" tIns="0" rIns="0" bIns="0" rtlCol="0" anchor="ctr"/>
          <a:lstStyle/>
          <a:p>
            <a:pPr indent="0" marL="0">
              <a:buNone/>
            </a:pPr>
            <a:r>
              <a:rPr lang="en-US" sz="1250" dirty="0">
                <a:solidFill>
                  <a:srgbClr val="13202F"/>
                </a:solidFill>
                <a:latin typeface="Calibri" pitchFamily="34" charset="0"/>
                <a:ea typeface="Calibri" pitchFamily="34" charset="-122"/>
                <a:cs typeface="Calibri" pitchFamily="34" charset="-120"/>
              </a:rPr>
              <a:t>cadastral FMB / survey numbers</a:t>
            </a:r>
            <a:endParaRPr lang="en-US" sz="1250" dirty="0"/>
          </a:p>
        </p:txBody>
      </p:sp>
      <p:sp>
        <p:nvSpPr>
          <p:cNvPr id="27" name="Text 24"/>
          <p:cNvSpPr txBox="1"/>
          <p:nvPr/>
        </p:nvSpPr>
        <p:spPr>
          <a:xfrm>
            <a:off x="7424928" y="3675888"/>
            <a:ext cx="1920240" cy="384048"/>
          </a:xfrm>
          <a:prstGeom prst="rect">
            <a:avLst/>
          </a:prstGeom>
          <a:noFill/>
          <a:ln/>
        </p:spPr>
        <p:txBody>
          <a:bodyPr wrap="square" lIns="0" tIns="0" rIns="0" bIns="0" rtlCol="0" anchor="ctr"/>
          <a:lstStyle/>
          <a:p>
            <a:pPr indent="0" marL="0">
              <a:buNone/>
            </a:pPr>
            <a:r>
              <a:rPr lang="en-US" sz="1250" dirty="0">
                <a:solidFill>
                  <a:srgbClr val="D9743B"/>
                </a:solidFill>
                <a:latin typeface="Calibri" pitchFamily="34" charset="0"/>
                <a:ea typeface="Calibri" pitchFamily="34" charset="-122"/>
                <a:cs typeface="Calibri" pitchFamily="34" charset="-120"/>
              </a:rPr>
              <a:t>5–30 m</a:t>
            </a:r>
            <a:endParaRPr lang="en-US" sz="1250" dirty="0"/>
          </a:p>
        </p:txBody>
      </p:sp>
      <p:sp>
        <p:nvSpPr>
          <p:cNvPr id="28" name="Text 25"/>
          <p:cNvSpPr txBox="1"/>
          <p:nvPr/>
        </p:nvSpPr>
        <p:spPr>
          <a:xfrm>
            <a:off x="9436608" y="3675888"/>
            <a:ext cx="2103120" cy="384048"/>
          </a:xfrm>
          <a:prstGeom prst="rect">
            <a:avLst/>
          </a:prstGeom>
          <a:noFill/>
          <a:ln/>
        </p:spPr>
        <p:txBody>
          <a:bodyPr wrap="square" lIns="0" tIns="0" rIns="0" bIns="0" rtlCol="0" anchor="ctr"/>
          <a:lstStyle/>
          <a:p>
            <a:pPr indent="0" marL="0">
              <a:buNone/>
            </a:pPr>
            <a:r>
              <a:rPr lang="en-US" sz="1250" dirty="0">
                <a:solidFill>
                  <a:srgbClr val="13202F"/>
                </a:solidFill>
                <a:latin typeface="Calibri" pitchFamily="34" charset="0"/>
                <a:ea typeface="Calibri" pitchFamily="34" charset="-122"/>
                <a:cs typeface="Calibri" pitchFamily="34" charset="-120"/>
              </a:rPr>
              <a:t>decadal</a:t>
            </a:r>
            <a:endParaRPr lang="en-US" sz="1250" dirty="0"/>
          </a:p>
        </p:txBody>
      </p:sp>
      <p:sp>
        <p:nvSpPr>
          <p:cNvPr id="29" name="Shape 26"/>
          <p:cNvSpPr/>
          <p:nvPr/>
        </p:nvSpPr>
        <p:spPr>
          <a:xfrm>
            <a:off x="420624" y="4178808"/>
            <a:ext cx="11320272" cy="475488"/>
          </a:xfrm>
          <a:prstGeom prst="roundRect">
            <a:avLst>
              <a:gd name="adj" fmla="val 15385"/>
            </a:avLst>
          </a:prstGeom>
          <a:solidFill>
            <a:srgbClr val="EEF2F5"/>
          </a:solidFill>
          <a:ln w="12700">
            <a:solidFill>
              <a:srgbClr val="EEF2F5"/>
            </a:solidFill>
            <a:prstDash val="solid"/>
          </a:ln>
        </p:spPr>
      </p:sp>
      <p:sp>
        <p:nvSpPr>
          <p:cNvPr id="30" name="Text 27"/>
          <p:cNvSpPr txBox="1"/>
          <p:nvPr/>
        </p:nvSpPr>
        <p:spPr>
          <a:xfrm>
            <a:off x="566928" y="4224528"/>
            <a:ext cx="3566160" cy="384048"/>
          </a:xfrm>
          <a:prstGeom prst="rect">
            <a:avLst/>
          </a:prstGeom>
          <a:noFill/>
          <a:ln/>
        </p:spPr>
        <p:txBody>
          <a:bodyPr wrap="square" lIns="0" tIns="0" rIns="0" bIns="0" rtlCol="0" anchor="ctr"/>
          <a:lstStyle/>
          <a:p>
            <a:pPr indent="0" marL="0">
              <a:buNone/>
            </a:pPr>
            <a:r>
              <a:rPr lang="en-US" sz="1250" b="1" dirty="0">
                <a:solidFill>
                  <a:srgbClr val="13202F"/>
                </a:solidFill>
                <a:latin typeface="Calibri" pitchFamily="34" charset="0"/>
                <a:ea typeface="Calibri" pitchFamily="34" charset="-122"/>
                <a:cs typeface="Calibri" pitchFamily="34" charset="-120"/>
              </a:rPr>
              <a:t>Utility agencies</a:t>
            </a:r>
            <a:endParaRPr lang="en-US" sz="1250" dirty="0"/>
          </a:p>
        </p:txBody>
      </p:sp>
      <p:sp>
        <p:nvSpPr>
          <p:cNvPr id="31" name="Text 28"/>
          <p:cNvSpPr txBox="1"/>
          <p:nvPr/>
        </p:nvSpPr>
        <p:spPr>
          <a:xfrm>
            <a:off x="4224528" y="4224528"/>
            <a:ext cx="3108960" cy="384048"/>
          </a:xfrm>
          <a:prstGeom prst="rect">
            <a:avLst/>
          </a:prstGeom>
          <a:noFill/>
          <a:ln/>
        </p:spPr>
        <p:txBody>
          <a:bodyPr wrap="square" lIns="0" tIns="0" rIns="0" bIns="0" rtlCol="0" anchor="ctr"/>
          <a:lstStyle/>
          <a:p>
            <a:pPr indent="0" marL="0">
              <a:buNone/>
            </a:pPr>
            <a:r>
              <a:rPr lang="en-US" sz="1250" dirty="0">
                <a:solidFill>
                  <a:srgbClr val="13202F"/>
                </a:solidFill>
                <a:latin typeface="Calibri" pitchFamily="34" charset="0"/>
                <a:ea typeface="Calibri" pitchFamily="34" charset="-122"/>
                <a:cs typeface="Calibri" pitchFamily="34" charset="-120"/>
              </a:rPr>
              <a:t>water, sewer, power</a:t>
            </a:r>
            <a:endParaRPr lang="en-US" sz="1250" dirty="0"/>
          </a:p>
        </p:txBody>
      </p:sp>
      <p:sp>
        <p:nvSpPr>
          <p:cNvPr id="32" name="Text 29"/>
          <p:cNvSpPr txBox="1"/>
          <p:nvPr/>
        </p:nvSpPr>
        <p:spPr>
          <a:xfrm>
            <a:off x="7424928" y="4224528"/>
            <a:ext cx="1920240" cy="384048"/>
          </a:xfrm>
          <a:prstGeom prst="rect">
            <a:avLst/>
          </a:prstGeom>
          <a:noFill/>
          <a:ln/>
        </p:spPr>
        <p:txBody>
          <a:bodyPr wrap="square" lIns="0" tIns="0" rIns="0" bIns="0" rtlCol="0" anchor="ctr"/>
          <a:lstStyle/>
          <a:p>
            <a:pPr indent="0" marL="0">
              <a:buNone/>
            </a:pPr>
            <a:r>
              <a:rPr lang="en-US" sz="1250" dirty="0">
                <a:solidFill>
                  <a:srgbClr val="D9743B"/>
                </a:solidFill>
                <a:latin typeface="Calibri" pitchFamily="34" charset="0"/>
                <a:ea typeface="Calibri" pitchFamily="34" charset="-122"/>
                <a:cs typeface="Calibri" pitchFamily="34" charset="-120"/>
              </a:rPr>
              <a:t>1–10 m</a:t>
            </a:r>
            <a:endParaRPr lang="en-US" sz="1250" dirty="0"/>
          </a:p>
        </p:txBody>
      </p:sp>
      <p:sp>
        <p:nvSpPr>
          <p:cNvPr id="33" name="Text 30"/>
          <p:cNvSpPr txBox="1"/>
          <p:nvPr/>
        </p:nvSpPr>
        <p:spPr>
          <a:xfrm>
            <a:off x="9436608" y="4224528"/>
            <a:ext cx="2103120" cy="384048"/>
          </a:xfrm>
          <a:prstGeom prst="rect">
            <a:avLst/>
          </a:prstGeom>
          <a:noFill/>
          <a:ln/>
        </p:spPr>
        <p:txBody>
          <a:bodyPr wrap="square" lIns="0" tIns="0" rIns="0" bIns="0" rtlCol="0" anchor="ctr"/>
          <a:lstStyle/>
          <a:p>
            <a:pPr indent="0" marL="0">
              <a:buNone/>
            </a:pPr>
            <a:r>
              <a:rPr lang="en-US" sz="1250" dirty="0">
                <a:solidFill>
                  <a:srgbClr val="13202F"/>
                </a:solidFill>
                <a:latin typeface="Calibri" pitchFamily="34" charset="0"/>
                <a:ea typeface="Calibri" pitchFamily="34" charset="-122"/>
                <a:cs typeface="Calibri" pitchFamily="34" charset="-120"/>
              </a:rPr>
              <a:t>continuous</a:t>
            </a:r>
            <a:endParaRPr lang="en-US" sz="1250" dirty="0"/>
          </a:p>
        </p:txBody>
      </p:sp>
      <p:sp>
        <p:nvSpPr>
          <p:cNvPr id="34" name="Shape 31"/>
          <p:cNvSpPr/>
          <p:nvPr/>
        </p:nvSpPr>
        <p:spPr>
          <a:xfrm>
            <a:off x="420624" y="4727448"/>
            <a:ext cx="11320272" cy="475488"/>
          </a:xfrm>
          <a:prstGeom prst="roundRect">
            <a:avLst>
              <a:gd name="adj" fmla="val 15385"/>
            </a:avLst>
          </a:prstGeom>
          <a:solidFill>
            <a:srgbClr val="FFFFFF"/>
          </a:solidFill>
          <a:ln w="12700">
            <a:solidFill>
              <a:srgbClr val="FFFFFF"/>
            </a:solidFill>
            <a:prstDash val="solid"/>
          </a:ln>
        </p:spPr>
      </p:sp>
      <p:sp>
        <p:nvSpPr>
          <p:cNvPr id="35" name="Text 32"/>
          <p:cNvSpPr txBox="1"/>
          <p:nvPr/>
        </p:nvSpPr>
        <p:spPr>
          <a:xfrm>
            <a:off x="566928" y="4773168"/>
            <a:ext cx="3566160" cy="384048"/>
          </a:xfrm>
          <a:prstGeom prst="rect">
            <a:avLst/>
          </a:prstGeom>
          <a:noFill/>
          <a:ln/>
        </p:spPr>
        <p:txBody>
          <a:bodyPr wrap="square" lIns="0" tIns="0" rIns="0" bIns="0" rtlCol="0" anchor="ctr"/>
          <a:lstStyle/>
          <a:p>
            <a:pPr indent="0" marL="0">
              <a:buNone/>
            </a:pPr>
            <a:r>
              <a:rPr lang="en-US" sz="1250" b="1" dirty="0">
                <a:solidFill>
                  <a:srgbClr val="13202F"/>
                </a:solidFill>
                <a:latin typeface="Calibri" pitchFamily="34" charset="0"/>
                <a:ea typeface="Calibri" pitchFamily="34" charset="-122"/>
                <a:cs typeface="Calibri" pitchFamily="34" charset="-120"/>
              </a:rPr>
              <a:t>GNSS / CORS control</a:t>
            </a:r>
            <a:endParaRPr lang="en-US" sz="1250" dirty="0"/>
          </a:p>
        </p:txBody>
      </p:sp>
      <p:sp>
        <p:nvSpPr>
          <p:cNvPr id="36" name="Text 33"/>
          <p:cNvSpPr txBox="1"/>
          <p:nvPr/>
        </p:nvSpPr>
        <p:spPr>
          <a:xfrm>
            <a:off x="4224528" y="4773168"/>
            <a:ext cx="3108960" cy="384048"/>
          </a:xfrm>
          <a:prstGeom prst="rect">
            <a:avLst/>
          </a:prstGeom>
          <a:noFill/>
          <a:ln/>
        </p:spPr>
        <p:txBody>
          <a:bodyPr wrap="square" lIns="0" tIns="0" rIns="0" bIns="0" rtlCol="0" anchor="ctr"/>
          <a:lstStyle/>
          <a:p>
            <a:pPr indent="0" marL="0">
              <a:buNone/>
            </a:pPr>
            <a:r>
              <a:rPr lang="en-US" sz="1250" dirty="0">
                <a:solidFill>
                  <a:srgbClr val="13202F"/>
                </a:solidFill>
                <a:latin typeface="Calibri" pitchFamily="34" charset="0"/>
                <a:ea typeface="Calibri" pitchFamily="34" charset="-122"/>
                <a:cs typeface="Calibri" pitchFamily="34" charset="-120"/>
              </a:rPr>
              <a:t>check points</a:t>
            </a:r>
            <a:endParaRPr lang="en-US" sz="1250" dirty="0"/>
          </a:p>
        </p:txBody>
      </p:sp>
      <p:sp>
        <p:nvSpPr>
          <p:cNvPr id="37" name="Text 34"/>
          <p:cNvSpPr txBox="1"/>
          <p:nvPr/>
        </p:nvSpPr>
        <p:spPr>
          <a:xfrm>
            <a:off x="7424928" y="4773168"/>
            <a:ext cx="1920240" cy="384048"/>
          </a:xfrm>
          <a:prstGeom prst="rect">
            <a:avLst/>
          </a:prstGeom>
          <a:noFill/>
          <a:ln/>
        </p:spPr>
        <p:txBody>
          <a:bodyPr wrap="square" lIns="0" tIns="0" rIns="0" bIns="0" rtlCol="0" anchor="ctr"/>
          <a:lstStyle/>
          <a:p>
            <a:pPr indent="0" marL="0">
              <a:buNone/>
            </a:pPr>
            <a:r>
              <a:rPr lang="en-US" sz="1250" dirty="0">
                <a:solidFill>
                  <a:srgbClr val="D9743B"/>
                </a:solidFill>
                <a:latin typeface="Calibri" pitchFamily="34" charset="0"/>
                <a:ea typeface="Calibri" pitchFamily="34" charset="-122"/>
                <a:cs typeface="Calibri" pitchFamily="34" charset="-120"/>
              </a:rPr>
              <a:t>1–3 cm</a:t>
            </a:r>
            <a:endParaRPr lang="en-US" sz="1250" dirty="0"/>
          </a:p>
        </p:txBody>
      </p:sp>
      <p:sp>
        <p:nvSpPr>
          <p:cNvPr id="38" name="Text 35"/>
          <p:cNvSpPr txBox="1"/>
          <p:nvPr/>
        </p:nvSpPr>
        <p:spPr>
          <a:xfrm>
            <a:off x="9436608" y="4773168"/>
            <a:ext cx="2103120" cy="384048"/>
          </a:xfrm>
          <a:prstGeom prst="rect">
            <a:avLst/>
          </a:prstGeom>
          <a:noFill/>
          <a:ln/>
        </p:spPr>
        <p:txBody>
          <a:bodyPr wrap="square" lIns="0" tIns="0" rIns="0" bIns="0" rtlCol="0" anchor="ctr"/>
          <a:lstStyle/>
          <a:p>
            <a:pPr indent="0" marL="0">
              <a:buNone/>
            </a:pPr>
            <a:r>
              <a:rPr lang="en-US" sz="1250" dirty="0">
                <a:solidFill>
                  <a:srgbClr val="13202F"/>
                </a:solidFill>
                <a:latin typeface="Calibri" pitchFamily="34" charset="0"/>
                <a:ea typeface="Calibri" pitchFamily="34" charset="-122"/>
                <a:cs typeface="Calibri" pitchFamily="34" charset="-120"/>
              </a:rPr>
              <a:t>campaign</a:t>
            </a:r>
            <a:endParaRPr lang="en-US" sz="1250" dirty="0"/>
          </a:p>
        </p:txBody>
      </p:sp>
      <p:sp>
        <p:nvSpPr>
          <p:cNvPr id="39" name="Shape 36"/>
          <p:cNvSpPr/>
          <p:nvPr/>
        </p:nvSpPr>
        <p:spPr>
          <a:xfrm>
            <a:off x="420624" y="5394960"/>
            <a:ext cx="11320272" cy="969264"/>
          </a:xfrm>
          <a:prstGeom prst="roundRect">
            <a:avLst>
              <a:gd name="adj" fmla="val 7547"/>
            </a:avLst>
          </a:prstGeom>
          <a:solidFill>
            <a:srgbClr val="13202F"/>
          </a:solidFill>
          <a:ln w="12700">
            <a:solidFill>
              <a:srgbClr val="13202F"/>
            </a:solidFill>
            <a:prstDash val="solid"/>
          </a:ln>
        </p:spPr>
      </p:sp>
      <p:sp>
        <p:nvSpPr>
          <p:cNvPr id="40" name="Text 37"/>
          <p:cNvSpPr txBox="1"/>
          <p:nvPr/>
        </p:nvSpPr>
        <p:spPr>
          <a:xfrm>
            <a:off x="694944" y="5394960"/>
            <a:ext cx="10936224" cy="969264"/>
          </a:xfrm>
          <a:prstGeom prst="rect">
            <a:avLst/>
          </a:prstGeom>
          <a:noFill/>
          <a:ln/>
        </p:spPr>
        <p:txBody>
          <a:bodyPr wrap="square" lIns="0" tIns="0" rIns="0" bIns="0" rtlCol="0" anchor="ctr"/>
          <a:lstStyle/>
          <a:p>
            <a:pPr indent="0" marL="0">
              <a:lnSpc>
                <a:spcPts val="2200"/>
              </a:lnSpc>
              <a:buNone/>
            </a:pPr>
            <a:r>
              <a:rPr lang="en-US" sz="1450" dirty="0">
                <a:solidFill>
                  <a:srgbClr val="FFFFFF"/>
                </a:solidFill>
                <a:latin typeface="Calibri" pitchFamily="34" charset="0"/>
                <a:ea typeface="Calibri" pitchFamily="34" charset="-122"/>
                <a:cs typeface="Calibri" pitchFamily="34" charset="-120"/>
              </a:rPr>
              <a:t>This is not an ETL problem. ETL assumes the right answer is in the sources and the job is to move it.</a:t>
            </a:r>
            <a:endParaRPr lang="en-US" sz="1450" dirty="0"/>
          </a:p>
          <a:p>
            <a:pPr indent="0" marL="0">
              <a:lnSpc>
                <a:spcPts val="2200"/>
              </a:lnSpc>
              <a:buNone/>
            </a:pPr>
            <a:r>
              <a:rPr lang="en-US" sz="1450" dirty="0">
                <a:solidFill>
                  <a:srgbClr val="FFFFFF"/>
                </a:solidFill>
                <a:latin typeface="Calibri" pitchFamily="34" charset="0"/>
                <a:ea typeface="Calibri" pitchFamily="34" charset="-122"/>
                <a:cs typeface="Calibri" pitchFamily="34" charset="-120"/>
              </a:rPr>
              <a:t>Here the sources disagree legitimately — and the job is to adjudicate, defensibly, at scale.</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10896"/>
            <a:ext cx="10058400" cy="237744"/>
          </a:xfrm>
          <a:prstGeom prst="rect">
            <a:avLst/>
          </a:prstGeom>
          <a:noFill/>
          <a:ln/>
        </p:spPr>
        <p:txBody>
          <a:bodyPr wrap="square" lIns="0" tIns="0" rIns="0" bIns="0" rtlCol="0" anchor="t"/>
          <a:lstStyle/>
          <a:p>
            <a:pPr indent="0" marL="0">
              <a:buNone/>
            </a:pPr>
            <a:r>
              <a:rPr lang="en-US" sz="1100" b="1" spc="200" kern="0" dirty="0">
                <a:solidFill>
                  <a:srgbClr val="D9743B"/>
                </a:solidFill>
                <a:latin typeface="Calibri" pitchFamily="34" charset="0"/>
                <a:ea typeface="Calibri" pitchFamily="34" charset="-122"/>
                <a:cs typeface="Calibri" pitchFamily="34" charset="-120"/>
              </a:rPr>
              <a:t>THE SOLUTION</a:t>
            </a:r>
            <a:endParaRPr lang="en-US" sz="1100" dirty="0"/>
          </a:p>
        </p:txBody>
      </p:sp>
      <p:sp>
        <p:nvSpPr>
          <p:cNvPr id="3" name="Text 1"/>
          <p:cNvSpPr txBox="1"/>
          <p:nvPr/>
        </p:nvSpPr>
        <p:spPr>
          <a:xfrm>
            <a:off x="566928" y="621792"/>
            <a:ext cx="11064240" cy="896112"/>
          </a:xfrm>
          <a:prstGeom prst="rect">
            <a:avLst/>
          </a:prstGeom>
          <a:noFill/>
          <a:ln/>
        </p:spPr>
        <p:txBody>
          <a:bodyPr wrap="square" lIns="0" tIns="0" rIns="0" bIns="0" rtlCol="0" anchor="t"/>
          <a:lstStyle/>
          <a:p>
            <a:pPr indent="0" marL="0">
              <a:buNone/>
            </a:pPr>
            <a:r>
              <a:rPr lang="en-US" sz="3000" b="1" dirty="0">
                <a:solidFill>
                  <a:srgbClr val="13202F"/>
                </a:solidFill>
                <a:latin typeface="Cambria" pitchFamily="34" charset="0"/>
                <a:ea typeface="Cambria" pitchFamily="34" charset="-122"/>
                <a:cs typeface="Cambria" pitchFamily="34" charset="-120"/>
              </a:rPr>
              <a:t>What SAMANVAY produces from that mess</a:t>
            </a:r>
            <a:endParaRPr lang="en-US" sz="3000" dirty="0"/>
          </a:p>
        </p:txBody>
      </p:sp>
      <p:sp>
        <p:nvSpPr>
          <p:cNvPr id="5" name="Shape 2"/>
          <p:cNvSpPr/>
          <p:nvPr/>
        </p:nvSpPr>
        <p:spPr>
          <a:xfrm>
            <a:off x="566928" y="1554480"/>
            <a:ext cx="5340096" cy="1225296"/>
          </a:xfrm>
          <a:prstGeom prst="roundRect">
            <a:avLst>
              <a:gd name="adj" fmla="val 5970"/>
            </a:avLst>
          </a:prstGeom>
          <a:solidFill>
            <a:srgbClr val="EEF2F5"/>
          </a:solidFill>
          <a:ln w="12700">
            <a:solidFill>
              <a:srgbClr val="EEF2F5"/>
            </a:solidFill>
            <a:prstDash val="solid"/>
          </a:ln>
        </p:spPr>
      </p:sp>
      <p:sp>
        <p:nvSpPr>
          <p:cNvPr id="6" name="Shape 3"/>
          <p:cNvSpPr/>
          <p:nvPr/>
        </p:nvSpPr>
        <p:spPr>
          <a:xfrm>
            <a:off x="822960" y="1828800"/>
            <a:ext cx="457200" cy="457200"/>
          </a:xfrm>
          <a:prstGeom prst="ellipse">
            <a:avLst/>
          </a:prstGeom>
          <a:solidFill>
            <a:srgbClr val="D9743B"/>
          </a:solidFill>
          <a:ln w="12700">
            <a:solidFill>
              <a:srgbClr val="D9743B"/>
            </a:solidFill>
            <a:prstDash val="solid"/>
          </a:ln>
        </p:spPr>
      </p:sp>
      <p:sp>
        <p:nvSpPr>
          <p:cNvPr id="7" name="Text 4"/>
          <p:cNvSpPr txBox="1"/>
          <p:nvPr/>
        </p:nvSpPr>
        <p:spPr>
          <a:xfrm>
            <a:off x="822960" y="182880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5"/>
          <p:cNvSpPr txBox="1"/>
          <p:nvPr/>
        </p:nvSpPr>
        <p:spPr>
          <a:xfrm>
            <a:off x="1426464" y="1737360"/>
            <a:ext cx="4297680" cy="310896"/>
          </a:xfrm>
          <a:prstGeom prst="rect">
            <a:avLst/>
          </a:prstGeom>
          <a:noFill/>
          <a:ln/>
        </p:spPr>
        <p:txBody>
          <a:bodyPr wrap="square" lIns="0" tIns="0" rIns="0" bIns="0" rtlCol="0" anchor="t"/>
          <a:lstStyle/>
          <a:p>
            <a:pPr indent="0" marL="0">
              <a:buNone/>
            </a:pPr>
            <a:r>
              <a:rPr lang="en-US" sz="1500" b="1" dirty="0">
                <a:solidFill>
                  <a:srgbClr val="13202F"/>
                </a:solidFill>
                <a:latin typeface="Calibri" pitchFamily="34" charset="0"/>
                <a:ea typeface="Calibri" pitchFamily="34" charset="-122"/>
                <a:cs typeface="Calibri" pitchFamily="34" charset="-120"/>
              </a:rPr>
              <a:t>One harmonised fabric</a:t>
            </a:r>
            <a:endParaRPr lang="en-US" sz="1500" dirty="0"/>
          </a:p>
        </p:txBody>
      </p:sp>
      <p:sp>
        <p:nvSpPr>
          <p:cNvPr id="9" name="Text 6"/>
          <p:cNvSpPr txBox="1"/>
          <p:nvPr/>
        </p:nvSpPr>
        <p:spPr>
          <a:xfrm>
            <a:off x="1426464" y="2084832"/>
            <a:ext cx="4315968" cy="713232"/>
          </a:xfrm>
          <a:prstGeom prst="rect">
            <a:avLst/>
          </a:prstGeom>
          <a:noFill/>
          <a:ln/>
        </p:spPr>
        <p:txBody>
          <a:bodyPr wrap="square" lIns="0" tIns="0" rIns="0" bIns="0" rtlCol="0" anchor="t"/>
          <a:lstStyle/>
          <a:p>
            <a:pPr indent="0" marL="0">
              <a:lnSpc>
                <a:spcPts val="1600"/>
              </a:lnSpc>
              <a:buNone/>
            </a:pPr>
            <a:r>
              <a:rPr lang="en-US" sz="1150" dirty="0">
                <a:solidFill>
                  <a:srgbClr val="5C6B7A"/>
                </a:solidFill>
                <a:latin typeface="Calibri" pitchFamily="34" charset="0"/>
                <a:ea typeface="Calibri" pitchFamily="34" charset="-122"/>
                <a:cs typeface="Calibri" pitchFamily="34" charset="-120"/>
              </a:rPr>
              <a:t>Parcels and buildings reconciled across every source, each with a ULPIN (Bhu-Aadhaar).</a:t>
            </a:r>
            <a:endParaRPr lang="en-US" sz="1150" dirty="0"/>
          </a:p>
        </p:txBody>
      </p:sp>
      <p:sp>
        <p:nvSpPr>
          <p:cNvPr id="10" name="Shape 7"/>
          <p:cNvSpPr/>
          <p:nvPr/>
        </p:nvSpPr>
        <p:spPr>
          <a:xfrm>
            <a:off x="6254496" y="1554480"/>
            <a:ext cx="5340096" cy="1225296"/>
          </a:xfrm>
          <a:prstGeom prst="roundRect">
            <a:avLst>
              <a:gd name="adj" fmla="val 5970"/>
            </a:avLst>
          </a:prstGeom>
          <a:solidFill>
            <a:srgbClr val="EEF2F5"/>
          </a:solidFill>
          <a:ln w="12700">
            <a:solidFill>
              <a:srgbClr val="EEF2F5"/>
            </a:solidFill>
            <a:prstDash val="solid"/>
          </a:ln>
        </p:spPr>
      </p:sp>
      <p:sp>
        <p:nvSpPr>
          <p:cNvPr id="11" name="Shape 8"/>
          <p:cNvSpPr/>
          <p:nvPr/>
        </p:nvSpPr>
        <p:spPr>
          <a:xfrm>
            <a:off x="6510528" y="1828800"/>
            <a:ext cx="457200" cy="457200"/>
          </a:xfrm>
          <a:prstGeom prst="ellipse">
            <a:avLst/>
          </a:prstGeom>
          <a:solidFill>
            <a:srgbClr val="0F6E5F"/>
          </a:solidFill>
          <a:ln w="12700">
            <a:solidFill>
              <a:srgbClr val="0F6E5F"/>
            </a:solidFill>
            <a:prstDash val="solid"/>
          </a:ln>
        </p:spPr>
      </p:sp>
      <p:sp>
        <p:nvSpPr>
          <p:cNvPr id="12" name="Text 9"/>
          <p:cNvSpPr txBox="1"/>
          <p:nvPr/>
        </p:nvSpPr>
        <p:spPr>
          <a:xfrm>
            <a:off x="6510528" y="182880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0"/>
          <p:cNvSpPr txBox="1"/>
          <p:nvPr/>
        </p:nvSpPr>
        <p:spPr>
          <a:xfrm>
            <a:off x="7114032" y="1737360"/>
            <a:ext cx="4297680" cy="310896"/>
          </a:xfrm>
          <a:prstGeom prst="rect">
            <a:avLst/>
          </a:prstGeom>
          <a:noFill/>
          <a:ln/>
        </p:spPr>
        <p:txBody>
          <a:bodyPr wrap="square" lIns="0" tIns="0" rIns="0" bIns="0" rtlCol="0" anchor="t"/>
          <a:lstStyle/>
          <a:p>
            <a:pPr indent="0" marL="0">
              <a:buNone/>
            </a:pPr>
            <a:r>
              <a:rPr lang="en-US" sz="1500" b="1" dirty="0">
                <a:solidFill>
                  <a:srgbClr val="13202F"/>
                </a:solidFill>
                <a:latin typeface="Calibri" pitchFamily="34" charset="0"/>
                <a:ea typeface="Calibri" pitchFamily="34" charset="-122"/>
                <a:cs typeface="Calibri" pitchFamily="34" charset="-120"/>
              </a:rPr>
              <a:t>Explainable confidence</a:t>
            </a:r>
            <a:endParaRPr lang="en-US" sz="1500" dirty="0"/>
          </a:p>
        </p:txBody>
      </p:sp>
      <p:sp>
        <p:nvSpPr>
          <p:cNvPr id="14" name="Text 11"/>
          <p:cNvSpPr txBox="1"/>
          <p:nvPr/>
        </p:nvSpPr>
        <p:spPr>
          <a:xfrm>
            <a:off x="7114032" y="2084832"/>
            <a:ext cx="4315968" cy="713232"/>
          </a:xfrm>
          <a:prstGeom prst="rect">
            <a:avLst/>
          </a:prstGeom>
          <a:noFill/>
          <a:ln/>
        </p:spPr>
        <p:txBody>
          <a:bodyPr wrap="square" lIns="0" tIns="0" rIns="0" bIns="0" rtlCol="0" anchor="t"/>
          <a:lstStyle/>
          <a:p>
            <a:pPr indent="0" marL="0">
              <a:lnSpc>
                <a:spcPts val="1600"/>
              </a:lnSpc>
              <a:buNone/>
            </a:pPr>
            <a:r>
              <a:rPr lang="en-US" sz="1150" dirty="0">
                <a:solidFill>
                  <a:srgbClr val="5C6B7A"/>
                </a:solidFill>
                <a:latin typeface="Calibri" pitchFamily="34" charset="0"/>
                <a:ea typeface="Calibri" pitchFamily="34" charset="-122"/>
                <a:cs typeface="Calibri" pitchFamily="34" charset="-120"/>
              </a:rPr>
              <a:t>Six dimensions and an A–E grade: publish, desk-review, or send a field team.</a:t>
            </a:r>
            <a:endParaRPr lang="en-US" sz="1150" dirty="0"/>
          </a:p>
        </p:txBody>
      </p:sp>
      <p:sp>
        <p:nvSpPr>
          <p:cNvPr id="15" name="Shape 12"/>
          <p:cNvSpPr/>
          <p:nvPr/>
        </p:nvSpPr>
        <p:spPr>
          <a:xfrm>
            <a:off x="566928" y="3072384"/>
            <a:ext cx="5340096" cy="1225296"/>
          </a:xfrm>
          <a:prstGeom prst="roundRect">
            <a:avLst>
              <a:gd name="adj" fmla="val 5970"/>
            </a:avLst>
          </a:prstGeom>
          <a:solidFill>
            <a:srgbClr val="EEF2F5"/>
          </a:solidFill>
          <a:ln w="12700">
            <a:solidFill>
              <a:srgbClr val="EEF2F5"/>
            </a:solidFill>
            <a:prstDash val="solid"/>
          </a:ln>
        </p:spPr>
      </p:sp>
      <p:sp>
        <p:nvSpPr>
          <p:cNvPr id="16" name="Shape 13"/>
          <p:cNvSpPr/>
          <p:nvPr/>
        </p:nvSpPr>
        <p:spPr>
          <a:xfrm>
            <a:off x="822960" y="3346704"/>
            <a:ext cx="457200" cy="457200"/>
          </a:xfrm>
          <a:prstGeom prst="ellipse">
            <a:avLst/>
          </a:prstGeom>
          <a:solidFill>
            <a:srgbClr val="D9743B"/>
          </a:solidFill>
          <a:ln w="12700">
            <a:solidFill>
              <a:srgbClr val="D9743B"/>
            </a:solidFill>
            <a:prstDash val="solid"/>
          </a:ln>
        </p:spPr>
      </p:sp>
      <p:sp>
        <p:nvSpPr>
          <p:cNvPr id="17" name="Text 14"/>
          <p:cNvSpPr txBox="1"/>
          <p:nvPr/>
        </p:nvSpPr>
        <p:spPr>
          <a:xfrm>
            <a:off x="822960" y="3346704"/>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5"/>
          <p:cNvSpPr txBox="1"/>
          <p:nvPr/>
        </p:nvSpPr>
        <p:spPr>
          <a:xfrm>
            <a:off x="1426464" y="3255264"/>
            <a:ext cx="4297680" cy="310896"/>
          </a:xfrm>
          <a:prstGeom prst="rect">
            <a:avLst/>
          </a:prstGeom>
          <a:noFill/>
          <a:ln/>
        </p:spPr>
        <p:txBody>
          <a:bodyPr wrap="square" lIns="0" tIns="0" rIns="0" bIns="0" rtlCol="0" anchor="t"/>
          <a:lstStyle/>
          <a:p>
            <a:pPr indent="0" marL="0">
              <a:buNone/>
            </a:pPr>
            <a:r>
              <a:rPr lang="en-US" sz="1500" b="1" dirty="0">
                <a:solidFill>
                  <a:srgbClr val="13202F"/>
                </a:solidFill>
                <a:latin typeface="Calibri" pitchFamily="34" charset="0"/>
                <a:ea typeface="Calibri" pitchFamily="34" charset="-122"/>
                <a:cs typeface="Calibri" pitchFamily="34" charset="-120"/>
              </a:rPr>
              <a:t>An adjudication queue</a:t>
            </a:r>
            <a:endParaRPr lang="en-US" sz="1500" dirty="0"/>
          </a:p>
        </p:txBody>
      </p:sp>
      <p:sp>
        <p:nvSpPr>
          <p:cNvPr id="19" name="Text 16"/>
          <p:cNvSpPr txBox="1"/>
          <p:nvPr/>
        </p:nvSpPr>
        <p:spPr>
          <a:xfrm>
            <a:off x="1426464" y="3602736"/>
            <a:ext cx="4315968" cy="713232"/>
          </a:xfrm>
          <a:prstGeom prst="rect">
            <a:avLst/>
          </a:prstGeom>
          <a:noFill/>
          <a:ln/>
        </p:spPr>
        <p:txBody>
          <a:bodyPr wrap="square" lIns="0" tIns="0" rIns="0" bIns="0" rtlCol="0" anchor="t"/>
          <a:lstStyle/>
          <a:p>
            <a:pPr indent="0" marL="0">
              <a:lnSpc>
                <a:spcPts val="1600"/>
              </a:lnSpc>
              <a:buNone/>
            </a:pPr>
            <a:r>
              <a:rPr lang="en-US" sz="1150" dirty="0">
                <a:solidFill>
                  <a:srgbClr val="5C6B7A"/>
                </a:solidFill>
                <a:latin typeface="Calibri" pitchFamily="34" charset="0"/>
                <a:ea typeface="Calibri" pitchFamily="34" charset="-122"/>
                <a:cs typeface="Calibri" pitchFamily="34" charset="-120"/>
              </a:rPr>
              <a:t>Only genuinely contested cases reach a human — ranked by value, batched by cause.</a:t>
            </a:r>
            <a:endParaRPr lang="en-US" sz="1150" dirty="0"/>
          </a:p>
        </p:txBody>
      </p:sp>
      <p:sp>
        <p:nvSpPr>
          <p:cNvPr id="20" name="Shape 17"/>
          <p:cNvSpPr/>
          <p:nvPr/>
        </p:nvSpPr>
        <p:spPr>
          <a:xfrm>
            <a:off x="6254496" y="3072384"/>
            <a:ext cx="5340096" cy="1225296"/>
          </a:xfrm>
          <a:prstGeom prst="roundRect">
            <a:avLst>
              <a:gd name="adj" fmla="val 5970"/>
            </a:avLst>
          </a:prstGeom>
          <a:solidFill>
            <a:srgbClr val="EEF2F5"/>
          </a:solidFill>
          <a:ln w="12700">
            <a:solidFill>
              <a:srgbClr val="EEF2F5"/>
            </a:solidFill>
            <a:prstDash val="solid"/>
          </a:ln>
        </p:spPr>
      </p:sp>
      <p:sp>
        <p:nvSpPr>
          <p:cNvPr id="21" name="Shape 18"/>
          <p:cNvSpPr/>
          <p:nvPr/>
        </p:nvSpPr>
        <p:spPr>
          <a:xfrm>
            <a:off x="6510528" y="3346704"/>
            <a:ext cx="457200" cy="457200"/>
          </a:xfrm>
          <a:prstGeom prst="ellipse">
            <a:avLst/>
          </a:prstGeom>
          <a:solidFill>
            <a:srgbClr val="0F6E5F"/>
          </a:solidFill>
          <a:ln w="12700">
            <a:solidFill>
              <a:srgbClr val="0F6E5F"/>
            </a:solidFill>
            <a:prstDash val="solid"/>
          </a:ln>
        </p:spPr>
      </p:sp>
      <p:sp>
        <p:nvSpPr>
          <p:cNvPr id="22" name="Text 19"/>
          <p:cNvSpPr txBox="1"/>
          <p:nvPr/>
        </p:nvSpPr>
        <p:spPr>
          <a:xfrm>
            <a:off x="6510528" y="3346704"/>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3" name="Text 20"/>
          <p:cNvSpPr txBox="1"/>
          <p:nvPr/>
        </p:nvSpPr>
        <p:spPr>
          <a:xfrm>
            <a:off x="7114032" y="3255264"/>
            <a:ext cx="4297680" cy="310896"/>
          </a:xfrm>
          <a:prstGeom prst="rect">
            <a:avLst/>
          </a:prstGeom>
          <a:noFill/>
          <a:ln/>
        </p:spPr>
        <p:txBody>
          <a:bodyPr wrap="square" lIns="0" tIns="0" rIns="0" bIns="0" rtlCol="0" anchor="t"/>
          <a:lstStyle/>
          <a:p>
            <a:pPr indent="0" marL="0">
              <a:buNone/>
            </a:pPr>
            <a:r>
              <a:rPr lang="en-US" sz="1500" b="1" dirty="0">
                <a:solidFill>
                  <a:srgbClr val="13202F"/>
                </a:solidFill>
                <a:latin typeface="Calibri" pitchFamily="34" charset="0"/>
                <a:ea typeface="Calibri" pitchFamily="34" charset="-122"/>
                <a:cs typeface="Calibri" pitchFamily="34" charset="-120"/>
              </a:rPr>
              <a:t>Typed discrepancies</a:t>
            </a:r>
            <a:endParaRPr lang="en-US" sz="1500" dirty="0"/>
          </a:p>
        </p:txBody>
      </p:sp>
      <p:sp>
        <p:nvSpPr>
          <p:cNvPr id="24" name="Text 21"/>
          <p:cNvSpPr txBox="1"/>
          <p:nvPr/>
        </p:nvSpPr>
        <p:spPr>
          <a:xfrm>
            <a:off x="7114032" y="3602736"/>
            <a:ext cx="4315968" cy="713232"/>
          </a:xfrm>
          <a:prstGeom prst="rect">
            <a:avLst/>
          </a:prstGeom>
          <a:noFill/>
          <a:ln/>
        </p:spPr>
        <p:txBody>
          <a:bodyPr wrap="square" lIns="0" tIns="0" rIns="0" bIns="0" rtlCol="0" anchor="t"/>
          <a:lstStyle/>
          <a:p>
            <a:pPr indent="0" marL="0">
              <a:lnSpc>
                <a:spcPts val="1600"/>
              </a:lnSpc>
              <a:buNone/>
            </a:pPr>
            <a:r>
              <a:rPr lang="en-US" sz="1150" dirty="0">
                <a:solidFill>
                  <a:srgbClr val="5C6B7A"/>
                </a:solidFill>
                <a:latin typeface="Calibri" pitchFamily="34" charset="0"/>
                <a:ea typeface="Calibri" pitchFamily="34" charset="-122"/>
                <a:cs typeface="Calibri" pitchFamily="34" charset="-120"/>
              </a:rPr>
              <a:t>A subdivision, a re-survey and a department's missing data imply different actions.</a:t>
            </a:r>
            <a:endParaRPr lang="en-US" sz="1150" dirty="0"/>
          </a:p>
        </p:txBody>
      </p:sp>
      <p:sp>
        <p:nvSpPr>
          <p:cNvPr id="25" name="Shape 22"/>
          <p:cNvSpPr/>
          <p:nvPr/>
        </p:nvSpPr>
        <p:spPr>
          <a:xfrm>
            <a:off x="566928" y="4590288"/>
            <a:ext cx="5340096" cy="1225296"/>
          </a:xfrm>
          <a:prstGeom prst="roundRect">
            <a:avLst>
              <a:gd name="adj" fmla="val 5970"/>
            </a:avLst>
          </a:prstGeom>
          <a:solidFill>
            <a:srgbClr val="EEF2F5"/>
          </a:solidFill>
          <a:ln w="12700">
            <a:solidFill>
              <a:srgbClr val="EEF2F5"/>
            </a:solidFill>
            <a:prstDash val="solid"/>
          </a:ln>
        </p:spPr>
      </p:sp>
      <p:sp>
        <p:nvSpPr>
          <p:cNvPr id="26" name="Shape 23"/>
          <p:cNvSpPr/>
          <p:nvPr/>
        </p:nvSpPr>
        <p:spPr>
          <a:xfrm>
            <a:off x="822960" y="4864608"/>
            <a:ext cx="457200" cy="457200"/>
          </a:xfrm>
          <a:prstGeom prst="ellipse">
            <a:avLst/>
          </a:prstGeom>
          <a:solidFill>
            <a:srgbClr val="D9743B"/>
          </a:solidFill>
          <a:ln w="12700">
            <a:solidFill>
              <a:srgbClr val="D9743B"/>
            </a:solidFill>
            <a:prstDash val="solid"/>
          </a:ln>
        </p:spPr>
      </p:sp>
      <p:sp>
        <p:nvSpPr>
          <p:cNvPr id="27" name="Text 24"/>
          <p:cNvSpPr txBox="1"/>
          <p:nvPr/>
        </p:nvSpPr>
        <p:spPr>
          <a:xfrm>
            <a:off x="822960" y="486460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8" name="Text 25"/>
          <p:cNvSpPr txBox="1"/>
          <p:nvPr/>
        </p:nvSpPr>
        <p:spPr>
          <a:xfrm>
            <a:off x="1426464" y="4773168"/>
            <a:ext cx="4297680" cy="310896"/>
          </a:xfrm>
          <a:prstGeom prst="rect">
            <a:avLst/>
          </a:prstGeom>
          <a:noFill/>
          <a:ln/>
        </p:spPr>
        <p:txBody>
          <a:bodyPr wrap="square" lIns="0" tIns="0" rIns="0" bIns="0" rtlCol="0" anchor="t"/>
          <a:lstStyle/>
          <a:p>
            <a:pPr indent="0" marL="0">
              <a:buNone/>
            </a:pPr>
            <a:r>
              <a:rPr lang="en-US" sz="1500" b="1" dirty="0">
                <a:solidFill>
                  <a:srgbClr val="13202F"/>
                </a:solidFill>
                <a:latin typeface="Calibri" pitchFamily="34" charset="0"/>
                <a:ea typeface="Calibri" pitchFamily="34" charset="-122"/>
                <a:cs typeface="Calibri" pitchFamily="34" charset="-120"/>
              </a:rPr>
              <a:t>A verifiable ledger</a:t>
            </a:r>
            <a:endParaRPr lang="en-US" sz="1500" dirty="0"/>
          </a:p>
        </p:txBody>
      </p:sp>
      <p:sp>
        <p:nvSpPr>
          <p:cNvPr id="29" name="Text 26"/>
          <p:cNvSpPr txBox="1"/>
          <p:nvPr/>
        </p:nvSpPr>
        <p:spPr>
          <a:xfrm>
            <a:off x="1426464" y="5120640"/>
            <a:ext cx="4315968" cy="713232"/>
          </a:xfrm>
          <a:prstGeom prst="rect">
            <a:avLst/>
          </a:prstGeom>
          <a:noFill/>
          <a:ln/>
        </p:spPr>
        <p:txBody>
          <a:bodyPr wrap="square" lIns="0" tIns="0" rIns="0" bIns="0" rtlCol="0" anchor="t"/>
          <a:lstStyle/>
          <a:p>
            <a:pPr indent="0" marL="0">
              <a:lnSpc>
                <a:spcPts val="1600"/>
              </a:lnSpc>
              <a:buNone/>
            </a:pPr>
            <a:r>
              <a:rPr lang="en-US" sz="1150" dirty="0">
                <a:solidFill>
                  <a:srgbClr val="5C6B7A"/>
                </a:solidFill>
                <a:latin typeface="Calibri" pitchFamily="34" charset="0"/>
                <a:ea typeface="Calibri" pitchFamily="34" charset="-122"/>
                <a:cs typeface="Calibri" pitchFamily="34" charset="-120"/>
              </a:rPr>
              <a:t>Every claim and decision hash-chained; a citizen can verify their own record.</a:t>
            </a:r>
            <a:endParaRPr lang="en-US" sz="1150" dirty="0"/>
          </a:p>
        </p:txBody>
      </p:sp>
      <p:sp>
        <p:nvSpPr>
          <p:cNvPr id="30" name="Shape 27"/>
          <p:cNvSpPr/>
          <p:nvPr/>
        </p:nvSpPr>
        <p:spPr>
          <a:xfrm>
            <a:off x="6254496" y="4590288"/>
            <a:ext cx="5340096" cy="1225296"/>
          </a:xfrm>
          <a:prstGeom prst="roundRect">
            <a:avLst>
              <a:gd name="adj" fmla="val 5970"/>
            </a:avLst>
          </a:prstGeom>
          <a:solidFill>
            <a:srgbClr val="EEF2F5"/>
          </a:solidFill>
          <a:ln w="12700">
            <a:solidFill>
              <a:srgbClr val="EEF2F5"/>
            </a:solidFill>
            <a:prstDash val="solid"/>
          </a:ln>
        </p:spPr>
      </p:sp>
      <p:sp>
        <p:nvSpPr>
          <p:cNvPr id="31" name="Shape 28"/>
          <p:cNvSpPr/>
          <p:nvPr/>
        </p:nvSpPr>
        <p:spPr>
          <a:xfrm>
            <a:off x="6510528" y="4864608"/>
            <a:ext cx="457200" cy="457200"/>
          </a:xfrm>
          <a:prstGeom prst="ellipse">
            <a:avLst/>
          </a:prstGeom>
          <a:solidFill>
            <a:srgbClr val="0F6E5F"/>
          </a:solidFill>
          <a:ln w="12700">
            <a:solidFill>
              <a:srgbClr val="0F6E5F"/>
            </a:solidFill>
            <a:prstDash val="solid"/>
          </a:ln>
        </p:spPr>
      </p:sp>
      <p:sp>
        <p:nvSpPr>
          <p:cNvPr id="32" name="Text 29"/>
          <p:cNvSpPr txBox="1"/>
          <p:nvPr/>
        </p:nvSpPr>
        <p:spPr>
          <a:xfrm>
            <a:off x="6510528" y="486460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3" name="Text 30"/>
          <p:cNvSpPr txBox="1"/>
          <p:nvPr/>
        </p:nvSpPr>
        <p:spPr>
          <a:xfrm>
            <a:off x="7114032" y="4773168"/>
            <a:ext cx="4297680" cy="310896"/>
          </a:xfrm>
          <a:prstGeom prst="rect">
            <a:avLst/>
          </a:prstGeom>
          <a:noFill/>
          <a:ln/>
        </p:spPr>
        <p:txBody>
          <a:bodyPr wrap="square" lIns="0" tIns="0" rIns="0" bIns="0" rtlCol="0" anchor="t"/>
          <a:lstStyle/>
          <a:p>
            <a:pPr indent="0" marL="0">
              <a:buNone/>
            </a:pPr>
            <a:r>
              <a:rPr lang="en-US" sz="1500" b="1" dirty="0">
                <a:solidFill>
                  <a:srgbClr val="13202F"/>
                </a:solidFill>
                <a:latin typeface="Calibri" pitchFamily="34" charset="0"/>
                <a:ea typeface="Calibri" pitchFamily="34" charset="-122"/>
                <a:cs typeface="Calibri" pitchFamily="34" charset="-120"/>
              </a:rPr>
              <a:t>OGC API - Features</a:t>
            </a:r>
            <a:endParaRPr lang="en-US" sz="1500" dirty="0"/>
          </a:p>
        </p:txBody>
      </p:sp>
      <p:sp>
        <p:nvSpPr>
          <p:cNvPr id="34" name="Text 31"/>
          <p:cNvSpPr txBox="1"/>
          <p:nvPr/>
        </p:nvSpPr>
        <p:spPr>
          <a:xfrm>
            <a:off x="7114032" y="5120640"/>
            <a:ext cx="4315968" cy="713232"/>
          </a:xfrm>
          <a:prstGeom prst="rect">
            <a:avLst/>
          </a:prstGeom>
          <a:noFill/>
          <a:ln/>
        </p:spPr>
        <p:txBody>
          <a:bodyPr wrap="square" lIns="0" tIns="0" rIns="0" bIns="0" rtlCol="0" anchor="t"/>
          <a:lstStyle/>
          <a:p>
            <a:pPr indent="0" marL="0">
              <a:lnSpc>
                <a:spcPts val="1600"/>
              </a:lnSpc>
              <a:buNone/>
            </a:pPr>
            <a:r>
              <a:rPr lang="en-US" sz="1150" dirty="0">
                <a:solidFill>
                  <a:srgbClr val="5C6B7A"/>
                </a:solidFill>
                <a:latin typeface="Calibri" pitchFamily="34" charset="0"/>
                <a:ea typeface="Calibri" pitchFamily="34" charset="-122"/>
                <a:cs typeface="Calibri" pitchFamily="34" charset="-120"/>
              </a:rPr>
              <a:t>Another department consumes it from QGIS with no SAMANVAY-specific code.</a:t>
            </a:r>
            <a:endParaRPr lang="en-US" sz="1150" dirty="0"/>
          </a:p>
        </p:txBody>
      </p:sp>
      <p:sp>
        <p:nvSpPr>
          <p:cNvPr id="35" name="Text 32"/>
          <p:cNvSpPr txBox="1"/>
          <p:nvPr/>
        </p:nvSpPr>
        <p:spPr>
          <a:xfrm>
            <a:off x="566928" y="6400800"/>
            <a:ext cx="11064240" cy="274320"/>
          </a:xfrm>
          <a:prstGeom prst="rect">
            <a:avLst/>
          </a:prstGeom>
          <a:noFill/>
          <a:ln/>
        </p:spPr>
        <p:txBody>
          <a:bodyPr wrap="square" lIns="0" tIns="0" rIns="0" bIns="0" rtlCol="0" anchor="t"/>
          <a:lstStyle/>
          <a:p>
            <a:pPr indent="0" marL="0">
              <a:buNone/>
            </a:pPr>
            <a:r>
              <a:rPr lang="en-US" sz="950" i="1" dirty="0">
                <a:solidFill>
                  <a:srgbClr val="5C6B7A"/>
                </a:solidFill>
                <a:latin typeface="Calibri" pitchFamily="34" charset="0"/>
                <a:ea typeface="Calibri" pitchFamily="34" charset="-122"/>
                <a:cs typeface="Calibri" pitchFamily="34" charset="-120"/>
              </a:rPr>
              <a:t>Every one of these is implemented and running — see the live console and the evaluation report.</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10896"/>
            <a:ext cx="10058400" cy="237744"/>
          </a:xfrm>
          <a:prstGeom prst="rect">
            <a:avLst/>
          </a:prstGeom>
          <a:noFill/>
          <a:ln/>
        </p:spPr>
        <p:txBody>
          <a:bodyPr wrap="square" lIns="0" tIns="0" rIns="0" bIns="0" rtlCol="0" anchor="t"/>
          <a:lstStyle/>
          <a:p>
            <a:pPr indent="0" marL="0">
              <a:buNone/>
            </a:pPr>
            <a:r>
              <a:rPr lang="en-US" sz="1100" b="1" spc="200" kern="0" dirty="0">
                <a:solidFill>
                  <a:srgbClr val="D9743B"/>
                </a:solidFill>
                <a:latin typeface="Calibri" pitchFamily="34" charset="0"/>
                <a:ea typeface="Calibri" pitchFamily="34" charset="-122"/>
                <a:cs typeface="Calibri" pitchFamily="34" charset="-120"/>
              </a:rPr>
              <a:t>ARCHITECTURE</a:t>
            </a:r>
            <a:endParaRPr lang="en-US" sz="1100" dirty="0"/>
          </a:p>
        </p:txBody>
      </p:sp>
      <p:sp>
        <p:nvSpPr>
          <p:cNvPr id="3" name="Text 1"/>
          <p:cNvSpPr txBox="1"/>
          <p:nvPr/>
        </p:nvSpPr>
        <p:spPr>
          <a:xfrm>
            <a:off x="566928" y="621792"/>
            <a:ext cx="11064240" cy="896112"/>
          </a:xfrm>
          <a:prstGeom prst="rect">
            <a:avLst/>
          </a:prstGeom>
          <a:noFill/>
          <a:ln/>
        </p:spPr>
        <p:txBody>
          <a:bodyPr wrap="square" lIns="0" tIns="0" rIns="0" bIns="0" rtlCol="0" anchor="t"/>
          <a:lstStyle/>
          <a:p>
            <a:pPr indent="0" marL="0">
              <a:buNone/>
            </a:pPr>
            <a:r>
              <a:rPr lang="en-US" sz="3000" b="1" dirty="0">
                <a:solidFill>
                  <a:srgbClr val="13202F"/>
                </a:solidFill>
                <a:latin typeface="Cambria" pitchFamily="34" charset="0"/>
                <a:ea typeface="Cambria" pitchFamily="34" charset="-122"/>
                <a:cs typeface="Cambria" pitchFamily="34" charset="-120"/>
              </a:rPr>
              <a:t>Four layers, one commitment: nothing is silently overwritten</a:t>
            </a:r>
            <a:endParaRPr lang="en-US" sz="3000" dirty="0"/>
          </a:p>
        </p:txBody>
      </p:sp>
      <p:sp>
        <p:nvSpPr>
          <p:cNvPr id="5" name="Shape 2"/>
          <p:cNvSpPr/>
          <p:nvPr/>
        </p:nvSpPr>
        <p:spPr>
          <a:xfrm>
            <a:off x="566928" y="1700784"/>
            <a:ext cx="2542032" cy="2926080"/>
          </a:xfrm>
          <a:prstGeom prst="roundRect">
            <a:avLst>
              <a:gd name="adj" fmla="val 2878"/>
            </a:avLst>
          </a:prstGeom>
          <a:solidFill>
            <a:srgbClr val="EEF2F5"/>
          </a:solidFill>
          <a:ln w="12700">
            <a:solidFill>
              <a:srgbClr val="EEF2F5"/>
            </a:solidFill>
            <a:prstDash val="solid"/>
          </a:ln>
        </p:spPr>
      </p:sp>
      <p:sp>
        <p:nvSpPr>
          <p:cNvPr id="6" name="Shape 3"/>
          <p:cNvSpPr/>
          <p:nvPr/>
        </p:nvSpPr>
        <p:spPr>
          <a:xfrm>
            <a:off x="566928" y="1700784"/>
            <a:ext cx="2542032" cy="512064"/>
          </a:xfrm>
          <a:prstGeom prst="roundRect">
            <a:avLst>
              <a:gd name="adj" fmla="val 14286"/>
            </a:avLst>
          </a:prstGeom>
          <a:solidFill>
            <a:srgbClr val="0F6E5F"/>
          </a:solidFill>
          <a:ln w="12700">
            <a:solidFill>
              <a:srgbClr val="0F6E5F"/>
            </a:solidFill>
            <a:prstDash val="solid"/>
          </a:ln>
        </p:spPr>
      </p:sp>
      <p:sp>
        <p:nvSpPr>
          <p:cNvPr id="7" name="Text 4"/>
          <p:cNvSpPr txBox="1"/>
          <p:nvPr/>
        </p:nvSpPr>
        <p:spPr>
          <a:xfrm>
            <a:off x="566928" y="1700784"/>
            <a:ext cx="2542032" cy="512064"/>
          </a:xfrm>
          <a:prstGeom prst="rect">
            <a:avLst/>
          </a:prstGeom>
          <a:noFill/>
          <a:ln/>
        </p:spPr>
        <p:txBody>
          <a:bodyPr wrap="square" lIns="0" tIns="0" rIns="0" bIns="0"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1  INGEST</a:t>
            </a:r>
            <a:endParaRPr lang="en-US" sz="1300" dirty="0"/>
          </a:p>
        </p:txBody>
      </p:sp>
      <p:sp>
        <p:nvSpPr>
          <p:cNvPr id="8" name="Text 5"/>
          <p:cNvSpPr txBox="1"/>
          <p:nvPr/>
        </p:nvSpPr>
        <p:spPr>
          <a:xfrm>
            <a:off x="749808" y="2322576"/>
            <a:ext cx="2212848" cy="457200"/>
          </a:xfrm>
          <a:prstGeom prst="rect">
            <a:avLst/>
          </a:prstGeom>
          <a:noFill/>
          <a:ln/>
        </p:spPr>
        <p:txBody>
          <a:bodyPr wrap="square" lIns="0" tIns="0" rIns="0" bIns="0" rtlCol="0" anchor="ctr"/>
          <a:lstStyle/>
          <a:p>
            <a:pPr indent="0" marL="0">
              <a:buNone/>
            </a:pPr>
            <a:r>
              <a:rPr lang="en-US" sz="1150" dirty="0">
                <a:solidFill>
                  <a:srgbClr val="13202F"/>
                </a:solidFill>
                <a:latin typeface="Calibri" pitchFamily="34" charset="0"/>
                <a:ea typeface="Calibri" pitchFamily="34" charset="-122"/>
                <a:cs typeface="Calibri" pitchFamily="34" charset="-120"/>
              </a:rPr>
              <a:t>Format connectors</a:t>
            </a:r>
            <a:endParaRPr lang="en-US" sz="1150" dirty="0"/>
          </a:p>
        </p:txBody>
      </p:sp>
      <p:sp>
        <p:nvSpPr>
          <p:cNvPr id="9" name="Text 6"/>
          <p:cNvSpPr txBox="1"/>
          <p:nvPr/>
        </p:nvSpPr>
        <p:spPr>
          <a:xfrm>
            <a:off x="749808" y="2852928"/>
            <a:ext cx="2212848" cy="457200"/>
          </a:xfrm>
          <a:prstGeom prst="rect">
            <a:avLst/>
          </a:prstGeom>
          <a:noFill/>
          <a:ln/>
        </p:spPr>
        <p:txBody>
          <a:bodyPr wrap="square" lIns="0" tIns="0" rIns="0" bIns="0" rtlCol="0" anchor="ctr"/>
          <a:lstStyle/>
          <a:p>
            <a:pPr indent="0" marL="0">
              <a:buNone/>
            </a:pPr>
            <a:r>
              <a:rPr lang="en-US" sz="1150" dirty="0">
                <a:solidFill>
                  <a:srgbClr val="13202F"/>
                </a:solidFill>
                <a:latin typeface="Calibri" pitchFamily="34" charset="0"/>
                <a:ea typeface="Calibri" pitchFamily="34" charset="-122"/>
                <a:cs typeface="Calibri" pitchFamily="34" charset="-120"/>
              </a:rPr>
              <a:t>Dataset profiling</a:t>
            </a:r>
            <a:endParaRPr lang="en-US" sz="1150" dirty="0"/>
          </a:p>
        </p:txBody>
      </p:sp>
      <p:sp>
        <p:nvSpPr>
          <p:cNvPr id="10" name="Text 7"/>
          <p:cNvSpPr txBox="1"/>
          <p:nvPr/>
        </p:nvSpPr>
        <p:spPr>
          <a:xfrm>
            <a:off x="749808" y="3383280"/>
            <a:ext cx="2212848" cy="457200"/>
          </a:xfrm>
          <a:prstGeom prst="rect">
            <a:avLst/>
          </a:prstGeom>
          <a:noFill/>
          <a:ln/>
        </p:spPr>
        <p:txBody>
          <a:bodyPr wrap="square" lIns="0" tIns="0" rIns="0" bIns="0" rtlCol="0" anchor="ctr"/>
          <a:lstStyle/>
          <a:p>
            <a:pPr indent="0" marL="0">
              <a:buNone/>
            </a:pPr>
            <a:r>
              <a:rPr lang="en-US" sz="1150" dirty="0">
                <a:solidFill>
                  <a:srgbClr val="13202F"/>
                </a:solidFill>
                <a:latin typeface="Calibri" pitchFamily="34" charset="0"/>
                <a:ea typeface="Calibri" pitchFamily="34" charset="-122"/>
                <a:cs typeface="Calibri" pitchFamily="34" charset="-120"/>
              </a:rPr>
              <a:t>CRS + datum engine</a:t>
            </a:r>
            <a:endParaRPr lang="en-US" sz="1150" dirty="0"/>
          </a:p>
        </p:txBody>
      </p:sp>
      <p:sp>
        <p:nvSpPr>
          <p:cNvPr id="11" name="Text 8"/>
          <p:cNvSpPr txBox="1"/>
          <p:nvPr/>
        </p:nvSpPr>
        <p:spPr>
          <a:xfrm>
            <a:off x="749808" y="3913632"/>
            <a:ext cx="2212848" cy="457200"/>
          </a:xfrm>
          <a:prstGeom prst="rect">
            <a:avLst/>
          </a:prstGeom>
          <a:noFill/>
          <a:ln/>
        </p:spPr>
        <p:txBody>
          <a:bodyPr wrap="square" lIns="0" tIns="0" rIns="0" bIns="0" rtlCol="0" anchor="ctr"/>
          <a:lstStyle/>
          <a:p>
            <a:pPr indent="0" marL="0">
              <a:buNone/>
            </a:pPr>
            <a:r>
              <a:rPr lang="en-US" sz="1150" dirty="0">
                <a:solidFill>
                  <a:srgbClr val="13202F"/>
                </a:solidFill>
                <a:latin typeface="Calibri" pitchFamily="34" charset="0"/>
                <a:ea typeface="Calibri" pitchFamily="34" charset="-122"/>
                <a:cs typeface="Calibri" pitchFamily="34" charset="-120"/>
              </a:rPr>
              <a:t>GCP rubber-sheeting</a:t>
            </a:r>
            <a:endParaRPr lang="en-US" sz="1150" dirty="0"/>
          </a:p>
        </p:txBody>
      </p:sp>
      <p:sp>
        <p:nvSpPr>
          <p:cNvPr id="12" name="Text 9"/>
          <p:cNvSpPr txBox="1"/>
          <p:nvPr/>
        </p:nvSpPr>
        <p:spPr>
          <a:xfrm>
            <a:off x="3118104" y="2944368"/>
            <a:ext cx="256032" cy="457200"/>
          </a:xfrm>
          <a:prstGeom prst="rect">
            <a:avLst/>
          </a:prstGeom>
          <a:noFill/>
          <a:ln/>
        </p:spPr>
        <p:txBody>
          <a:bodyPr wrap="square" lIns="0" tIns="0" rIns="0" bIns="0" rtlCol="0" anchor="ctr"/>
          <a:lstStyle/>
          <a:p>
            <a:pPr algn="ctr" indent="0" marL="0">
              <a:buNone/>
            </a:pPr>
            <a:r>
              <a:rPr lang="en-US" sz="2600" b="1" dirty="0">
                <a:solidFill>
                  <a:srgbClr val="5C6B7A"/>
                </a:solidFill>
                <a:latin typeface="Cambria" pitchFamily="34" charset="0"/>
                <a:ea typeface="Cambria" pitchFamily="34" charset="-122"/>
                <a:cs typeface="Cambria" pitchFamily="34" charset="-120"/>
              </a:rPr>
              <a:t>›</a:t>
            </a:r>
            <a:endParaRPr lang="en-US" sz="2600" dirty="0"/>
          </a:p>
        </p:txBody>
      </p:sp>
      <p:sp>
        <p:nvSpPr>
          <p:cNvPr id="13" name="Shape 10"/>
          <p:cNvSpPr/>
          <p:nvPr/>
        </p:nvSpPr>
        <p:spPr>
          <a:xfrm>
            <a:off x="3383280" y="1700784"/>
            <a:ext cx="2542032" cy="2926080"/>
          </a:xfrm>
          <a:prstGeom prst="roundRect">
            <a:avLst>
              <a:gd name="adj" fmla="val 2878"/>
            </a:avLst>
          </a:prstGeom>
          <a:solidFill>
            <a:srgbClr val="EEF2F5"/>
          </a:solidFill>
          <a:ln w="12700">
            <a:solidFill>
              <a:srgbClr val="EEF2F5"/>
            </a:solidFill>
            <a:prstDash val="solid"/>
          </a:ln>
        </p:spPr>
      </p:sp>
      <p:sp>
        <p:nvSpPr>
          <p:cNvPr id="14" name="Shape 11"/>
          <p:cNvSpPr/>
          <p:nvPr/>
        </p:nvSpPr>
        <p:spPr>
          <a:xfrm>
            <a:off x="3383280" y="1700784"/>
            <a:ext cx="2542032" cy="512064"/>
          </a:xfrm>
          <a:prstGeom prst="roundRect">
            <a:avLst>
              <a:gd name="adj" fmla="val 14286"/>
            </a:avLst>
          </a:prstGeom>
          <a:solidFill>
            <a:srgbClr val="1E3350"/>
          </a:solidFill>
          <a:ln w="12700">
            <a:solidFill>
              <a:srgbClr val="1E3350"/>
            </a:solidFill>
            <a:prstDash val="solid"/>
          </a:ln>
        </p:spPr>
      </p:sp>
      <p:sp>
        <p:nvSpPr>
          <p:cNvPr id="15" name="Text 12"/>
          <p:cNvSpPr txBox="1"/>
          <p:nvPr/>
        </p:nvSpPr>
        <p:spPr>
          <a:xfrm>
            <a:off x="3383280" y="1700784"/>
            <a:ext cx="2542032" cy="512064"/>
          </a:xfrm>
          <a:prstGeom prst="rect">
            <a:avLst/>
          </a:prstGeom>
          <a:noFill/>
          <a:ln/>
        </p:spPr>
        <p:txBody>
          <a:bodyPr wrap="square" lIns="0" tIns="0" rIns="0" bIns="0"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2  HARMONISE</a:t>
            </a:r>
            <a:endParaRPr lang="en-US" sz="1300" dirty="0"/>
          </a:p>
        </p:txBody>
      </p:sp>
      <p:sp>
        <p:nvSpPr>
          <p:cNvPr id="16" name="Text 13"/>
          <p:cNvSpPr txBox="1"/>
          <p:nvPr/>
        </p:nvSpPr>
        <p:spPr>
          <a:xfrm>
            <a:off x="3566160" y="2322576"/>
            <a:ext cx="2212848" cy="457200"/>
          </a:xfrm>
          <a:prstGeom prst="rect">
            <a:avLst/>
          </a:prstGeom>
          <a:noFill/>
          <a:ln/>
        </p:spPr>
        <p:txBody>
          <a:bodyPr wrap="square" lIns="0" tIns="0" rIns="0" bIns="0" rtlCol="0" anchor="ctr"/>
          <a:lstStyle/>
          <a:p>
            <a:pPr indent="0" marL="0">
              <a:buNone/>
            </a:pPr>
            <a:r>
              <a:rPr lang="en-US" sz="1150" dirty="0">
                <a:solidFill>
                  <a:srgbClr val="13202F"/>
                </a:solidFill>
                <a:latin typeface="Calibri" pitchFamily="34" charset="0"/>
                <a:ea typeface="Calibri" pitchFamily="34" charset="-122"/>
                <a:cs typeface="Calibri" pitchFamily="34" charset="-120"/>
              </a:rPr>
              <a:t>Topology validate + repair</a:t>
            </a:r>
            <a:endParaRPr lang="en-US" sz="1150" dirty="0"/>
          </a:p>
        </p:txBody>
      </p:sp>
      <p:sp>
        <p:nvSpPr>
          <p:cNvPr id="17" name="Text 14"/>
          <p:cNvSpPr txBox="1"/>
          <p:nvPr/>
        </p:nvSpPr>
        <p:spPr>
          <a:xfrm>
            <a:off x="3566160" y="2852928"/>
            <a:ext cx="2212848" cy="457200"/>
          </a:xfrm>
          <a:prstGeom prst="rect">
            <a:avLst/>
          </a:prstGeom>
          <a:noFill/>
          <a:ln/>
        </p:spPr>
        <p:txBody>
          <a:bodyPr wrap="square" lIns="0" tIns="0" rIns="0" bIns="0" rtlCol="0" anchor="ctr"/>
          <a:lstStyle/>
          <a:p>
            <a:pPr indent="0" marL="0">
              <a:buNone/>
            </a:pPr>
            <a:r>
              <a:rPr lang="en-US" sz="1150" dirty="0">
                <a:solidFill>
                  <a:srgbClr val="13202F"/>
                </a:solidFill>
                <a:latin typeface="Calibri" pitchFamily="34" charset="0"/>
                <a:ea typeface="Calibri" pitchFamily="34" charset="-122"/>
                <a:cs typeface="Calibri" pitchFamily="34" charset="-120"/>
              </a:rPr>
              <a:t>Automatic schema matching</a:t>
            </a:r>
            <a:endParaRPr lang="en-US" sz="1150" dirty="0"/>
          </a:p>
        </p:txBody>
      </p:sp>
      <p:sp>
        <p:nvSpPr>
          <p:cNvPr id="18" name="Text 15"/>
          <p:cNvSpPr txBox="1"/>
          <p:nvPr/>
        </p:nvSpPr>
        <p:spPr>
          <a:xfrm>
            <a:off x="3566160" y="3383280"/>
            <a:ext cx="2212848" cy="457200"/>
          </a:xfrm>
          <a:prstGeom prst="rect">
            <a:avLst/>
          </a:prstGeom>
          <a:noFill/>
          <a:ln/>
        </p:spPr>
        <p:txBody>
          <a:bodyPr wrap="square" lIns="0" tIns="0" rIns="0" bIns="0" rtlCol="0" anchor="ctr"/>
          <a:lstStyle/>
          <a:p>
            <a:pPr indent="0" marL="0">
              <a:buNone/>
            </a:pPr>
            <a:r>
              <a:rPr lang="en-US" sz="1150" dirty="0">
                <a:solidFill>
                  <a:srgbClr val="13202F"/>
                </a:solidFill>
                <a:latin typeface="Calibri" pitchFamily="34" charset="0"/>
                <a:ea typeface="Calibri" pitchFamily="34" charset="-122"/>
                <a:cs typeface="Calibri" pitchFamily="34" charset="-120"/>
              </a:rPr>
              <a:t>AI/ML spatial matching</a:t>
            </a:r>
            <a:endParaRPr lang="en-US" sz="1150" dirty="0"/>
          </a:p>
        </p:txBody>
      </p:sp>
      <p:sp>
        <p:nvSpPr>
          <p:cNvPr id="19" name="Text 16"/>
          <p:cNvSpPr txBox="1"/>
          <p:nvPr/>
        </p:nvSpPr>
        <p:spPr>
          <a:xfrm>
            <a:off x="3566160" y="3913632"/>
            <a:ext cx="2212848" cy="457200"/>
          </a:xfrm>
          <a:prstGeom prst="rect">
            <a:avLst/>
          </a:prstGeom>
          <a:noFill/>
          <a:ln/>
        </p:spPr>
        <p:txBody>
          <a:bodyPr wrap="square" lIns="0" tIns="0" rIns="0" bIns="0" rtlCol="0" anchor="ctr"/>
          <a:lstStyle/>
          <a:p>
            <a:pPr indent="0" marL="0">
              <a:buNone/>
            </a:pPr>
            <a:r>
              <a:rPr lang="en-US" sz="1150" dirty="0">
                <a:solidFill>
                  <a:srgbClr val="13202F"/>
                </a:solidFill>
                <a:latin typeface="Calibri" pitchFamily="34" charset="0"/>
                <a:ea typeface="Calibri" pitchFamily="34" charset="-122"/>
                <a:cs typeface="Calibri" pitchFamily="34" charset="-120"/>
              </a:rPr>
              <a:t>Global assignment</a:t>
            </a:r>
            <a:endParaRPr lang="en-US" sz="1150" dirty="0"/>
          </a:p>
        </p:txBody>
      </p:sp>
      <p:sp>
        <p:nvSpPr>
          <p:cNvPr id="20" name="Text 17"/>
          <p:cNvSpPr txBox="1"/>
          <p:nvPr/>
        </p:nvSpPr>
        <p:spPr>
          <a:xfrm>
            <a:off x="5934456" y="2944368"/>
            <a:ext cx="256032" cy="457200"/>
          </a:xfrm>
          <a:prstGeom prst="rect">
            <a:avLst/>
          </a:prstGeom>
          <a:noFill/>
          <a:ln/>
        </p:spPr>
        <p:txBody>
          <a:bodyPr wrap="square" lIns="0" tIns="0" rIns="0" bIns="0" rtlCol="0" anchor="ctr"/>
          <a:lstStyle/>
          <a:p>
            <a:pPr algn="ctr" indent="0" marL="0">
              <a:buNone/>
            </a:pPr>
            <a:r>
              <a:rPr lang="en-US" sz="2600" b="1" dirty="0">
                <a:solidFill>
                  <a:srgbClr val="5C6B7A"/>
                </a:solidFill>
                <a:latin typeface="Cambria" pitchFamily="34" charset="0"/>
                <a:ea typeface="Cambria" pitchFamily="34" charset="-122"/>
                <a:cs typeface="Cambria" pitchFamily="34" charset="-120"/>
              </a:rPr>
              <a:t>›</a:t>
            </a:r>
            <a:endParaRPr lang="en-US" sz="2600" dirty="0"/>
          </a:p>
        </p:txBody>
      </p:sp>
      <p:sp>
        <p:nvSpPr>
          <p:cNvPr id="21" name="Shape 18"/>
          <p:cNvSpPr/>
          <p:nvPr/>
        </p:nvSpPr>
        <p:spPr>
          <a:xfrm>
            <a:off x="6199632" y="1700784"/>
            <a:ext cx="2542032" cy="2926080"/>
          </a:xfrm>
          <a:prstGeom prst="roundRect">
            <a:avLst>
              <a:gd name="adj" fmla="val 2878"/>
            </a:avLst>
          </a:prstGeom>
          <a:solidFill>
            <a:srgbClr val="EEF2F5"/>
          </a:solidFill>
          <a:ln w="12700">
            <a:solidFill>
              <a:srgbClr val="EEF2F5"/>
            </a:solidFill>
            <a:prstDash val="solid"/>
          </a:ln>
        </p:spPr>
      </p:sp>
      <p:sp>
        <p:nvSpPr>
          <p:cNvPr id="22" name="Shape 19"/>
          <p:cNvSpPr/>
          <p:nvPr/>
        </p:nvSpPr>
        <p:spPr>
          <a:xfrm>
            <a:off x="6199632" y="1700784"/>
            <a:ext cx="2542032" cy="512064"/>
          </a:xfrm>
          <a:prstGeom prst="roundRect">
            <a:avLst>
              <a:gd name="adj" fmla="val 14286"/>
            </a:avLst>
          </a:prstGeom>
          <a:solidFill>
            <a:srgbClr val="D9743B"/>
          </a:solidFill>
          <a:ln w="12700">
            <a:solidFill>
              <a:srgbClr val="D9743B"/>
            </a:solidFill>
            <a:prstDash val="solid"/>
          </a:ln>
        </p:spPr>
      </p:sp>
      <p:sp>
        <p:nvSpPr>
          <p:cNvPr id="23" name="Text 20"/>
          <p:cNvSpPr txBox="1"/>
          <p:nvPr/>
        </p:nvSpPr>
        <p:spPr>
          <a:xfrm>
            <a:off x="6199632" y="1700784"/>
            <a:ext cx="2542032" cy="512064"/>
          </a:xfrm>
          <a:prstGeom prst="rect">
            <a:avLst/>
          </a:prstGeom>
          <a:noFill/>
          <a:ln/>
        </p:spPr>
        <p:txBody>
          <a:bodyPr wrap="square" lIns="0" tIns="0" rIns="0" bIns="0"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3  DECIDE</a:t>
            </a:r>
            <a:endParaRPr lang="en-US" sz="1300" dirty="0"/>
          </a:p>
        </p:txBody>
      </p:sp>
      <p:sp>
        <p:nvSpPr>
          <p:cNvPr id="24" name="Text 21"/>
          <p:cNvSpPr txBox="1"/>
          <p:nvPr/>
        </p:nvSpPr>
        <p:spPr>
          <a:xfrm>
            <a:off x="6382512" y="2322576"/>
            <a:ext cx="2212848" cy="457200"/>
          </a:xfrm>
          <a:prstGeom prst="rect">
            <a:avLst/>
          </a:prstGeom>
          <a:noFill/>
          <a:ln/>
        </p:spPr>
        <p:txBody>
          <a:bodyPr wrap="square" lIns="0" tIns="0" rIns="0" bIns="0" rtlCol="0" anchor="ctr"/>
          <a:lstStyle/>
          <a:p>
            <a:pPr indent="0" marL="0">
              <a:buNone/>
            </a:pPr>
            <a:r>
              <a:rPr lang="en-US" sz="1150" dirty="0">
                <a:solidFill>
                  <a:srgbClr val="13202F"/>
                </a:solidFill>
                <a:latin typeface="Calibri" pitchFamily="34" charset="0"/>
                <a:ea typeface="Calibri" pitchFamily="34" charset="-122"/>
                <a:cs typeface="Calibri" pitchFamily="34" charset="-120"/>
              </a:rPr>
              <a:t>Dempster–Shafer fusion</a:t>
            </a:r>
            <a:endParaRPr lang="en-US" sz="1150" dirty="0"/>
          </a:p>
        </p:txBody>
      </p:sp>
      <p:sp>
        <p:nvSpPr>
          <p:cNvPr id="25" name="Text 22"/>
          <p:cNvSpPr txBox="1"/>
          <p:nvPr/>
        </p:nvSpPr>
        <p:spPr>
          <a:xfrm>
            <a:off x="6382512" y="2852928"/>
            <a:ext cx="2212848" cy="457200"/>
          </a:xfrm>
          <a:prstGeom prst="rect">
            <a:avLst/>
          </a:prstGeom>
          <a:noFill/>
          <a:ln/>
        </p:spPr>
        <p:txBody>
          <a:bodyPr wrap="square" lIns="0" tIns="0" rIns="0" bIns="0" rtlCol="0" anchor="ctr"/>
          <a:lstStyle/>
          <a:p>
            <a:pPr indent="0" marL="0">
              <a:buNone/>
            </a:pPr>
            <a:r>
              <a:rPr lang="en-US" sz="1150" dirty="0">
                <a:solidFill>
                  <a:srgbClr val="13202F"/>
                </a:solidFill>
                <a:latin typeface="Calibri" pitchFamily="34" charset="0"/>
                <a:ea typeface="Calibri" pitchFamily="34" charset="-122"/>
                <a:cs typeface="Calibri" pitchFamily="34" charset="-120"/>
              </a:rPr>
              <a:t>Statutory rule engine</a:t>
            </a:r>
            <a:endParaRPr lang="en-US" sz="1150" dirty="0"/>
          </a:p>
        </p:txBody>
      </p:sp>
      <p:sp>
        <p:nvSpPr>
          <p:cNvPr id="26" name="Text 23"/>
          <p:cNvSpPr txBox="1"/>
          <p:nvPr/>
        </p:nvSpPr>
        <p:spPr>
          <a:xfrm>
            <a:off x="6382512" y="3383280"/>
            <a:ext cx="2212848" cy="457200"/>
          </a:xfrm>
          <a:prstGeom prst="rect">
            <a:avLst/>
          </a:prstGeom>
          <a:noFill/>
          <a:ln/>
        </p:spPr>
        <p:txBody>
          <a:bodyPr wrap="square" lIns="0" tIns="0" rIns="0" bIns="0" rtlCol="0" anchor="ctr"/>
          <a:lstStyle/>
          <a:p>
            <a:pPr indent="0" marL="0">
              <a:buNone/>
            </a:pPr>
            <a:r>
              <a:rPr lang="en-US" sz="1150" dirty="0">
                <a:solidFill>
                  <a:srgbClr val="13202F"/>
                </a:solidFill>
                <a:latin typeface="Calibri" pitchFamily="34" charset="0"/>
                <a:ea typeface="Calibri" pitchFamily="34" charset="-122"/>
                <a:cs typeface="Calibri" pitchFamily="34" charset="-120"/>
              </a:rPr>
              <a:t>Adjudication queue</a:t>
            </a:r>
            <a:endParaRPr lang="en-US" sz="1150" dirty="0"/>
          </a:p>
        </p:txBody>
      </p:sp>
      <p:sp>
        <p:nvSpPr>
          <p:cNvPr id="27" name="Text 24"/>
          <p:cNvSpPr txBox="1"/>
          <p:nvPr/>
        </p:nvSpPr>
        <p:spPr>
          <a:xfrm>
            <a:off x="6382512" y="3913632"/>
            <a:ext cx="2212848" cy="457200"/>
          </a:xfrm>
          <a:prstGeom prst="rect">
            <a:avLst/>
          </a:prstGeom>
          <a:noFill/>
          <a:ln/>
        </p:spPr>
        <p:txBody>
          <a:bodyPr wrap="square" lIns="0" tIns="0" rIns="0" bIns="0" rtlCol="0" anchor="ctr"/>
          <a:lstStyle/>
          <a:p>
            <a:pPr indent="0" marL="0">
              <a:buNone/>
            </a:pPr>
            <a:r>
              <a:rPr lang="en-US" sz="1150" dirty="0">
                <a:solidFill>
                  <a:srgbClr val="13202F"/>
                </a:solidFill>
                <a:latin typeface="Calibri" pitchFamily="34" charset="0"/>
                <a:ea typeface="Calibri" pitchFamily="34" charset="-122"/>
                <a:cs typeface="Calibri" pitchFamily="34" charset="-120"/>
              </a:rPr>
              <a:t>Confidence scoring</a:t>
            </a:r>
            <a:endParaRPr lang="en-US" sz="1150" dirty="0"/>
          </a:p>
        </p:txBody>
      </p:sp>
      <p:sp>
        <p:nvSpPr>
          <p:cNvPr id="28" name="Text 25"/>
          <p:cNvSpPr txBox="1"/>
          <p:nvPr/>
        </p:nvSpPr>
        <p:spPr>
          <a:xfrm>
            <a:off x="8750808" y="2944368"/>
            <a:ext cx="256032" cy="457200"/>
          </a:xfrm>
          <a:prstGeom prst="rect">
            <a:avLst/>
          </a:prstGeom>
          <a:noFill/>
          <a:ln/>
        </p:spPr>
        <p:txBody>
          <a:bodyPr wrap="square" lIns="0" tIns="0" rIns="0" bIns="0" rtlCol="0" anchor="ctr"/>
          <a:lstStyle/>
          <a:p>
            <a:pPr algn="ctr" indent="0" marL="0">
              <a:buNone/>
            </a:pPr>
            <a:r>
              <a:rPr lang="en-US" sz="2600" b="1" dirty="0">
                <a:solidFill>
                  <a:srgbClr val="5C6B7A"/>
                </a:solidFill>
                <a:latin typeface="Cambria" pitchFamily="34" charset="0"/>
                <a:ea typeface="Cambria" pitchFamily="34" charset="-122"/>
                <a:cs typeface="Cambria" pitchFamily="34" charset="-120"/>
              </a:rPr>
              <a:t>›</a:t>
            </a:r>
            <a:endParaRPr lang="en-US" sz="2600" dirty="0"/>
          </a:p>
        </p:txBody>
      </p:sp>
      <p:sp>
        <p:nvSpPr>
          <p:cNvPr id="29" name="Shape 26"/>
          <p:cNvSpPr/>
          <p:nvPr/>
        </p:nvSpPr>
        <p:spPr>
          <a:xfrm>
            <a:off x="9015984" y="1700784"/>
            <a:ext cx="2542032" cy="2926080"/>
          </a:xfrm>
          <a:prstGeom prst="roundRect">
            <a:avLst>
              <a:gd name="adj" fmla="val 2878"/>
            </a:avLst>
          </a:prstGeom>
          <a:solidFill>
            <a:srgbClr val="EEF2F5"/>
          </a:solidFill>
          <a:ln w="12700">
            <a:solidFill>
              <a:srgbClr val="EEF2F5"/>
            </a:solidFill>
            <a:prstDash val="solid"/>
          </a:ln>
        </p:spPr>
      </p:sp>
      <p:sp>
        <p:nvSpPr>
          <p:cNvPr id="30" name="Shape 27"/>
          <p:cNvSpPr/>
          <p:nvPr/>
        </p:nvSpPr>
        <p:spPr>
          <a:xfrm>
            <a:off x="9015984" y="1700784"/>
            <a:ext cx="2542032" cy="512064"/>
          </a:xfrm>
          <a:prstGeom prst="roundRect">
            <a:avLst>
              <a:gd name="adj" fmla="val 14286"/>
            </a:avLst>
          </a:prstGeom>
          <a:solidFill>
            <a:srgbClr val="13202F"/>
          </a:solidFill>
          <a:ln w="12700">
            <a:solidFill>
              <a:srgbClr val="13202F"/>
            </a:solidFill>
            <a:prstDash val="solid"/>
          </a:ln>
        </p:spPr>
      </p:sp>
      <p:sp>
        <p:nvSpPr>
          <p:cNvPr id="31" name="Text 28"/>
          <p:cNvSpPr txBox="1"/>
          <p:nvPr/>
        </p:nvSpPr>
        <p:spPr>
          <a:xfrm>
            <a:off x="9015984" y="1700784"/>
            <a:ext cx="2542032" cy="512064"/>
          </a:xfrm>
          <a:prstGeom prst="rect">
            <a:avLst/>
          </a:prstGeom>
          <a:noFill/>
          <a:ln/>
        </p:spPr>
        <p:txBody>
          <a:bodyPr wrap="square" lIns="0" tIns="0" rIns="0" bIns="0"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4  PUBLISH</a:t>
            </a:r>
            <a:endParaRPr lang="en-US" sz="1300" dirty="0"/>
          </a:p>
        </p:txBody>
      </p:sp>
      <p:sp>
        <p:nvSpPr>
          <p:cNvPr id="32" name="Text 29"/>
          <p:cNvSpPr txBox="1"/>
          <p:nvPr/>
        </p:nvSpPr>
        <p:spPr>
          <a:xfrm>
            <a:off x="9198864" y="2322576"/>
            <a:ext cx="2212848" cy="457200"/>
          </a:xfrm>
          <a:prstGeom prst="rect">
            <a:avLst/>
          </a:prstGeom>
          <a:noFill/>
          <a:ln/>
        </p:spPr>
        <p:txBody>
          <a:bodyPr wrap="square" lIns="0" tIns="0" rIns="0" bIns="0" rtlCol="0" anchor="ctr"/>
          <a:lstStyle/>
          <a:p>
            <a:pPr indent="0" marL="0">
              <a:buNone/>
            </a:pPr>
            <a:r>
              <a:rPr lang="en-US" sz="1150" dirty="0">
                <a:solidFill>
                  <a:srgbClr val="13202F"/>
                </a:solidFill>
                <a:latin typeface="Calibri" pitchFamily="34" charset="0"/>
                <a:ea typeface="Calibri" pitchFamily="34" charset="-122"/>
                <a:cs typeface="Calibri" pitchFamily="34" charset="-120"/>
              </a:rPr>
              <a:t>PostGIS canonical store</a:t>
            </a:r>
            <a:endParaRPr lang="en-US" sz="1150" dirty="0"/>
          </a:p>
        </p:txBody>
      </p:sp>
      <p:sp>
        <p:nvSpPr>
          <p:cNvPr id="33" name="Text 30"/>
          <p:cNvSpPr txBox="1"/>
          <p:nvPr/>
        </p:nvSpPr>
        <p:spPr>
          <a:xfrm>
            <a:off x="9198864" y="2852928"/>
            <a:ext cx="2212848" cy="457200"/>
          </a:xfrm>
          <a:prstGeom prst="rect">
            <a:avLst/>
          </a:prstGeom>
          <a:noFill/>
          <a:ln/>
        </p:spPr>
        <p:txBody>
          <a:bodyPr wrap="square" lIns="0" tIns="0" rIns="0" bIns="0" rtlCol="0" anchor="ctr"/>
          <a:lstStyle/>
          <a:p>
            <a:pPr indent="0" marL="0">
              <a:buNone/>
            </a:pPr>
            <a:r>
              <a:rPr lang="en-US" sz="1150" dirty="0">
                <a:solidFill>
                  <a:srgbClr val="13202F"/>
                </a:solidFill>
                <a:latin typeface="Calibri" pitchFamily="34" charset="0"/>
                <a:ea typeface="Calibri" pitchFamily="34" charset="-122"/>
                <a:cs typeface="Calibri" pitchFamily="34" charset="-120"/>
              </a:rPr>
              <a:t>Provenance ledger</a:t>
            </a:r>
            <a:endParaRPr lang="en-US" sz="1150" dirty="0"/>
          </a:p>
        </p:txBody>
      </p:sp>
      <p:sp>
        <p:nvSpPr>
          <p:cNvPr id="34" name="Text 31"/>
          <p:cNvSpPr txBox="1"/>
          <p:nvPr/>
        </p:nvSpPr>
        <p:spPr>
          <a:xfrm>
            <a:off x="9198864" y="3383280"/>
            <a:ext cx="2212848" cy="457200"/>
          </a:xfrm>
          <a:prstGeom prst="rect">
            <a:avLst/>
          </a:prstGeom>
          <a:noFill/>
          <a:ln/>
        </p:spPr>
        <p:txBody>
          <a:bodyPr wrap="square" lIns="0" tIns="0" rIns="0" bIns="0" rtlCol="0" anchor="ctr"/>
          <a:lstStyle/>
          <a:p>
            <a:pPr indent="0" marL="0">
              <a:buNone/>
            </a:pPr>
            <a:r>
              <a:rPr lang="en-US" sz="1150" dirty="0">
                <a:solidFill>
                  <a:srgbClr val="13202F"/>
                </a:solidFill>
                <a:latin typeface="Calibri" pitchFamily="34" charset="0"/>
                <a:ea typeface="Calibri" pitchFamily="34" charset="-122"/>
                <a:cs typeface="Calibri" pitchFamily="34" charset="-120"/>
              </a:rPr>
              <a:t>OGC API - Features</a:t>
            </a:r>
            <a:endParaRPr lang="en-US" sz="1150" dirty="0"/>
          </a:p>
        </p:txBody>
      </p:sp>
      <p:sp>
        <p:nvSpPr>
          <p:cNvPr id="35" name="Text 32"/>
          <p:cNvSpPr txBox="1"/>
          <p:nvPr/>
        </p:nvSpPr>
        <p:spPr>
          <a:xfrm>
            <a:off x="9198864" y="3913632"/>
            <a:ext cx="2212848" cy="457200"/>
          </a:xfrm>
          <a:prstGeom prst="rect">
            <a:avLst/>
          </a:prstGeom>
          <a:noFill/>
          <a:ln/>
        </p:spPr>
        <p:txBody>
          <a:bodyPr wrap="square" lIns="0" tIns="0" rIns="0" bIns="0" rtlCol="0" anchor="ctr"/>
          <a:lstStyle/>
          <a:p>
            <a:pPr indent="0" marL="0">
              <a:buNone/>
            </a:pPr>
            <a:r>
              <a:rPr lang="en-US" sz="1150" dirty="0">
                <a:solidFill>
                  <a:srgbClr val="13202F"/>
                </a:solidFill>
                <a:latin typeface="Calibri" pitchFamily="34" charset="0"/>
                <a:ea typeface="Calibri" pitchFamily="34" charset="-122"/>
                <a:cs typeface="Calibri" pitchFamily="34" charset="-120"/>
              </a:rPr>
              <a:t>Web-GIS console</a:t>
            </a:r>
            <a:endParaRPr lang="en-US" sz="1150" dirty="0"/>
          </a:p>
        </p:txBody>
      </p:sp>
      <p:sp>
        <p:nvSpPr>
          <p:cNvPr id="36" name="Shape 33"/>
          <p:cNvSpPr/>
          <p:nvPr/>
        </p:nvSpPr>
        <p:spPr>
          <a:xfrm>
            <a:off x="566928" y="5047488"/>
            <a:ext cx="11027664" cy="1133856"/>
          </a:xfrm>
          <a:prstGeom prst="roundRect">
            <a:avLst>
              <a:gd name="adj" fmla="val 6452"/>
            </a:avLst>
          </a:prstGeom>
          <a:solidFill>
            <a:srgbClr val="13202F"/>
          </a:solidFill>
          <a:ln w="12700">
            <a:solidFill>
              <a:srgbClr val="13202F"/>
            </a:solidFill>
            <a:prstDash val="solid"/>
          </a:ln>
        </p:spPr>
      </p:sp>
      <p:sp>
        <p:nvSpPr>
          <p:cNvPr id="37" name="Text 34"/>
          <p:cNvSpPr txBox="1"/>
          <p:nvPr/>
        </p:nvSpPr>
        <p:spPr>
          <a:xfrm>
            <a:off x="841248" y="5047488"/>
            <a:ext cx="2651760" cy="1133856"/>
          </a:xfrm>
          <a:prstGeom prst="rect">
            <a:avLst/>
          </a:prstGeom>
          <a:noFill/>
          <a:ln/>
        </p:spPr>
        <p:txBody>
          <a:bodyPr wrap="square" lIns="0" tIns="0" rIns="0" bIns="0" rtlCol="0" anchor="ctr"/>
          <a:lstStyle/>
          <a:p>
            <a:pPr indent="0" marL="0">
              <a:buNone/>
            </a:pPr>
            <a:r>
              <a:rPr lang="en-US" sz="1800" b="1" dirty="0">
                <a:solidFill>
                  <a:srgbClr val="D9743B"/>
                </a:solidFill>
                <a:latin typeface="Cambria" pitchFamily="34" charset="0"/>
                <a:ea typeface="Cambria" pitchFamily="34" charset="-122"/>
                <a:cs typeface="Cambria" pitchFamily="34" charset="-120"/>
              </a:rPr>
              <a:t>Claims, not records</a:t>
            </a:r>
            <a:endParaRPr lang="en-US" sz="1800" dirty="0"/>
          </a:p>
        </p:txBody>
      </p:sp>
      <p:sp>
        <p:nvSpPr>
          <p:cNvPr id="38" name="Text 35"/>
          <p:cNvSpPr txBox="1"/>
          <p:nvPr/>
        </p:nvSpPr>
        <p:spPr>
          <a:xfrm>
            <a:off x="3584448" y="5047488"/>
            <a:ext cx="7680960" cy="1133856"/>
          </a:xfrm>
          <a:prstGeom prst="rect">
            <a:avLst/>
          </a:prstGeom>
          <a:noFill/>
          <a:ln/>
        </p:spPr>
        <p:txBody>
          <a:bodyPr wrap="square" lIns="0" tIns="0" rIns="0" bIns="0" rtlCol="0" anchor="ctr"/>
          <a:lstStyle/>
          <a:p>
            <a:pPr indent="0" marL="0">
              <a:lnSpc>
                <a:spcPts val="1900"/>
              </a:lnSpc>
              <a:buNone/>
            </a:pPr>
            <a:r>
              <a:rPr lang="en-US" sz="1300" dirty="0">
                <a:solidFill>
                  <a:srgbClr val="C9D6E2"/>
                </a:solidFill>
                <a:latin typeface="Calibri" pitchFamily="34" charset="0"/>
                <a:ea typeface="Calibri" pitchFamily="34" charset="-122"/>
                <a:cs typeface="Calibri" pitchFamily="34" charset="-120"/>
              </a:rPr>
              <a:t>A claim is never deleted — it is superseded by a resolution that names it, states its belief and plausibility, and gives the reasoning in the language of a land record.</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10896"/>
            <a:ext cx="10058400" cy="237744"/>
          </a:xfrm>
          <a:prstGeom prst="rect">
            <a:avLst/>
          </a:prstGeom>
          <a:noFill/>
          <a:ln/>
        </p:spPr>
        <p:txBody>
          <a:bodyPr wrap="square" lIns="0" tIns="0" rIns="0" bIns="0" rtlCol="0" anchor="t"/>
          <a:lstStyle/>
          <a:p>
            <a:pPr indent="0" marL="0">
              <a:buNone/>
            </a:pPr>
            <a:r>
              <a:rPr lang="en-US" sz="1100" b="1" spc="200" kern="0" dirty="0">
                <a:solidFill>
                  <a:srgbClr val="D9743B"/>
                </a:solidFill>
                <a:latin typeface="Calibri" pitchFamily="34" charset="0"/>
                <a:ea typeface="Calibri" pitchFamily="34" charset="-122"/>
                <a:cs typeface="Calibri" pitchFamily="34" charset="-120"/>
              </a:rPr>
              <a:t>EVIDENCE</a:t>
            </a:r>
            <a:endParaRPr lang="en-US" sz="1100" dirty="0"/>
          </a:p>
        </p:txBody>
      </p:sp>
      <p:sp>
        <p:nvSpPr>
          <p:cNvPr id="3" name="Text 1"/>
          <p:cNvSpPr txBox="1"/>
          <p:nvPr/>
        </p:nvSpPr>
        <p:spPr>
          <a:xfrm>
            <a:off x="566928" y="621792"/>
            <a:ext cx="11064240" cy="896112"/>
          </a:xfrm>
          <a:prstGeom prst="rect">
            <a:avLst/>
          </a:prstGeom>
          <a:noFill/>
          <a:ln/>
        </p:spPr>
        <p:txBody>
          <a:bodyPr wrap="square" lIns="0" tIns="0" rIns="0" bIns="0" rtlCol="0" anchor="t"/>
          <a:lstStyle/>
          <a:p>
            <a:pPr indent="0" marL="0">
              <a:buNone/>
            </a:pPr>
            <a:r>
              <a:rPr lang="en-US" sz="3000" b="1" dirty="0">
                <a:solidFill>
                  <a:srgbClr val="13202F"/>
                </a:solidFill>
                <a:latin typeface="Cambria" pitchFamily="34" charset="0"/>
                <a:ea typeface="Cambria" pitchFamily="34" charset="-122"/>
                <a:cs typeface="Cambria" pitchFamily="34" charset="-120"/>
              </a:rPr>
              <a:t>Real government data. No synthetic parcels anywhere.</a:t>
            </a:r>
            <a:endParaRPr lang="en-US" sz="3000" dirty="0"/>
          </a:p>
        </p:txBody>
      </p:sp>
      <p:sp>
        <p:nvSpPr>
          <p:cNvPr id="5" name="Text 2"/>
          <p:cNvSpPr txBox="1"/>
          <p:nvPr/>
        </p:nvSpPr>
        <p:spPr>
          <a:xfrm>
            <a:off x="566928" y="1700784"/>
            <a:ext cx="3931920" cy="237744"/>
          </a:xfrm>
          <a:prstGeom prst="rect">
            <a:avLst/>
          </a:prstGeom>
          <a:noFill/>
          <a:ln/>
        </p:spPr>
        <p:txBody>
          <a:bodyPr wrap="square" lIns="0" tIns="0" rIns="0" bIns="0" rtlCol="0" anchor="t"/>
          <a:lstStyle/>
          <a:p>
            <a:pPr indent="0" marL="0">
              <a:buNone/>
            </a:pPr>
            <a:r>
              <a:rPr lang="en-US" sz="950" b="1" spc="100" kern="0" dirty="0">
                <a:solidFill>
                  <a:srgbClr val="5C6B7A"/>
                </a:solidFill>
                <a:latin typeface="Calibri" pitchFamily="34" charset="0"/>
                <a:ea typeface="Calibri" pitchFamily="34" charset="-122"/>
                <a:cs typeface="Calibri" pitchFamily="34" charset="-120"/>
              </a:rPr>
              <a:t>DATASET</a:t>
            </a:r>
            <a:endParaRPr lang="en-US" sz="950" dirty="0"/>
          </a:p>
        </p:txBody>
      </p:sp>
      <p:sp>
        <p:nvSpPr>
          <p:cNvPr id="6" name="Text 3"/>
          <p:cNvSpPr txBox="1"/>
          <p:nvPr/>
        </p:nvSpPr>
        <p:spPr>
          <a:xfrm>
            <a:off x="4590288" y="1700784"/>
            <a:ext cx="3108960" cy="237744"/>
          </a:xfrm>
          <a:prstGeom prst="rect">
            <a:avLst/>
          </a:prstGeom>
          <a:noFill/>
          <a:ln/>
        </p:spPr>
        <p:txBody>
          <a:bodyPr wrap="square" lIns="0" tIns="0" rIns="0" bIns="0" rtlCol="0" anchor="t"/>
          <a:lstStyle/>
          <a:p>
            <a:pPr indent="0" marL="0">
              <a:buNone/>
            </a:pPr>
            <a:r>
              <a:rPr lang="en-US" sz="950" b="1" spc="100" kern="0" dirty="0">
                <a:solidFill>
                  <a:srgbClr val="5C6B7A"/>
                </a:solidFill>
                <a:latin typeface="Calibri" pitchFamily="34" charset="0"/>
                <a:ea typeface="Calibri" pitchFamily="34" charset="-122"/>
                <a:cs typeface="Calibri" pitchFamily="34" charset="-120"/>
              </a:rPr>
              <a:t>ISSUING AUTHORITY</a:t>
            </a:r>
            <a:endParaRPr lang="en-US" sz="950" dirty="0"/>
          </a:p>
        </p:txBody>
      </p:sp>
      <p:sp>
        <p:nvSpPr>
          <p:cNvPr id="7" name="Text 4"/>
          <p:cNvSpPr txBox="1"/>
          <p:nvPr/>
        </p:nvSpPr>
        <p:spPr>
          <a:xfrm>
            <a:off x="7790688" y="1700784"/>
            <a:ext cx="2651760" cy="237744"/>
          </a:xfrm>
          <a:prstGeom prst="rect">
            <a:avLst/>
          </a:prstGeom>
          <a:noFill/>
          <a:ln/>
        </p:spPr>
        <p:txBody>
          <a:bodyPr wrap="square" lIns="0" tIns="0" rIns="0" bIns="0" rtlCol="0" anchor="t"/>
          <a:lstStyle/>
          <a:p>
            <a:pPr indent="0" marL="0">
              <a:buNone/>
            </a:pPr>
            <a:r>
              <a:rPr lang="en-US" sz="950" b="1" spc="100" kern="0" dirty="0">
                <a:solidFill>
                  <a:srgbClr val="5C6B7A"/>
                </a:solidFill>
                <a:latin typeface="Calibri" pitchFamily="34" charset="0"/>
                <a:ea typeface="Calibri" pitchFamily="34" charset="-122"/>
                <a:cs typeface="Calibri" pitchFamily="34" charset="-120"/>
              </a:rPr>
              <a:t>EXTENT</a:t>
            </a:r>
            <a:endParaRPr lang="en-US" sz="950" dirty="0"/>
          </a:p>
        </p:txBody>
      </p:sp>
      <p:sp>
        <p:nvSpPr>
          <p:cNvPr id="8" name="Text 5"/>
          <p:cNvSpPr txBox="1"/>
          <p:nvPr/>
        </p:nvSpPr>
        <p:spPr>
          <a:xfrm>
            <a:off x="10533888" y="1700784"/>
            <a:ext cx="1097280" cy="237744"/>
          </a:xfrm>
          <a:prstGeom prst="rect">
            <a:avLst/>
          </a:prstGeom>
          <a:noFill/>
          <a:ln/>
        </p:spPr>
        <p:txBody>
          <a:bodyPr wrap="square" lIns="0" tIns="0" rIns="0" bIns="0" rtlCol="0" anchor="t"/>
          <a:lstStyle/>
          <a:p>
            <a:pPr indent="0" marL="0">
              <a:buNone/>
            </a:pPr>
            <a:r>
              <a:rPr lang="en-US" sz="950" b="1" spc="100" kern="0" dirty="0">
                <a:solidFill>
                  <a:srgbClr val="5C6B7A"/>
                </a:solidFill>
                <a:latin typeface="Calibri" pitchFamily="34" charset="0"/>
                <a:ea typeface="Calibri" pitchFamily="34" charset="-122"/>
                <a:cs typeface="Calibri" pitchFamily="34" charset="-120"/>
              </a:rPr>
              <a:t>LICENCE</a:t>
            </a:r>
            <a:endParaRPr lang="en-US" sz="950" dirty="0"/>
          </a:p>
        </p:txBody>
      </p:sp>
      <p:sp>
        <p:nvSpPr>
          <p:cNvPr id="9" name="Shape 6"/>
          <p:cNvSpPr/>
          <p:nvPr/>
        </p:nvSpPr>
        <p:spPr>
          <a:xfrm>
            <a:off x="420624" y="1965960"/>
            <a:ext cx="11320272" cy="438912"/>
          </a:xfrm>
          <a:prstGeom prst="roundRect">
            <a:avLst>
              <a:gd name="adj" fmla="val 16667"/>
            </a:avLst>
          </a:prstGeom>
          <a:solidFill>
            <a:srgbClr val="EEF2F5"/>
          </a:solidFill>
          <a:ln w="12700">
            <a:solidFill>
              <a:srgbClr val="EEF2F5"/>
            </a:solidFill>
            <a:prstDash val="solid"/>
          </a:ln>
        </p:spPr>
      </p:sp>
      <p:sp>
        <p:nvSpPr>
          <p:cNvPr id="10" name="Text 7"/>
          <p:cNvSpPr txBox="1"/>
          <p:nvPr/>
        </p:nvSpPr>
        <p:spPr>
          <a:xfrm>
            <a:off x="566928" y="2011680"/>
            <a:ext cx="3931920" cy="365760"/>
          </a:xfrm>
          <a:prstGeom prst="rect">
            <a:avLst/>
          </a:prstGeom>
          <a:noFill/>
          <a:ln/>
        </p:spPr>
        <p:txBody>
          <a:bodyPr wrap="square" lIns="0" tIns="0" rIns="0" bIns="0" rtlCol="0" anchor="ctr"/>
          <a:lstStyle/>
          <a:p>
            <a:pPr indent="0" marL="0">
              <a:buNone/>
            </a:pPr>
            <a:r>
              <a:rPr lang="en-US" sz="1200" b="1" dirty="0">
                <a:solidFill>
                  <a:srgbClr val="13202F"/>
                </a:solidFill>
                <a:latin typeface="Calibri" pitchFamily="34" charset="0"/>
                <a:ea typeface="Calibri" pitchFamily="34" charset="-122"/>
                <a:cs typeface="Calibri" pitchFamily="34" charset="-120"/>
              </a:rPr>
              <a:t>TNGIS Tamil Nadu cadastrals</a:t>
            </a:r>
            <a:endParaRPr lang="en-US" sz="1200" dirty="0"/>
          </a:p>
        </p:txBody>
      </p:sp>
      <p:sp>
        <p:nvSpPr>
          <p:cNvPr id="11" name="Text 8"/>
          <p:cNvSpPr txBox="1"/>
          <p:nvPr/>
        </p:nvSpPr>
        <p:spPr>
          <a:xfrm>
            <a:off x="4590288" y="2011680"/>
            <a:ext cx="3108960" cy="365760"/>
          </a:xfrm>
          <a:prstGeom prst="rect">
            <a:avLst/>
          </a:prstGeom>
          <a:noFill/>
          <a:ln/>
        </p:spPr>
        <p:txBody>
          <a:bodyPr wrap="square" lIns="0" tIns="0" rIns="0" bIns="0" rtlCol="0" anchor="ctr"/>
          <a:lstStyle/>
          <a:p>
            <a:pPr indent="0" marL="0">
              <a:buNone/>
            </a:pPr>
            <a:r>
              <a:rPr lang="en-US" sz="1200" dirty="0">
                <a:solidFill>
                  <a:srgbClr val="13202F"/>
                </a:solidFill>
                <a:latin typeface="Calibri" pitchFamily="34" charset="0"/>
                <a:ea typeface="Calibri" pitchFamily="34" charset="-122"/>
                <a:cs typeface="Calibri" pitchFamily="34" charset="-120"/>
              </a:rPr>
              <a:t>TNeGA (State)</a:t>
            </a:r>
            <a:endParaRPr lang="en-US" sz="1200" dirty="0"/>
          </a:p>
        </p:txBody>
      </p:sp>
      <p:sp>
        <p:nvSpPr>
          <p:cNvPr id="12" name="Text 9"/>
          <p:cNvSpPr txBox="1"/>
          <p:nvPr/>
        </p:nvSpPr>
        <p:spPr>
          <a:xfrm>
            <a:off x="7790688" y="2011680"/>
            <a:ext cx="2651760" cy="365760"/>
          </a:xfrm>
          <a:prstGeom prst="rect">
            <a:avLst/>
          </a:prstGeom>
          <a:noFill/>
          <a:ln/>
        </p:spPr>
        <p:txBody>
          <a:bodyPr wrap="square" lIns="0" tIns="0" rIns="0" bIns="0" rtlCol="0" anchor="ctr"/>
          <a:lstStyle/>
          <a:p>
            <a:pPr indent="0" marL="0">
              <a:buNone/>
            </a:pPr>
            <a:r>
              <a:rPr lang="en-US" sz="1200" dirty="0">
                <a:solidFill>
                  <a:srgbClr val="0F6E5F"/>
                </a:solidFill>
                <a:latin typeface="Calibri" pitchFamily="34" charset="0"/>
                <a:ea typeface="Calibri" pitchFamily="34" charset="-122"/>
                <a:cs typeface="Calibri" pitchFamily="34" charset="-120"/>
              </a:rPr>
              <a:t>6,017,242 parcels</a:t>
            </a:r>
            <a:endParaRPr lang="en-US" sz="1200" dirty="0"/>
          </a:p>
        </p:txBody>
      </p:sp>
      <p:sp>
        <p:nvSpPr>
          <p:cNvPr id="13" name="Text 10"/>
          <p:cNvSpPr txBox="1"/>
          <p:nvPr/>
        </p:nvSpPr>
        <p:spPr>
          <a:xfrm>
            <a:off x="10533888" y="2011680"/>
            <a:ext cx="1097280" cy="365760"/>
          </a:xfrm>
          <a:prstGeom prst="rect">
            <a:avLst/>
          </a:prstGeom>
          <a:noFill/>
          <a:ln/>
        </p:spPr>
        <p:txBody>
          <a:bodyPr wrap="square" lIns="0" tIns="0" rIns="0" bIns="0" rtlCol="0" anchor="ctr"/>
          <a:lstStyle/>
          <a:p>
            <a:pPr indent="0" marL="0">
              <a:buNone/>
            </a:pPr>
            <a:r>
              <a:rPr lang="en-US" sz="1200" dirty="0">
                <a:solidFill>
                  <a:srgbClr val="13202F"/>
                </a:solidFill>
                <a:latin typeface="Calibri" pitchFamily="34" charset="0"/>
                <a:ea typeface="Calibri" pitchFamily="34" charset="-122"/>
                <a:cs typeface="Calibri" pitchFamily="34" charset="-120"/>
              </a:rPr>
              <a:t>CC0</a:t>
            </a:r>
            <a:endParaRPr lang="en-US" sz="1200" dirty="0"/>
          </a:p>
        </p:txBody>
      </p:sp>
      <p:sp>
        <p:nvSpPr>
          <p:cNvPr id="14" name="Shape 11"/>
          <p:cNvSpPr/>
          <p:nvPr/>
        </p:nvSpPr>
        <p:spPr>
          <a:xfrm>
            <a:off x="420624" y="2468880"/>
            <a:ext cx="11320272" cy="438912"/>
          </a:xfrm>
          <a:prstGeom prst="roundRect">
            <a:avLst>
              <a:gd name="adj" fmla="val 16667"/>
            </a:avLst>
          </a:prstGeom>
          <a:solidFill>
            <a:srgbClr val="FFFFFF"/>
          </a:solidFill>
          <a:ln w="12700">
            <a:solidFill>
              <a:srgbClr val="FFFFFF"/>
            </a:solidFill>
            <a:prstDash val="solid"/>
          </a:ln>
        </p:spPr>
      </p:sp>
      <p:sp>
        <p:nvSpPr>
          <p:cNvPr id="15" name="Text 12"/>
          <p:cNvSpPr txBox="1"/>
          <p:nvPr/>
        </p:nvSpPr>
        <p:spPr>
          <a:xfrm>
            <a:off x="566928" y="2514600"/>
            <a:ext cx="3931920" cy="365760"/>
          </a:xfrm>
          <a:prstGeom prst="rect">
            <a:avLst/>
          </a:prstGeom>
          <a:noFill/>
          <a:ln/>
        </p:spPr>
        <p:txBody>
          <a:bodyPr wrap="square" lIns="0" tIns="0" rIns="0" bIns="0" rtlCol="0" anchor="ctr"/>
          <a:lstStyle/>
          <a:p>
            <a:pPr indent="0" marL="0">
              <a:buNone/>
            </a:pPr>
            <a:r>
              <a:rPr lang="en-US" sz="1200" b="1" dirty="0">
                <a:solidFill>
                  <a:srgbClr val="13202F"/>
                </a:solidFill>
                <a:latin typeface="Calibri" pitchFamily="34" charset="0"/>
                <a:ea typeface="Calibri" pitchFamily="34" charset="-122"/>
                <a:cs typeface="Calibri" pitchFamily="34" charset="-120"/>
              </a:rPr>
              <a:t>NCSCM coastal cadastrals</a:t>
            </a:r>
            <a:endParaRPr lang="en-US" sz="1200" dirty="0"/>
          </a:p>
        </p:txBody>
      </p:sp>
      <p:sp>
        <p:nvSpPr>
          <p:cNvPr id="16" name="Text 13"/>
          <p:cNvSpPr txBox="1"/>
          <p:nvPr/>
        </p:nvSpPr>
        <p:spPr>
          <a:xfrm>
            <a:off x="4590288" y="2514600"/>
            <a:ext cx="3108960" cy="365760"/>
          </a:xfrm>
          <a:prstGeom prst="rect">
            <a:avLst/>
          </a:prstGeom>
          <a:noFill/>
          <a:ln/>
        </p:spPr>
        <p:txBody>
          <a:bodyPr wrap="square" lIns="0" tIns="0" rIns="0" bIns="0" rtlCol="0" anchor="ctr"/>
          <a:lstStyle/>
          <a:p>
            <a:pPr indent="0" marL="0">
              <a:buNone/>
            </a:pPr>
            <a:r>
              <a:rPr lang="en-US" sz="1200" dirty="0">
                <a:solidFill>
                  <a:srgbClr val="13202F"/>
                </a:solidFill>
                <a:latin typeface="Calibri" pitchFamily="34" charset="0"/>
                <a:ea typeface="Calibri" pitchFamily="34" charset="-122"/>
                <a:cs typeface="Calibri" pitchFamily="34" charset="-120"/>
              </a:rPr>
              <a:t>MoEFCC</a:t>
            </a:r>
            <a:endParaRPr lang="en-US" sz="1200" dirty="0"/>
          </a:p>
        </p:txBody>
      </p:sp>
      <p:sp>
        <p:nvSpPr>
          <p:cNvPr id="17" name="Text 14"/>
          <p:cNvSpPr txBox="1"/>
          <p:nvPr/>
        </p:nvSpPr>
        <p:spPr>
          <a:xfrm>
            <a:off x="7790688" y="2514600"/>
            <a:ext cx="2651760" cy="365760"/>
          </a:xfrm>
          <a:prstGeom prst="rect">
            <a:avLst/>
          </a:prstGeom>
          <a:noFill/>
          <a:ln/>
        </p:spPr>
        <p:txBody>
          <a:bodyPr wrap="square" lIns="0" tIns="0" rIns="0" bIns="0" rtlCol="0" anchor="ctr"/>
          <a:lstStyle/>
          <a:p>
            <a:pPr indent="0" marL="0">
              <a:buNone/>
            </a:pPr>
            <a:r>
              <a:rPr lang="en-US" sz="1200" dirty="0">
                <a:solidFill>
                  <a:srgbClr val="0F6E5F"/>
                </a:solidFill>
                <a:latin typeface="Calibri" pitchFamily="34" charset="0"/>
                <a:ea typeface="Calibri" pitchFamily="34" charset="-122"/>
                <a:cs typeface="Calibri" pitchFamily="34" charset="-120"/>
              </a:rPr>
              <a:t>220,668 parcels</a:t>
            </a:r>
            <a:endParaRPr lang="en-US" sz="1200" dirty="0"/>
          </a:p>
        </p:txBody>
      </p:sp>
      <p:sp>
        <p:nvSpPr>
          <p:cNvPr id="18" name="Text 15"/>
          <p:cNvSpPr txBox="1"/>
          <p:nvPr/>
        </p:nvSpPr>
        <p:spPr>
          <a:xfrm>
            <a:off x="10533888" y="2514600"/>
            <a:ext cx="1097280" cy="365760"/>
          </a:xfrm>
          <a:prstGeom prst="rect">
            <a:avLst/>
          </a:prstGeom>
          <a:noFill/>
          <a:ln/>
        </p:spPr>
        <p:txBody>
          <a:bodyPr wrap="square" lIns="0" tIns="0" rIns="0" bIns="0" rtlCol="0" anchor="ctr"/>
          <a:lstStyle/>
          <a:p>
            <a:pPr indent="0" marL="0">
              <a:buNone/>
            </a:pPr>
            <a:r>
              <a:rPr lang="en-US" sz="1200" dirty="0">
                <a:solidFill>
                  <a:srgbClr val="13202F"/>
                </a:solidFill>
                <a:latin typeface="Calibri" pitchFamily="34" charset="0"/>
                <a:ea typeface="Calibri" pitchFamily="34" charset="-122"/>
                <a:cs typeface="Calibri" pitchFamily="34" charset="-120"/>
              </a:rPr>
              <a:t>CC0</a:t>
            </a:r>
            <a:endParaRPr lang="en-US" sz="1200" dirty="0"/>
          </a:p>
        </p:txBody>
      </p:sp>
      <p:sp>
        <p:nvSpPr>
          <p:cNvPr id="19" name="Shape 16"/>
          <p:cNvSpPr/>
          <p:nvPr/>
        </p:nvSpPr>
        <p:spPr>
          <a:xfrm>
            <a:off x="420624" y="2971800"/>
            <a:ext cx="11320272" cy="438912"/>
          </a:xfrm>
          <a:prstGeom prst="roundRect">
            <a:avLst>
              <a:gd name="adj" fmla="val 16667"/>
            </a:avLst>
          </a:prstGeom>
          <a:solidFill>
            <a:srgbClr val="EEF2F5"/>
          </a:solidFill>
          <a:ln w="12700">
            <a:solidFill>
              <a:srgbClr val="EEF2F5"/>
            </a:solidFill>
            <a:prstDash val="solid"/>
          </a:ln>
        </p:spPr>
      </p:sp>
      <p:sp>
        <p:nvSpPr>
          <p:cNvPr id="20" name="Text 17"/>
          <p:cNvSpPr txBox="1"/>
          <p:nvPr/>
        </p:nvSpPr>
        <p:spPr>
          <a:xfrm>
            <a:off x="566928" y="3017520"/>
            <a:ext cx="3931920" cy="365760"/>
          </a:xfrm>
          <a:prstGeom prst="rect">
            <a:avLst/>
          </a:prstGeom>
          <a:noFill/>
          <a:ln/>
        </p:spPr>
        <p:txBody>
          <a:bodyPr wrap="square" lIns="0" tIns="0" rIns="0" bIns="0" rtlCol="0" anchor="ctr"/>
          <a:lstStyle/>
          <a:p>
            <a:pPr indent="0" marL="0">
              <a:buNone/>
            </a:pPr>
            <a:r>
              <a:rPr lang="en-US" sz="1200" b="1" dirty="0">
                <a:solidFill>
                  <a:srgbClr val="13202F"/>
                </a:solidFill>
                <a:latin typeface="Calibri" pitchFamily="34" charset="0"/>
                <a:ea typeface="Calibri" pitchFamily="34" charset="-122"/>
                <a:cs typeface="Calibri" pitchFamily="34" charset="-120"/>
              </a:rPr>
              <a:t>GCC Chennai building survey</a:t>
            </a:r>
            <a:endParaRPr lang="en-US" sz="1200" dirty="0"/>
          </a:p>
        </p:txBody>
      </p:sp>
      <p:sp>
        <p:nvSpPr>
          <p:cNvPr id="21" name="Text 18"/>
          <p:cNvSpPr txBox="1"/>
          <p:nvPr/>
        </p:nvSpPr>
        <p:spPr>
          <a:xfrm>
            <a:off x="4590288" y="3017520"/>
            <a:ext cx="3108960" cy="365760"/>
          </a:xfrm>
          <a:prstGeom prst="rect">
            <a:avLst/>
          </a:prstGeom>
          <a:noFill/>
          <a:ln/>
        </p:spPr>
        <p:txBody>
          <a:bodyPr wrap="square" lIns="0" tIns="0" rIns="0" bIns="0" rtlCol="0" anchor="ctr"/>
          <a:lstStyle/>
          <a:p>
            <a:pPr indent="0" marL="0">
              <a:buNone/>
            </a:pPr>
            <a:r>
              <a:rPr lang="en-US" sz="1200" dirty="0">
                <a:solidFill>
                  <a:srgbClr val="13202F"/>
                </a:solidFill>
                <a:latin typeface="Calibri" pitchFamily="34" charset="0"/>
                <a:ea typeface="Calibri" pitchFamily="34" charset="-122"/>
                <a:cs typeface="Calibri" pitchFamily="34" charset="-120"/>
              </a:rPr>
              <a:t>Greater Chennai Corporation</a:t>
            </a:r>
            <a:endParaRPr lang="en-US" sz="1200" dirty="0"/>
          </a:p>
        </p:txBody>
      </p:sp>
      <p:sp>
        <p:nvSpPr>
          <p:cNvPr id="22" name="Text 19"/>
          <p:cNvSpPr txBox="1"/>
          <p:nvPr/>
        </p:nvSpPr>
        <p:spPr>
          <a:xfrm>
            <a:off x="7790688" y="3017520"/>
            <a:ext cx="2651760" cy="365760"/>
          </a:xfrm>
          <a:prstGeom prst="rect">
            <a:avLst/>
          </a:prstGeom>
          <a:noFill/>
          <a:ln/>
        </p:spPr>
        <p:txBody>
          <a:bodyPr wrap="square" lIns="0" tIns="0" rIns="0" bIns="0" rtlCol="0" anchor="ctr"/>
          <a:lstStyle/>
          <a:p>
            <a:pPr indent="0" marL="0">
              <a:buNone/>
            </a:pPr>
            <a:r>
              <a:rPr lang="en-US" sz="1200" dirty="0">
                <a:solidFill>
                  <a:srgbClr val="0F6E5F"/>
                </a:solidFill>
                <a:latin typeface="Calibri" pitchFamily="34" charset="0"/>
                <a:ea typeface="Calibri" pitchFamily="34" charset="-122"/>
                <a:cs typeface="Calibri" pitchFamily="34" charset="-120"/>
              </a:rPr>
              <a:t>964,053 footprints</a:t>
            </a:r>
            <a:endParaRPr lang="en-US" sz="1200" dirty="0"/>
          </a:p>
        </p:txBody>
      </p:sp>
      <p:sp>
        <p:nvSpPr>
          <p:cNvPr id="23" name="Text 20"/>
          <p:cNvSpPr txBox="1"/>
          <p:nvPr/>
        </p:nvSpPr>
        <p:spPr>
          <a:xfrm>
            <a:off x="10533888" y="3017520"/>
            <a:ext cx="1097280" cy="365760"/>
          </a:xfrm>
          <a:prstGeom prst="rect">
            <a:avLst/>
          </a:prstGeom>
          <a:noFill/>
          <a:ln/>
        </p:spPr>
        <p:txBody>
          <a:bodyPr wrap="square" lIns="0" tIns="0" rIns="0" bIns="0" rtlCol="0" anchor="ctr"/>
          <a:lstStyle/>
          <a:p>
            <a:pPr indent="0" marL="0">
              <a:buNone/>
            </a:pPr>
            <a:r>
              <a:rPr lang="en-US" sz="1200" dirty="0">
                <a:solidFill>
                  <a:srgbClr val="13202F"/>
                </a:solidFill>
                <a:latin typeface="Calibri" pitchFamily="34" charset="0"/>
                <a:ea typeface="Calibri" pitchFamily="34" charset="-122"/>
                <a:cs typeface="Calibri" pitchFamily="34" charset="-120"/>
              </a:rPr>
              <a:t>CC0</a:t>
            </a:r>
            <a:endParaRPr lang="en-US" sz="1200" dirty="0"/>
          </a:p>
        </p:txBody>
      </p:sp>
      <p:sp>
        <p:nvSpPr>
          <p:cNvPr id="24" name="Shape 21"/>
          <p:cNvSpPr/>
          <p:nvPr/>
        </p:nvSpPr>
        <p:spPr>
          <a:xfrm>
            <a:off x="420624" y="3474720"/>
            <a:ext cx="11320272" cy="438912"/>
          </a:xfrm>
          <a:prstGeom prst="roundRect">
            <a:avLst>
              <a:gd name="adj" fmla="val 16667"/>
            </a:avLst>
          </a:prstGeom>
          <a:solidFill>
            <a:srgbClr val="FFFFFF"/>
          </a:solidFill>
          <a:ln w="12700">
            <a:solidFill>
              <a:srgbClr val="FFFFFF"/>
            </a:solidFill>
            <a:prstDash val="solid"/>
          </a:ln>
        </p:spPr>
      </p:sp>
      <p:sp>
        <p:nvSpPr>
          <p:cNvPr id="25" name="Text 22"/>
          <p:cNvSpPr txBox="1"/>
          <p:nvPr/>
        </p:nvSpPr>
        <p:spPr>
          <a:xfrm>
            <a:off x="566928" y="3520440"/>
            <a:ext cx="3931920" cy="365760"/>
          </a:xfrm>
          <a:prstGeom prst="rect">
            <a:avLst/>
          </a:prstGeom>
          <a:noFill/>
          <a:ln/>
        </p:spPr>
        <p:txBody>
          <a:bodyPr wrap="square" lIns="0" tIns="0" rIns="0" bIns="0" rtlCol="0" anchor="ctr"/>
          <a:lstStyle/>
          <a:p>
            <a:pPr indent="0" marL="0">
              <a:buNone/>
            </a:pPr>
            <a:r>
              <a:rPr lang="en-US" sz="1200" b="1" dirty="0">
                <a:solidFill>
                  <a:srgbClr val="13202F"/>
                </a:solidFill>
                <a:latin typeface="Calibri" pitchFamily="34" charset="0"/>
                <a:ea typeface="Calibri" pitchFamily="34" charset="-122"/>
                <a:cs typeface="Calibri" pitchFamily="34" charset="-120"/>
              </a:rPr>
              <a:t>Google Open Buildings v3</a:t>
            </a:r>
            <a:endParaRPr lang="en-US" sz="1200" dirty="0"/>
          </a:p>
        </p:txBody>
      </p:sp>
      <p:sp>
        <p:nvSpPr>
          <p:cNvPr id="26" name="Text 23"/>
          <p:cNvSpPr txBox="1"/>
          <p:nvPr/>
        </p:nvSpPr>
        <p:spPr>
          <a:xfrm>
            <a:off x="4590288" y="3520440"/>
            <a:ext cx="3108960" cy="365760"/>
          </a:xfrm>
          <a:prstGeom prst="rect">
            <a:avLst/>
          </a:prstGeom>
          <a:noFill/>
          <a:ln/>
        </p:spPr>
        <p:txBody>
          <a:bodyPr wrap="square" lIns="0" tIns="0" rIns="0" bIns="0" rtlCol="0" anchor="ctr"/>
          <a:lstStyle/>
          <a:p>
            <a:pPr indent="0" marL="0">
              <a:buNone/>
            </a:pPr>
            <a:r>
              <a:rPr lang="en-US" sz="1200" dirty="0">
                <a:solidFill>
                  <a:srgbClr val="13202F"/>
                </a:solidFill>
                <a:latin typeface="Calibri" pitchFamily="34" charset="0"/>
                <a:ea typeface="Calibri" pitchFamily="34" charset="-122"/>
                <a:cs typeface="Calibri" pitchFamily="34" charset="-120"/>
              </a:rPr>
              <a:t>Google Research</a:t>
            </a:r>
            <a:endParaRPr lang="en-US" sz="1200" dirty="0"/>
          </a:p>
        </p:txBody>
      </p:sp>
      <p:sp>
        <p:nvSpPr>
          <p:cNvPr id="27" name="Text 24"/>
          <p:cNvSpPr txBox="1"/>
          <p:nvPr/>
        </p:nvSpPr>
        <p:spPr>
          <a:xfrm>
            <a:off x="7790688" y="3520440"/>
            <a:ext cx="2651760" cy="365760"/>
          </a:xfrm>
          <a:prstGeom prst="rect">
            <a:avLst/>
          </a:prstGeom>
          <a:noFill/>
          <a:ln/>
        </p:spPr>
        <p:txBody>
          <a:bodyPr wrap="square" lIns="0" tIns="0" rIns="0" bIns="0" rtlCol="0" anchor="ctr"/>
          <a:lstStyle/>
          <a:p>
            <a:pPr indent="0" marL="0">
              <a:buNone/>
            </a:pPr>
            <a:r>
              <a:rPr lang="en-US" sz="1200" dirty="0">
                <a:solidFill>
                  <a:srgbClr val="0F6E5F"/>
                </a:solidFill>
                <a:latin typeface="Calibri" pitchFamily="34" charset="0"/>
                <a:ea typeface="Calibri" pitchFamily="34" charset="-122"/>
                <a:cs typeface="Calibri" pitchFamily="34" charset="-120"/>
              </a:rPr>
              <a:t>15,889,026 buildings</a:t>
            </a:r>
            <a:endParaRPr lang="en-US" sz="1200" dirty="0"/>
          </a:p>
        </p:txBody>
      </p:sp>
      <p:sp>
        <p:nvSpPr>
          <p:cNvPr id="28" name="Text 25"/>
          <p:cNvSpPr txBox="1"/>
          <p:nvPr/>
        </p:nvSpPr>
        <p:spPr>
          <a:xfrm>
            <a:off x="10533888" y="3520440"/>
            <a:ext cx="1097280" cy="365760"/>
          </a:xfrm>
          <a:prstGeom prst="rect">
            <a:avLst/>
          </a:prstGeom>
          <a:noFill/>
          <a:ln/>
        </p:spPr>
        <p:txBody>
          <a:bodyPr wrap="square" lIns="0" tIns="0" rIns="0" bIns="0" rtlCol="0" anchor="ctr"/>
          <a:lstStyle/>
          <a:p>
            <a:pPr indent="0" marL="0">
              <a:buNone/>
            </a:pPr>
            <a:r>
              <a:rPr lang="en-US" sz="1200" dirty="0">
                <a:solidFill>
                  <a:srgbClr val="13202F"/>
                </a:solidFill>
                <a:latin typeface="Calibri" pitchFamily="34" charset="0"/>
                <a:ea typeface="Calibri" pitchFamily="34" charset="-122"/>
                <a:cs typeface="Calibri" pitchFamily="34" charset="-120"/>
              </a:rPr>
              <a:t>CC-BY</a:t>
            </a:r>
            <a:endParaRPr lang="en-US" sz="1200" dirty="0"/>
          </a:p>
        </p:txBody>
      </p:sp>
      <p:sp>
        <p:nvSpPr>
          <p:cNvPr id="29" name="Shape 26"/>
          <p:cNvSpPr/>
          <p:nvPr/>
        </p:nvSpPr>
        <p:spPr>
          <a:xfrm>
            <a:off x="420624" y="3977640"/>
            <a:ext cx="11320272" cy="438912"/>
          </a:xfrm>
          <a:prstGeom prst="roundRect">
            <a:avLst>
              <a:gd name="adj" fmla="val 16667"/>
            </a:avLst>
          </a:prstGeom>
          <a:solidFill>
            <a:srgbClr val="EEF2F5"/>
          </a:solidFill>
          <a:ln w="12700">
            <a:solidFill>
              <a:srgbClr val="EEF2F5"/>
            </a:solidFill>
            <a:prstDash val="solid"/>
          </a:ln>
        </p:spPr>
      </p:sp>
      <p:sp>
        <p:nvSpPr>
          <p:cNvPr id="30" name="Text 27"/>
          <p:cNvSpPr txBox="1"/>
          <p:nvPr/>
        </p:nvSpPr>
        <p:spPr>
          <a:xfrm>
            <a:off x="566928" y="4023360"/>
            <a:ext cx="3931920" cy="365760"/>
          </a:xfrm>
          <a:prstGeom prst="rect">
            <a:avLst/>
          </a:prstGeom>
          <a:noFill/>
          <a:ln/>
        </p:spPr>
        <p:txBody>
          <a:bodyPr wrap="square" lIns="0" tIns="0" rIns="0" bIns="0" rtlCol="0" anchor="ctr"/>
          <a:lstStyle/>
          <a:p>
            <a:pPr indent="0" marL="0">
              <a:buNone/>
            </a:pPr>
            <a:r>
              <a:rPr lang="en-US" sz="1200" b="1" dirty="0">
                <a:solidFill>
                  <a:srgbClr val="13202F"/>
                </a:solidFill>
                <a:latin typeface="Calibri" pitchFamily="34" charset="0"/>
                <a:ea typeface="Calibri" pitchFamily="34" charset="-122"/>
                <a:cs typeface="Calibri" pitchFamily="34" charset="-120"/>
              </a:rPr>
              <a:t>AMRUT / Bhuvan buildings</a:t>
            </a:r>
            <a:endParaRPr lang="en-US" sz="1200" dirty="0"/>
          </a:p>
        </p:txBody>
      </p:sp>
      <p:sp>
        <p:nvSpPr>
          <p:cNvPr id="31" name="Text 28"/>
          <p:cNvSpPr txBox="1"/>
          <p:nvPr/>
        </p:nvSpPr>
        <p:spPr>
          <a:xfrm>
            <a:off x="4590288" y="4023360"/>
            <a:ext cx="3108960" cy="365760"/>
          </a:xfrm>
          <a:prstGeom prst="rect">
            <a:avLst/>
          </a:prstGeom>
          <a:noFill/>
          <a:ln/>
        </p:spPr>
        <p:txBody>
          <a:bodyPr wrap="square" lIns="0" tIns="0" rIns="0" bIns="0" rtlCol="0" anchor="ctr"/>
          <a:lstStyle/>
          <a:p>
            <a:pPr indent="0" marL="0">
              <a:buNone/>
            </a:pPr>
            <a:r>
              <a:rPr lang="en-US" sz="1200" dirty="0">
                <a:solidFill>
                  <a:srgbClr val="13202F"/>
                </a:solidFill>
                <a:latin typeface="Calibri" pitchFamily="34" charset="0"/>
                <a:ea typeface="Calibri" pitchFamily="34" charset="-122"/>
                <a:cs typeface="Calibri" pitchFamily="34" charset="-120"/>
              </a:rPr>
              <a:t>NRSC · ISRO · MoHUA</a:t>
            </a:r>
            <a:endParaRPr lang="en-US" sz="1200" dirty="0"/>
          </a:p>
        </p:txBody>
      </p:sp>
      <p:sp>
        <p:nvSpPr>
          <p:cNvPr id="32" name="Text 29"/>
          <p:cNvSpPr txBox="1"/>
          <p:nvPr/>
        </p:nvSpPr>
        <p:spPr>
          <a:xfrm>
            <a:off x="7790688" y="4023360"/>
            <a:ext cx="2651760" cy="365760"/>
          </a:xfrm>
          <a:prstGeom prst="rect">
            <a:avLst/>
          </a:prstGeom>
          <a:noFill/>
          <a:ln/>
        </p:spPr>
        <p:txBody>
          <a:bodyPr wrap="square" lIns="0" tIns="0" rIns="0" bIns="0" rtlCol="0" anchor="ctr"/>
          <a:lstStyle/>
          <a:p>
            <a:pPr indent="0" marL="0">
              <a:buNone/>
            </a:pPr>
            <a:r>
              <a:rPr lang="en-US" sz="1200" dirty="0">
                <a:solidFill>
                  <a:srgbClr val="0F6E5F"/>
                </a:solidFill>
                <a:latin typeface="Calibri" pitchFamily="34" charset="0"/>
                <a:ea typeface="Calibri" pitchFamily="34" charset="-122"/>
                <a:cs typeface="Calibri" pitchFamily="34" charset="-120"/>
              </a:rPr>
              <a:t>2,163,113 footprints</a:t>
            </a:r>
            <a:endParaRPr lang="en-US" sz="1200" dirty="0"/>
          </a:p>
        </p:txBody>
      </p:sp>
      <p:sp>
        <p:nvSpPr>
          <p:cNvPr id="33" name="Text 30"/>
          <p:cNvSpPr txBox="1"/>
          <p:nvPr/>
        </p:nvSpPr>
        <p:spPr>
          <a:xfrm>
            <a:off x="10533888" y="4023360"/>
            <a:ext cx="1097280" cy="365760"/>
          </a:xfrm>
          <a:prstGeom prst="rect">
            <a:avLst/>
          </a:prstGeom>
          <a:noFill/>
          <a:ln/>
        </p:spPr>
        <p:txBody>
          <a:bodyPr wrap="square" lIns="0" tIns="0" rIns="0" bIns="0" rtlCol="0" anchor="ctr"/>
          <a:lstStyle/>
          <a:p>
            <a:pPr indent="0" marL="0">
              <a:buNone/>
            </a:pPr>
            <a:r>
              <a:rPr lang="en-US" sz="1200" dirty="0">
                <a:solidFill>
                  <a:srgbClr val="13202F"/>
                </a:solidFill>
                <a:latin typeface="Calibri" pitchFamily="34" charset="0"/>
                <a:ea typeface="Calibri" pitchFamily="34" charset="-122"/>
                <a:cs typeface="Calibri" pitchFamily="34" charset="-120"/>
              </a:rPr>
              <a:t>CC0</a:t>
            </a:r>
            <a:endParaRPr lang="en-US" sz="1200" dirty="0"/>
          </a:p>
        </p:txBody>
      </p:sp>
      <p:sp>
        <p:nvSpPr>
          <p:cNvPr id="34" name="Shape 31"/>
          <p:cNvSpPr/>
          <p:nvPr/>
        </p:nvSpPr>
        <p:spPr>
          <a:xfrm>
            <a:off x="420624" y="4480560"/>
            <a:ext cx="11320272" cy="438912"/>
          </a:xfrm>
          <a:prstGeom prst="roundRect">
            <a:avLst>
              <a:gd name="adj" fmla="val 16667"/>
            </a:avLst>
          </a:prstGeom>
          <a:solidFill>
            <a:srgbClr val="FFFFFF"/>
          </a:solidFill>
          <a:ln w="12700">
            <a:solidFill>
              <a:srgbClr val="FFFFFF"/>
            </a:solidFill>
            <a:prstDash val="solid"/>
          </a:ln>
        </p:spPr>
      </p:sp>
      <p:sp>
        <p:nvSpPr>
          <p:cNvPr id="35" name="Text 32"/>
          <p:cNvSpPr txBox="1"/>
          <p:nvPr/>
        </p:nvSpPr>
        <p:spPr>
          <a:xfrm>
            <a:off x="566928" y="4526280"/>
            <a:ext cx="3931920" cy="365760"/>
          </a:xfrm>
          <a:prstGeom prst="rect">
            <a:avLst/>
          </a:prstGeom>
          <a:noFill/>
          <a:ln/>
        </p:spPr>
        <p:txBody>
          <a:bodyPr wrap="square" lIns="0" tIns="0" rIns="0" bIns="0" rtlCol="0" anchor="ctr"/>
          <a:lstStyle/>
          <a:p>
            <a:pPr indent="0" marL="0">
              <a:buNone/>
            </a:pPr>
            <a:r>
              <a:rPr lang="en-US" sz="1200" b="1" dirty="0">
                <a:solidFill>
                  <a:srgbClr val="13202F"/>
                </a:solidFill>
                <a:latin typeface="Calibri" pitchFamily="34" charset="0"/>
                <a:ea typeface="Calibri" pitchFamily="34" charset="-122"/>
                <a:cs typeface="Calibri" pitchFamily="34" charset="-120"/>
              </a:rPr>
              <a:t>UAV survey corpus (ORI + DSM)</a:t>
            </a:r>
            <a:endParaRPr lang="en-US" sz="1200" dirty="0"/>
          </a:p>
        </p:txBody>
      </p:sp>
      <p:sp>
        <p:nvSpPr>
          <p:cNvPr id="36" name="Text 33"/>
          <p:cNvSpPr txBox="1"/>
          <p:nvPr/>
        </p:nvSpPr>
        <p:spPr>
          <a:xfrm>
            <a:off x="4590288" y="4526280"/>
            <a:ext cx="3108960" cy="365760"/>
          </a:xfrm>
          <a:prstGeom prst="rect">
            <a:avLst/>
          </a:prstGeom>
          <a:noFill/>
          <a:ln/>
        </p:spPr>
        <p:txBody>
          <a:bodyPr wrap="square" lIns="0" tIns="0" rIns="0" bIns="0" rtlCol="0" anchor="ctr"/>
          <a:lstStyle/>
          <a:p>
            <a:pPr indent="0" marL="0">
              <a:buNone/>
            </a:pPr>
            <a:r>
              <a:rPr lang="en-US" sz="1200" dirty="0">
                <a:solidFill>
                  <a:srgbClr val="13202F"/>
                </a:solidFill>
                <a:latin typeface="Calibri" pitchFamily="34" charset="0"/>
                <a:ea typeface="Calibri" pitchFamily="34" charset="-122"/>
                <a:cs typeface="Calibri" pitchFamily="34" charset="-120"/>
              </a:rPr>
              <a:t>OpenDroneMap</a:t>
            </a:r>
            <a:endParaRPr lang="en-US" sz="1200" dirty="0"/>
          </a:p>
        </p:txBody>
      </p:sp>
      <p:sp>
        <p:nvSpPr>
          <p:cNvPr id="37" name="Text 34"/>
          <p:cNvSpPr txBox="1"/>
          <p:nvPr/>
        </p:nvSpPr>
        <p:spPr>
          <a:xfrm>
            <a:off x="7790688" y="4526280"/>
            <a:ext cx="2651760" cy="365760"/>
          </a:xfrm>
          <a:prstGeom prst="rect">
            <a:avLst/>
          </a:prstGeom>
          <a:noFill/>
          <a:ln/>
        </p:spPr>
        <p:txBody>
          <a:bodyPr wrap="square" lIns="0" tIns="0" rIns="0" bIns="0" rtlCol="0" anchor="ctr"/>
          <a:lstStyle/>
          <a:p>
            <a:pPr indent="0" marL="0">
              <a:buNone/>
            </a:pPr>
            <a:r>
              <a:rPr lang="en-US" sz="1200" dirty="0">
                <a:solidFill>
                  <a:srgbClr val="0F6E5F"/>
                </a:solidFill>
                <a:latin typeface="Calibri" pitchFamily="34" charset="0"/>
                <a:ea typeface="Calibri" pitchFamily="34" charset="-122"/>
                <a:cs typeface="Calibri" pitchFamily="34" charset="-120"/>
              </a:rPr>
              <a:t>3 flights × 8 engines</a:t>
            </a:r>
            <a:endParaRPr lang="en-US" sz="1200" dirty="0"/>
          </a:p>
        </p:txBody>
      </p:sp>
      <p:sp>
        <p:nvSpPr>
          <p:cNvPr id="38" name="Text 35"/>
          <p:cNvSpPr txBox="1"/>
          <p:nvPr/>
        </p:nvSpPr>
        <p:spPr>
          <a:xfrm>
            <a:off x="10533888" y="4526280"/>
            <a:ext cx="1097280" cy="365760"/>
          </a:xfrm>
          <a:prstGeom prst="rect">
            <a:avLst/>
          </a:prstGeom>
          <a:noFill/>
          <a:ln/>
        </p:spPr>
        <p:txBody>
          <a:bodyPr wrap="square" lIns="0" tIns="0" rIns="0" bIns="0" rtlCol="0" anchor="ctr"/>
          <a:lstStyle/>
          <a:p>
            <a:pPr indent="0" marL="0">
              <a:buNone/>
            </a:pPr>
            <a:r>
              <a:rPr lang="en-US" sz="1200" dirty="0">
                <a:solidFill>
                  <a:srgbClr val="13202F"/>
                </a:solidFill>
                <a:latin typeface="Calibri" pitchFamily="34" charset="0"/>
                <a:ea typeface="Calibri" pitchFamily="34" charset="-122"/>
                <a:cs typeface="Calibri" pitchFamily="34" charset="-120"/>
              </a:rPr>
              <a:t>CC-BY</a:t>
            </a:r>
            <a:endParaRPr lang="en-US" sz="1200" dirty="0"/>
          </a:p>
        </p:txBody>
      </p:sp>
      <p:sp>
        <p:nvSpPr>
          <p:cNvPr id="39" name="Shape 36"/>
          <p:cNvSpPr/>
          <p:nvPr/>
        </p:nvSpPr>
        <p:spPr>
          <a:xfrm>
            <a:off x="420624" y="5084064"/>
            <a:ext cx="11320272" cy="1426464"/>
          </a:xfrm>
          <a:prstGeom prst="roundRect">
            <a:avLst>
              <a:gd name="adj" fmla="val 5128"/>
            </a:avLst>
          </a:prstGeom>
          <a:solidFill>
            <a:srgbClr val="EEF2F5"/>
          </a:solidFill>
          <a:ln w="12700">
            <a:solidFill>
              <a:srgbClr val="EEF2F5"/>
            </a:solidFill>
            <a:prstDash val="solid"/>
          </a:ln>
        </p:spPr>
      </p:sp>
      <p:sp>
        <p:nvSpPr>
          <p:cNvPr id="40" name="Text 37"/>
          <p:cNvSpPr txBox="1"/>
          <p:nvPr/>
        </p:nvSpPr>
        <p:spPr>
          <a:xfrm>
            <a:off x="658368" y="5266944"/>
            <a:ext cx="2560320" cy="640080"/>
          </a:xfrm>
          <a:prstGeom prst="rect">
            <a:avLst/>
          </a:prstGeom>
          <a:noFill/>
          <a:ln/>
        </p:spPr>
        <p:txBody>
          <a:bodyPr wrap="square" lIns="0" tIns="0" rIns="0" bIns="0" rtlCol="0" anchor="t"/>
          <a:lstStyle/>
          <a:p>
            <a:pPr indent="0" marL="0">
              <a:buNone/>
            </a:pPr>
            <a:r>
              <a:rPr lang="en-US" sz="3400" b="1" dirty="0">
                <a:solidFill>
                  <a:srgbClr val="0F6E5F"/>
                </a:solidFill>
                <a:latin typeface="Cambria" pitchFamily="34" charset="0"/>
                <a:ea typeface="Cambria" pitchFamily="34" charset="-122"/>
                <a:cs typeface="Cambria" pitchFamily="34" charset="-120"/>
              </a:rPr>
              <a:t>10.7 M</a:t>
            </a:r>
            <a:endParaRPr lang="en-US" sz="3400" dirty="0"/>
          </a:p>
        </p:txBody>
      </p:sp>
      <p:sp>
        <p:nvSpPr>
          <p:cNvPr id="41" name="Text 38"/>
          <p:cNvSpPr txBox="1"/>
          <p:nvPr/>
        </p:nvSpPr>
        <p:spPr>
          <a:xfrm>
            <a:off x="658368" y="5907024"/>
            <a:ext cx="2560320" cy="713232"/>
          </a:xfrm>
          <a:prstGeom prst="rect">
            <a:avLst/>
          </a:prstGeom>
          <a:noFill/>
          <a:ln/>
        </p:spPr>
        <p:txBody>
          <a:bodyPr wrap="square" lIns="0" tIns="0" rIns="0" bIns="0" rtlCol="0" anchor="t"/>
          <a:lstStyle/>
          <a:p>
            <a:pPr indent="0" marL="0">
              <a:lnSpc>
                <a:spcPts val="1500"/>
              </a:lnSpc>
              <a:buNone/>
            </a:pPr>
            <a:r>
              <a:rPr lang="en-US" sz="1100" dirty="0">
                <a:solidFill>
                  <a:srgbClr val="5C6B7A"/>
                </a:solidFill>
                <a:latin typeface="Calibri" pitchFamily="34" charset="0"/>
                <a:ea typeface="Calibri" pitchFamily="34" charset="-122"/>
                <a:cs typeface="Calibri" pitchFamily="34" charset="-120"/>
              </a:rPr>
              <a:t>features scanned across the national and state corpus</a:t>
            </a:r>
            <a:endParaRPr lang="en-US" sz="1100" dirty="0"/>
          </a:p>
        </p:txBody>
      </p:sp>
      <p:sp>
        <p:nvSpPr>
          <p:cNvPr id="42" name="Text 39"/>
          <p:cNvSpPr txBox="1"/>
          <p:nvPr/>
        </p:nvSpPr>
        <p:spPr>
          <a:xfrm>
            <a:off x="3401568" y="5266944"/>
            <a:ext cx="2560320" cy="640080"/>
          </a:xfrm>
          <a:prstGeom prst="rect">
            <a:avLst/>
          </a:prstGeom>
          <a:noFill/>
          <a:ln/>
        </p:spPr>
        <p:txBody>
          <a:bodyPr wrap="square" lIns="0" tIns="0" rIns="0" bIns="0" rtlCol="0" anchor="t"/>
          <a:lstStyle/>
          <a:p>
            <a:pPr indent="0" marL="0">
              <a:buNone/>
            </a:pPr>
            <a:r>
              <a:rPr lang="en-US" sz="3400" b="1" dirty="0">
                <a:solidFill>
                  <a:srgbClr val="D9743B"/>
                </a:solidFill>
                <a:latin typeface="Cambria" pitchFamily="34" charset="0"/>
                <a:ea typeface="Cambria" pitchFamily="34" charset="-122"/>
                <a:cs typeface="Cambria" pitchFamily="34" charset="-120"/>
              </a:rPr>
              <a:t>531,020</a:t>
            </a:r>
            <a:endParaRPr lang="en-US" sz="3400" dirty="0"/>
          </a:p>
        </p:txBody>
      </p:sp>
      <p:sp>
        <p:nvSpPr>
          <p:cNvPr id="43" name="Text 40"/>
          <p:cNvSpPr txBox="1"/>
          <p:nvPr/>
        </p:nvSpPr>
        <p:spPr>
          <a:xfrm>
            <a:off x="3401568" y="5907024"/>
            <a:ext cx="2560320" cy="713232"/>
          </a:xfrm>
          <a:prstGeom prst="rect">
            <a:avLst/>
          </a:prstGeom>
          <a:noFill/>
          <a:ln/>
        </p:spPr>
        <p:txBody>
          <a:bodyPr wrap="square" lIns="0" tIns="0" rIns="0" bIns="0" rtlCol="0" anchor="t"/>
          <a:lstStyle/>
          <a:p>
            <a:pPr indent="0" marL="0">
              <a:lnSpc>
                <a:spcPts val="1500"/>
              </a:lnSpc>
              <a:buNone/>
            </a:pPr>
            <a:r>
              <a:rPr lang="en-US" sz="1100" dirty="0">
                <a:solidFill>
                  <a:srgbClr val="5C6B7A"/>
                </a:solidFill>
                <a:latin typeface="Calibri" pitchFamily="34" charset="0"/>
                <a:ea typeface="Calibri" pitchFamily="34" charset="-122"/>
                <a:cs typeface="Calibri" pitchFamily="34" charset="-120"/>
              </a:rPr>
              <a:t>real features clipped to the Chennai AOI</a:t>
            </a:r>
            <a:endParaRPr lang="en-US" sz="1100" dirty="0"/>
          </a:p>
        </p:txBody>
      </p:sp>
      <p:sp>
        <p:nvSpPr>
          <p:cNvPr id="44" name="Text 41"/>
          <p:cNvSpPr txBox="1"/>
          <p:nvPr/>
        </p:nvSpPr>
        <p:spPr>
          <a:xfrm>
            <a:off x="6144768" y="5266944"/>
            <a:ext cx="2560320" cy="640080"/>
          </a:xfrm>
          <a:prstGeom prst="rect">
            <a:avLst/>
          </a:prstGeom>
          <a:noFill/>
          <a:ln/>
        </p:spPr>
        <p:txBody>
          <a:bodyPr wrap="square" lIns="0" tIns="0" rIns="0" bIns="0" rtlCol="0" anchor="t"/>
          <a:lstStyle/>
          <a:p>
            <a:pPr indent="0" marL="0">
              <a:buNone/>
            </a:pPr>
            <a:r>
              <a:rPr lang="en-US" sz="3400" b="1" dirty="0">
                <a:solidFill>
                  <a:srgbClr val="0F6E5F"/>
                </a:solidFill>
                <a:latin typeface="Cambria" pitchFamily="34" charset="0"/>
                <a:ea typeface="Cambria" pitchFamily="34" charset="-122"/>
                <a:cs typeface="Cambria" pitchFamily="34" charset="-120"/>
              </a:rPr>
              <a:t>76.7 km²</a:t>
            </a:r>
            <a:endParaRPr lang="en-US" sz="3400" dirty="0"/>
          </a:p>
        </p:txBody>
      </p:sp>
      <p:sp>
        <p:nvSpPr>
          <p:cNvPr id="45" name="Text 42"/>
          <p:cNvSpPr txBox="1"/>
          <p:nvPr/>
        </p:nvSpPr>
        <p:spPr>
          <a:xfrm>
            <a:off x="6144768" y="5907024"/>
            <a:ext cx="2560320" cy="713232"/>
          </a:xfrm>
          <a:prstGeom prst="rect">
            <a:avLst/>
          </a:prstGeom>
          <a:noFill/>
          <a:ln/>
        </p:spPr>
        <p:txBody>
          <a:bodyPr wrap="square" lIns="0" tIns="0" rIns="0" bIns="0" rtlCol="0" anchor="t"/>
          <a:lstStyle/>
          <a:p>
            <a:pPr indent="0" marL="0">
              <a:lnSpc>
                <a:spcPts val="1500"/>
              </a:lnSpc>
              <a:buNone/>
            </a:pPr>
            <a:r>
              <a:rPr lang="en-US" sz="1100" dirty="0">
                <a:solidFill>
                  <a:srgbClr val="5C6B7A"/>
                </a:solidFill>
                <a:latin typeface="Calibri" pitchFamily="34" charset="0"/>
                <a:ea typeface="Calibri" pitchFamily="34" charset="-122"/>
                <a:cs typeface="Calibri" pitchFamily="34" charset="-120"/>
              </a:rPr>
              <a:t>of central Chennai harmonised end to end</a:t>
            </a:r>
            <a:endParaRPr lang="en-US" sz="1100" dirty="0"/>
          </a:p>
        </p:txBody>
      </p:sp>
      <p:sp>
        <p:nvSpPr>
          <p:cNvPr id="46" name="Text 43"/>
          <p:cNvSpPr txBox="1"/>
          <p:nvPr/>
        </p:nvSpPr>
        <p:spPr>
          <a:xfrm>
            <a:off x="8887968" y="5266944"/>
            <a:ext cx="2468880" cy="640080"/>
          </a:xfrm>
          <a:prstGeom prst="rect">
            <a:avLst/>
          </a:prstGeom>
          <a:noFill/>
          <a:ln/>
        </p:spPr>
        <p:txBody>
          <a:bodyPr wrap="square" lIns="0" tIns="0" rIns="0" bIns="0" rtlCol="0" anchor="t"/>
          <a:lstStyle/>
          <a:p>
            <a:pPr indent="0" marL="0">
              <a:buNone/>
            </a:pPr>
            <a:r>
              <a:rPr lang="en-US" sz="3400" b="1" dirty="0">
                <a:solidFill>
                  <a:srgbClr val="13202F"/>
                </a:solidFill>
                <a:latin typeface="Cambria" pitchFamily="34" charset="0"/>
                <a:ea typeface="Cambria" pitchFamily="34" charset="-122"/>
                <a:cs typeface="Cambria" pitchFamily="34" charset="-120"/>
              </a:rPr>
              <a:t>0</a:t>
            </a:r>
            <a:endParaRPr lang="en-US" sz="3400" dirty="0"/>
          </a:p>
        </p:txBody>
      </p:sp>
      <p:sp>
        <p:nvSpPr>
          <p:cNvPr id="47" name="Text 44"/>
          <p:cNvSpPr txBox="1"/>
          <p:nvPr/>
        </p:nvSpPr>
        <p:spPr>
          <a:xfrm>
            <a:off x="8887968" y="5907024"/>
            <a:ext cx="2468880" cy="713232"/>
          </a:xfrm>
          <a:prstGeom prst="rect">
            <a:avLst/>
          </a:prstGeom>
          <a:noFill/>
          <a:ln/>
        </p:spPr>
        <p:txBody>
          <a:bodyPr wrap="square" lIns="0" tIns="0" rIns="0" bIns="0" rtlCol="0" anchor="t"/>
          <a:lstStyle/>
          <a:p>
            <a:pPr indent="0" marL="0">
              <a:lnSpc>
                <a:spcPts val="1500"/>
              </a:lnSpc>
              <a:buNone/>
            </a:pPr>
            <a:r>
              <a:rPr lang="en-US" sz="1100" dirty="0">
                <a:solidFill>
                  <a:srgbClr val="5C6B7A"/>
                </a:solidFill>
                <a:latin typeface="Calibri" pitchFamily="34" charset="0"/>
                <a:ea typeface="Calibri" pitchFamily="34" charset="-122"/>
                <a:cs typeface="Calibri" pitchFamily="34" charset="-120"/>
              </a:rPr>
              <a:t>synthetic features, anywhere</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10896"/>
            <a:ext cx="10058400" cy="237744"/>
          </a:xfrm>
          <a:prstGeom prst="rect">
            <a:avLst/>
          </a:prstGeom>
          <a:noFill/>
          <a:ln/>
        </p:spPr>
        <p:txBody>
          <a:bodyPr wrap="square" lIns="0" tIns="0" rIns="0" bIns="0" rtlCol="0" anchor="t"/>
          <a:lstStyle/>
          <a:p>
            <a:pPr indent="0" marL="0">
              <a:buNone/>
            </a:pPr>
            <a:r>
              <a:rPr lang="en-US" sz="1100" b="1" spc="200" kern="0" dirty="0">
                <a:solidFill>
                  <a:srgbClr val="D9743B"/>
                </a:solidFill>
                <a:latin typeface="Calibri" pitchFamily="34" charset="0"/>
                <a:ea typeface="Calibri" pitchFamily="34" charset="-122"/>
                <a:cs typeface="Calibri" pitchFamily="34" charset="-120"/>
              </a:rPr>
              <a:t>AI / ML SPATIAL MATCHING</a:t>
            </a:r>
            <a:endParaRPr lang="en-US" sz="1100" dirty="0"/>
          </a:p>
        </p:txBody>
      </p:sp>
      <p:sp>
        <p:nvSpPr>
          <p:cNvPr id="3" name="Text 1"/>
          <p:cNvSpPr txBox="1"/>
          <p:nvPr/>
        </p:nvSpPr>
        <p:spPr>
          <a:xfrm>
            <a:off x="566928" y="621792"/>
            <a:ext cx="11064240" cy="896112"/>
          </a:xfrm>
          <a:prstGeom prst="rect">
            <a:avLst/>
          </a:prstGeom>
          <a:noFill/>
          <a:ln/>
        </p:spPr>
        <p:txBody>
          <a:bodyPr wrap="square" lIns="0" tIns="0" rIns="0" bIns="0" rtlCol="0" anchor="t"/>
          <a:lstStyle/>
          <a:p>
            <a:pPr indent="0" marL="0">
              <a:buNone/>
            </a:pPr>
            <a:r>
              <a:rPr lang="en-US" sz="3000" b="1" dirty="0">
                <a:solidFill>
                  <a:srgbClr val="13202F"/>
                </a:solidFill>
                <a:latin typeface="Cambria" pitchFamily="34" charset="0"/>
                <a:ea typeface="Cambria" pitchFamily="34" charset="-122"/>
                <a:cs typeface="Cambria" pitchFamily="34" charset="-120"/>
              </a:rPr>
              <a:t>Learning to match, with no labelled truth set in existence</a:t>
            </a:r>
            <a:endParaRPr lang="en-US" sz="3000" dirty="0"/>
          </a:p>
        </p:txBody>
      </p:sp>
      <p:sp>
        <p:nvSpPr>
          <p:cNvPr id="5" name="Shape 2"/>
          <p:cNvSpPr/>
          <p:nvPr/>
        </p:nvSpPr>
        <p:spPr>
          <a:xfrm>
            <a:off x="566928" y="1517904"/>
            <a:ext cx="3493008" cy="1170432"/>
          </a:xfrm>
          <a:prstGeom prst="roundRect">
            <a:avLst>
              <a:gd name="adj" fmla="val 6250"/>
            </a:avLst>
          </a:prstGeom>
          <a:solidFill>
            <a:srgbClr val="EEF2F5"/>
          </a:solidFill>
          <a:ln w="12700">
            <a:solidFill>
              <a:srgbClr val="EEF2F5"/>
            </a:solidFill>
            <a:prstDash val="solid"/>
          </a:ln>
        </p:spPr>
      </p:sp>
      <p:sp>
        <p:nvSpPr>
          <p:cNvPr id="6" name="Shape 3"/>
          <p:cNvSpPr/>
          <p:nvPr/>
        </p:nvSpPr>
        <p:spPr>
          <a:xfrm>
            <a:off x="786384" y="1719072"/>
            <a:ext cx="402336" cy="402336"/>
          </a:xfrm>
          <a:prstGeom prst="ellipse">
            <a:avLst/>
          </a:prstGeom>
          <a:solidFill>
            <a:srgbClr val="1E3350"/>
          </a:solidFill>
          <a:ln w="12700">
            <a:solidFill>
              <a:srgbClr val="1E3350"/>
            </a:solidFill>
            <a:prstDash val="solid"/>
          </a:ln>
        </p:spPr>
      </p:sp>
      <p:sp>
        <p:nvSpPr>
          <p:cNvPr id="7" name="Text 4"/>
          <p:cNvSpPr txBox="1"/>
          <p:nvPr/>
        </p:nvSpPr>
        <p:spPr>
          <a:xfrm>
            <a:off x="786384" y="171907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5"/>
          <p:cNvSpPr txBox="1"/>
          <p:nvPr/>
        </p:nvSpPr>
        <p:spPr>
          <a:xfrm>
            <a:off x="1280160" y="1700784"/>
            <a:ext cx="2560320" cy="292608"/>
          </a:xfrm>
          <a:prstGeom prst="rect">
            <a:avLst/>
          </a:prstGeom>
          <a:noFill/>
          <a:ln/>
        </p:spPr>
        <p:txBody>
          <a:bodyPr wrap="square" lIns="0" tIns="0" rIns="0" bIns="0" rtlCol="0" anchor="t"/>
          <a:lstStyle/>
          <a:p>
            <a:pPr indent="0" marL="0">
              <a:buNone/>
            </a:pPr>
            <a:r>
              <a:rPr lang="en-US" sz="1400" b="1" dirty="0">
                <a:solidFill>
                  <a:srgbClr val="13202F"/>
                </a:solidFill>
                <a:latin typeface="Calibri" pitchFamily="34" charset="0"/>
                <a:ea typeface="Calibri" pitchFamily="34" charset="-122"/>
                <a:cs typeface="Calibri" pitchFamily="34" charset="-120"/>
              </a:rPr>
              <a:t>Block</a:t>
            </a:r>
            <a:endParaRPr lang="en-US" sz="1400" dirty="0"/>
          </a:p>
        </p:txBody>
      </p:sp>
      <p:sp>
        <p:nvSpPr>
          <p:cNvPr id="9" name="Text 6"/>
          <p:cNvSpPr txBox="1"/>
          <p:nvPr/>
        </p:nvSpPr>
        <p:spPr>
          <a:xfrm>
            <a:off x="1280160" y="2048256"/>
            <a:ext cx="2615184" cy="658368"/>
          </a:xfrm>
          <a:prstGeom prst="rect">
            <a:avLst/>
          </a:prstGeom>
          <a:noFill/>
          <a:ln/>
        </p:spPr>
        <p:txBody>
          <a:bodyPr wrap="square" lIns="0" tIns="0" rIns="0" bIns="0" rtlCol="0" anchor="t"/>
          <a:lstStyle/>
          <a:p>
            <a:pPr indent="0" marL="0">
              <a:lnSpc>
                <a:spcPts val="1400"/>
              </a:lnSpc>
              <a:buNone/>
            </a:pPr>
            <a:r>
              <a:rPr lang="en-US" sz="1050" dirty="0">
                <a:solidFill>
                  <a:srgbClr val="5C6B7A"/>
                </a:solidFill>
                <a:latin typeface="Calibri" pitchFamily="34" charset="0"/>
                <a:ea typeface="Calibri" pitchFamily="34" charset="-122"/>
                <a:cs typeface="Calibri" pitchFamily="34" charset="-120"/>
              </a:rPr>
              <a:t>R-tree search radius derived from the two layers' declared accuracies — not a magic constant</a:t>
            </a:r>
            <a:endParaRPr lang="en-US" sz="1050" dirty="0"/>
          </a:p>
        </p:txBody>
      </p:sp>
      <p:sp>
        <p:nvSpPr>
          <p:cNvPr id="10" name="Shape 7"/>
          <p:cNvSpPr/>
          <p:nvPr/>
        </p:nvSpPr>
        <p:spPr>
          <a:xfrm>
            <a:off x="4334256" y="1517904"/>
            <a:ext cx="3493008" cy="1170432"/>
          </a:xfrm>
          <a:prstGeom prst="roundRect">
            <a:avLst>
              <a:gd name="adj" fmla="val 6250"/>
            </a:avLst>
          </a:prstGeom>
          <a:solidFill>
            <a:srgbClr val="EEF2F5"/>
          </a:solidFill>
          <a:ln w="12700">
            <a:solidFill>
              <a:srgbClr val="EEF2F5"/>
            </a:solidFill>
            <a:prstDash val="solid"/>
          </a:ln>
        </p:spPr>
      </p:sp>
      <p:sp>
        <p:nvSpPr>
          <p:cNvPr id="11" name="Shape 8"/>
          <p:cNvSpPr/>
          <p:nvPr/>
        </p:nvSpPr>
        <p:spPr>
          <a:xfrm>
            <a:off x="4553712" y="1719072"/>
            <a:ext cx="402336" cy="402336"/>
          </a:xfrm>
          <a:prstGeom prst="ellipse">
            <a:avLst/>
          </a:prstGeom>
          <a:solidFill>
            <a:srgbClr val="1E3350"/>
          </a:solidFill>
          <a:ln w="12700">
            <a:solidFill>
              <a:srgbClr val="1E3350"/>
            </a:solidFill>
            <a:prstDash val="solid"/>
          </a:ln>
        </p:spPr>
      </p:sp>
      <p:sp>
        <p:nvSpPr>
          <p:cNvPr id="12" name="Text 9"/>
          <p:cNvSpPr txBox="1"/>
          <p:nvPr/>
        </p:nvSpPr>
        <p:spPr>
          <a:xfrm>
            <a:off x="4553712" y="171907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0"/>
          <p:cNvSpPr txBox="1"/>
          <p:nvPr/>
        </p:nvSpPr>
        <p:spPr>
          <a:xfrm>
            <a:off x="5047488" y="1700784"/>
            <a:ext cx="2560320" cy="292608"/>
          </a:xfrm>
          <a:prstGeom prst="rect">
            <a:avLst/>
          </a:prstGeom>
          <a:noFill/>
          <a:ln/>
        </p:spPr>
        <p:txBody>
          <a:bodyPr wrap="square" lIns="0" tIns="0" rIns="0" bIns="0" rtlCol="0" anchor="t"/>
          <a:lstStyle/>
          <a:p>
            <a:pPr indent="0" marL="0">
              <a:buNone/>
            </a:pPr>
            <a:r>
              <a:rPr lang="en-US" sz="1400" b="1" dirty="0">
                <a:solidFill>
                  <a:srgbClr val="13202F"/>
                </a:solidFill>
                <a:latin typeface="Calibri" pitchFamily="34" charset="0"/>
                <a:ea typeface="Calibri" pitchFamily="34" charset="-122"/>
                <a:cs typeface="Calibri" pitchFamily="34" charset="-120"/>
              </a:rPr>
              <a:t>Featurise</a:t>
            </a:r>
            <a:endParaRPr lang="en-US" sz="1400" dirty="0"/>
          </a:p>
        </p:txBody>
      </p:sp>
      <p:sp>
        <p:nvSpPr>
          <p:cNvPr id="14" name="Text 11"/>
          <p:cNvSpPr txBox="1"/>
          <p:nvPr/>
        </p:nvSpPr>
        <p:spPr>
          <a:xfrm>
            <a:off x="5047488" y="2048256"/>
            <a:ext cx="2615184" cy="658368"/>
          </a:xfrm>
          <a:prstGeom prst="rect">
            <a:avLst/>
          </a:prstGeom>
          <a:noFill/>
          <a:ln/>
        </p:spPr>
        <p:txBody>
          <a:bodyPr wrap="square" lIns="0" tIns="0" rIns="0" bIns="0" rtlCol="0" anchor="t"/>
          <a:lstStyle/>
          <a:p>
            <a:pPr indent="0" marL="0">
              <a:lnSpc>
                <a:spcPts val="1400"/>
              </a:lnSpc>
              <a:buNone/>
            </a:pPr>
            <a:r>
              <a:rPr lang="en-US" sz="1050" dirty="0">
                <a:solidFill>
                  <a:srgbClr val="5C6B7A"/>
                </a:solidFill>
                <a:latin typeface="Calibri" pitchFamily="34" charset="0"/>
                <a:ea typeface="Calibri" pitchFamily="34" charset="-122"/>
                <a:cs typeface="Calibri" pitchFamily="34" charset="-120"/>
              </a:rPr>
              <a:t>22 features: overlap, position, turning function, Hu moments, semantics, neighbourhood context</a:t>
            </a:r>
            <a:endParaRPr lang="en-US" sz="1050" dirty="0"/>
          </a:p>
        </p:txBody>
      </p:sp>
      <p:sp>
        <p:nvSpPr>
          <p:cNvPr id="15" name="Shape 12"/>
          <p:cNvSpPr/>
          <p:nvPr/>
        </p:nvSpPr>
        <p:spPr>
          <a:xfrm>
            <a:off x="8101584" y="1517904"/>
            <a:ext cx="3493008" cy="1170432"/>
          </a:xfrm>
          <a:prstGeom prst="roundRect">
            <a:avLst>
              <a:gd name="adj" fmla="val 6250"/>
            </a:avLst>
          </a:prstGeom>
          <a:solidFill>
            <a:srgbClr val="EEF2F5"/>
          </a:solidFill>
          <a:ln w="12700">
            <a:solidFill>
              <a:srgbClr val="EEF2F5"/>
            </a:solidFill>
            <a:prstDash val="solid"/>
          </a:ln>
        </p:spPr>
      </p:sp>
      <p:sp>
        <p:nvSpPr>
          <p:cNvPr id="16" name="Shape 13"/>
          <p:cNvSpPr/>
          <p:nvPr/>
        </p:nvSpPr>
        <p:spPr>
          <a:xfrm>
            <a:off x="8321040" y="1719072"/>
            <a:ext cx="402336" cy="402336"/>
          </a:xfrm>
          <a:prstGeom prst="ellipse">
            <a:avLst/>
          </a:prstGeom>
          <a:solidFill>
            <a:srgbClr val="1E3350"/>
          </a:solidFill>
          <a:ln w="12700">
            <a:solidFill>
              <a:srgbClr val="1E3350"/>
            </a:solidFill>
            <a:prstDash val="solid"/>
          </a:ln>
        </p:spPr>
      </p:sp>
      <p:sp>
        <p:nvSpPr>
          <p:cNvPr id="17" name="Text 14"/>
          <p:cNvSpPr txBox="1"/>
          <p:nvPr/>
        </p:nvSpPr>
        <p:spPr>
          <a:xfrm>
            <a:off x="8321040" y="171907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5"/>
          <p:cNvSpPr txBox="1"/>
          <p:nvPr/>
        </p:nvSpPr>
        <p:spPr>
          <a:xfrm>
            <a:off x="8814816" y="1700784"/>
            <a:ext cx="2560320" cy="292608"/>
          </a:xfrm>
          <a:prstGeom prst="rect">
            <a:avLst/>
          </a:prstGeom>
          <a:noFill/>
          <a:ln/>
        </p:spPr>
        <p:txBody>
          <a:bodyPr wrap="square" lIns="0" tIns="0" rIns="0" bIns="0" rtlCol="0" anchor="t"/>
          <a:lstStyle/>
          <a:p>
            <a:pPr indent="0" marL="0">
              <a:buNone/>
            </a:pPr>
            <a:r>
              <a:rPr lang="en-US" sz="1400" b="1" dirty="0">
                <a:solidFill>
                  <a:srgbClr val="13202F"/>
                </a:solidFill>
                <a:latin typeface="Calibri" pitchFamily="34" charset="0"/>
                <a:ea typeface="Calibri" pitchFamily="34" charset="-122"/>
                <a:cs typeface="Calibri" pitchFamily="34" charset="-120"/>
              </a:rPr>
              <a:t>Register</a:t>
            </a:r>
            <a:endParaRPr lang="en-US" sz="1400" dirty="0"/>
          </a:p>
        </p:txBody>
      </p:sp>
      <p:sp>
        <p:nvSpPr>
          <p:cNvPr id="19" name="Text 16"/>
          <p:cNvSpPr txBox="1"/>
          <p:nvPr/>
        </p:nvSpPr>
        <p:spPr>
          <a:xfrm>
            <a:off x="8814816" y="2048256"/>
            <a:ext cx="2615184" cy="658368"/>
          </a:xfrm>
          <a:prstGeom prst="rect">
            <a:avLst/>
          </a:prstGeom>
          <a:noFill/>
          <a:ln/>
        </p:spPr>
        <p:txBody>
          <a:bodyPr wrap="square" lIns="0" tIns="0" rIns="0" bIns="0" rtlCol="0" anchor="t"/>
          <a:lstStyle/>
          <a:p>
            <a:pPr indent="0" marL="0">
              <a:lnSpc>
                <a:spcPts val="1400"/>
              </a:lnSpc>
              <a:buNone/>
            </a:pPr>
            <a:r>
              <a:rPr lang="en-US" sz="1050" dirty="0">
                <a:solidFill>
                  <a:srgbClr val="5C6B7A"/>
                </a:solidFill>
                <a:latin typeface="Calibri" pitchFamily="34" charset="0"/>
                <a:ea typeface="Calibri" pitchFamily="34" charset="-122"/>
                <a:cs typeface="Calibri" pitchFamily="34" charset="-120"/>
              </a:rPr>
              <a:t>Remove the systematic offset before matching, or IoU collapses for every pair at once</a:t>
            </a:r>
            <a:endParaRPr lang="en-US" sz="1050" dirty="0"/>
          </a:p>
        </p:txBody>
      </p:sp>
      <p:sp>
        <p:nvSpPr>
          <p:cNvPr id="20" name="Shape 17"/>
          <p:cNvSpPr/>
          <p:nvPr/>
        </p:nvSpPr>
        <p:spPr>
          <a:xfrm>
            <a:off x="566928" y="2980944"/>
            <a:ext cx="3493008" cy="1170432"/>
          </a:xfrm>
          <a:prstGeom prst="roundRect">
            <a:avLst>
              <a:gd name="adj" fmla="val 6250"/>
            </a:avLst>
          </a:prstGeom>
          <a:solidFill>
            <a:srgbClr val="EEF2F5"/>
          </a:solidFill>
          <a:ln w="12700">
            <a:solidFill>
              <a:srgbClr val="EEF2F5"/>
            </a:solidFill>
            <a:prstDash val="solid"/>
          </a:ln>
        </p:spPr>
      </p:sp>
      <p:sp>
        <p:nvSpPr>
          <p:cNvPr id="21" name="Shape 18"/>
          <p:cNvSpPr/>
          <p:nvPr/>
        </p:nvSpPr>
        <p:spPr>
          <a:xfrm>
            <a:off x="786384" y="3182112"/>
            <a:ext cx="402336" cy="402336"/>
          </a:xfrm>
          <a:prstGeom prst="ellipse">
            <a:avLst/>
          </a:prstGeom>
          <a:solidFill>
            <a:srgbClr val="1E3350"/>
          </a:solidFill>
          <a:ln w="12700">
            <a:solidFill>
              <a:srgbClr val="1E3350"/>
            </a:solidFill>
            <a:prstDash val="solid"/>
          </a:ln>
        </p:spPr>
      </p:sp>
      <p:sp>
        <p:nvSpPr>
          <p:cNvPr id="22" name="Text 19"/>
          <p:cNvSpPr txBox="1"/>
          <p:nvPr/>
        </p:nvSpPr>
        <p:spPr>
          <a:xfrm>
            <a:off x="786384" y="318211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3" name="Text 20"/>
          <p:cNvSpPr txBox="1"/>
          <p:nvPr/>
        </p:nvSpPr>
        <p:spPr>
          <a:xfrm>
            <a:off x="1280160" y="3163824"/>
            <a:ext cx="2560320" cy="292608"/>
          </a:xfrm>
          <a:prstGeom prst="rect">
            <a:avLst/>
          </a:prstGeom>
          <a:noFill/>
          <a:ln/>
        </p:spPr>
        <p:txBody>
          <a:bodyPr wrap="square" lIns="0" tIns="0" rIns="0" bIns="0" rtlCol="0" anchor="t"/>
          <a:lstStyle/>
          <a:p>
            <a:pPr indent="0" marL="0">
              <a:buNone/>
            </a:pPr>
            <a:r>
              <a:rPr lang="en-US" sz="1400" b="1" dirty="0">
                <a:solidFill>
                  <a:srgbClr val="13202F"/>
                </a:solidFill>
                <a:latin typeface="Calibri" pitchFamily="34" charset="0"/>
                <a:ea typeface="Calibri" pitchFamily="34" charset="-122"/>
                <a:cs typeface="Calibri" pitchFamily="34" charset="-120"/>
              </a:rPr>
              <a:t>Weak-label</a:t>
            </a:r>
            <a:endParaRPr lang="en-US" sz="1400" dirty="0"/>
          </a:p>
        </p:txBody>
      </p:sp>
      <p:sp>
        <p:nvSpPr>
          <p:cNvPr id="24" name="Text 21"/>
          <p:cNvSpPr txBox="1"/>
          <p:nvPr/>
        </p:nvSpPr>
        <p:spPr>
          <a:xfrm>
            <a:off x="1280160" y="3511296"/>
            <a:ext cx="2615184" cy="658368"/>
          </a:xfrm>
          <a:prstGeom prst="rect">
            <a:avLst/>
          </a:prstGeom>
          <a:noFill/>
          <a:ln/>
        </p:spPr>
        <p:txBody>
          <a:bodyPr wrap="square" lIns="0" tIns="0" rIns="0" bIns="0" rtlCol="0" anchor="t"/>
          <a:lstStyle/>
          <a:p>
            <a:pPr indent="0" marL="0">
              <a:lnSpc>
                <a:spcPts val="1400"/>
              </a:lnSpc>
              <a:buNone/>
            </a:pPr>
            <a:r>
              <a:rPr lang="en-US" sz="1050" dirty="0">
                <a:solidFill>
                  <a:srgbClr val="5C6B7A"/>
                </a:solidFill>
                <a:latin typeface="Calibri" pitchFamily="34" charset="0"/>
                <a:ea typeface="Calibri" pitchFamily="34" charset="-122"/>
                <a:cs typeface="Calibri" pitchFamily="34" charset="-120"/>
              </a:rPr>
              <a:t>8 labelling functions; disagreement abstains rather than guesses</a:t>
            </a:r>
            <a:endParaRPr lang="en-US" sz="1050" dirty="0"/>
          </a:p>
        </p:txBody>
      </p:sp>
      <p:sp>
        <p:nvSpPr>
          <p:cNvPr id="25" name="Shape 22"/>
          <p:cNvSpPr/>
          <p:nvPr/>
        </p:nvSpPr>
        <p:spPr>
          <a:xfrm>
            <a:off x="4334256" y="2980944"/>
            <a:ext cx="3493008" cy="1170432"/>
          </a:xfrm>
          <a:prstGeom prst="roundRect">
            <a:avLst>
              <a:gd name="adj" fmla="val 6250"/>
            </a:avLst>
          </a:prstGeom>
          <a:solidFill>
            <a:srgbClr val="EEF2F5"/>
          </a:solidFill>
          <a:ln w="12700">
            <a:solidFill>
              <a:srgbClr val="EEF2F5"/>
            </a:solidFill>
            <a:prstDash val="solid"/>
          </a:ln>
        </p:spPr>
      </p:sp>
      <p:sp>
        <p:nvSpPr>
          <p:cNvPr id="26" name="Shape 23"/>
          <p:cNvSpPr/>
          <p:nvPr/>
        </p:nvSpPr>
        <p:spPr>
          <a:xfrm>
            <a:off x="4553712" y="3182112"/>
            <a:ext cx="402336" cy="402336"/>
          </a:xfrm>
          <a:prstGeom prst="ellipse">
            <a:avLst/>
          </a:prstGeom>
          <a:solidFill>
            <a:srgbClr val="1E3350"/>
          </a:solidFill>
          <a:ln w="12700">
            <a:solidFill>
              <a:srgbClr val="1E3350"/>
            </a:solidFill>
            <a:prstDash val="solid"/>
          </a:ln>
        </p:spPr>
      </p:sp>
      <p:sp>
        <p:nvSpPr>
          <p:cNvPr id="27" name="Text 24"/>
          <p:cNvSpPr txBox="1"/>
          <p:nvPr/>
        </p:nvSpPr>
        <p:spPr>
          <a:xfrm>
            <a:off x="4553712" y="318211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8" name="Text 25"/>
          <p:cNvSpPr txBox="1"/>
          <p:nvPr/>
        </p:nvSpPr>
        <p:spPr>
          <a:xfrm>
            <a:off x="5047488" y="3163824"/>
            <a:ext cx="2560320" cy="292608"/>
          </a:xfrm>
          <a:prstGeom prst="rect">
            <a:avLst/>
          </a:prstGeom>
          <a:noFill/>
          <a:ln/>
        </p:spPr>
        <p:txBody>
          <a:bodyPr wrap="square" lIns="0" tIns="0" rIns="0" bIns="0" rtlCol="0" anchor="t"/>
          <a:lstStyle/>
          <a:p>
            <a:pPr indent="0" marL="0">
              <a:buNone/>
            </a:pPr>
            <a:r>
              <a:rPr lang="en-US" sz="1400" b="1" dirty="0">
                <a:solidFill>
                  <a:srgbClr val="13202F"/>
                </a:solidFill>
                <a:latin typeface="Calibri" pitchFamily="34" charset="0"/>
                <a:ea typeface="Calibri" pitchFamily="34" charset="-122"/>
                <a:cs typeface="Calibri" pitchFamily="34" charset="-120"/>
              </a:rPr>
              <a:t>Self-train</a:t>
            </a:r>
            <a:endParaRPr lang="en-US" sz="1400" dirty="0"/>
          </a:p>
        </p:txBody>
      </p:sp>
      <p:sp>
        <p:nvSpPr>
          <p:cNvPr id="29" name="Text 26"/>
          <p:cNvSpPr txBox="1"/>
          <p:nvPr/>
        </p:nvSpPr>
        <p:spPr>
          <a:xfrm>
            <a:off x="5047488" y="3511296"/>
            <a:ext cx="2615184" cy="658368"/>
          </a:xfrm>
          <a:prstGeom prst="rect">
            <a:avLst/>
          </a:prstGeom>
          <a:noFill/>
          <a:ln/>
        </p:spPr>
        <p:txBody>
          <a:bodyPr wrap="square" lIns="0" tIns="0" rIns="0" bIns="0" rtlCol="0" anchor="t"/>
          <a:lstStyle/>
          <a:p>
            <a:pPr indent="0" marL="0">
              <a:lnSpc>
                <a:spcPts val="1400"/>
              </a:lnSpc>
              <a:buNone/>
            </a:pPr>
            <a:r>
              <a:rPr lang="en-US" sz="1050" dirty="0">
                <a:solidFill>
                  <a:srgbClr val="5C6B7A"/>
                </a:solidFill>
                <a:latin typeface="Calibri" pitchFamily="34" charset="0"/>
                <a:ea typeface="Calibri" pitchFamily="34" charset="-122"/>
                <a:cs typeface="Calibri" pitchFamily="34" charset="-120"/>
              </a:rPr>
              <a:t>The model labels what it is confident about; refit over the fuller distribution</a:t>
            </a:r>
            <a:endParaRPr lang="en-US" sz="1050" dirty="0"/>
          </a:p>
        </p:txBody>
      </p:sp>
      <p:sp>
        <p:nvSpPr>
          <p:cNvPr id="30" name="Shape 27"/>
          <p:cNvSpPr/>
          <p:nvPr/>
        </p:nvSpPr>
        <p:spPr>
          <a:xfrm>
            <a:off x="8101584" y="2980944"/>
            <a:ext cx="3493008" cy="1170432"/>
          </a:xfrm>
          <a:prstGeom prst="roundRect">
            <a:avLst>
              <a:gd name="adj" fmla="val 6250"/>
            </a:avLst>
          </a:prstGeom>
          <a:solidFill>
            <a:srgbClr val="EEF2F5"/>
          </a:solidFill>
          <a:ln w="12700">
            <a:solidFill>
              <a:srgbClr val="EEF2F5"/>
            </a:solidFill>
            <a:prstDash val="solid"/>
          </a:ln>
        </p:spPr>
      </p:sp>
      <p:sp>
        <p:nvSpPr>
          <p:cNvPr id="31" name="Shape 28"/>
          <p:cNvSpPr/>
          <p:nvPr/>
        </p:nvSpPr>
        <p:spPr>
          <a:xfrm>
            <a:off x="8321040" y="3182112"/>
            <a:ext cx="402336" cy="402336"/>
          </a:xfrm>
          <a:prstGeom prst="ellipse">
            <a:avLst/>
          </a:prstGeom>
          <a:solidFill>
            <a:srgbClr val="1E3350"/>
          </a:solidFill>
          <a:ln w="12700">
            <a:solidFill>
              <a:srgbClr val="1E3350"/>
            </a:solidFill>
            <a:prstDash val="solid"/>
          </a:ln>
        </p:spPr>
      </p:sp>
      <p:sp>
        <p:nvSpPr>
          <p:cNvPr id="32" name="Text 29"/>
          <p:cNvSpPr txBox="1"/>
          <p:nvPr/>
        </p:nvSpPr>
        <p:spPr>
          <a:xfrm>
            <a:off x="8321040" y="318211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3" name="Text 30"/>
          <p:cNvSpPr txBox="1"/>
          <p:nvPr/>
        </p:nvSpPr>
        <p:spPr>
          <a:xfrm>
            <a:off x="8814816" y="3163824"/>
            <a:ext cx="2560320" cy="292608"/>
          </a:xfrm>
          <a:prstGeom prst="rect">
            <a:avLst/>
          </a:prstGeom>
          <a:noFill/>
          <a:ln/>
        </p:spPr>
        <p:txBody>
          <a:bodyPr wrap="square" lIns="0" tIns="0" rIns="0" bIns="0" rtlCol="0" anchor="t"/>
          <a:lstStyle/>
          <a:p>
            <a:pPr indent="0" marL="0">
              <a:buNone/>
            </a:pPr>
            <a:r>
              <a:rPr lang="en-US" sz="1400" b="1" dirty="0">
                <a:solidFill>
                  <a:srgbClr val="13202F"/>
                </a:solidFill>
                <a:latin typeface="Calibri" pitchFamily="34" charset="0"/>
                <a:ea typeface="Calibri" pitchFamily="34" charset="-122"/>
                <a:cs typeface="Calibri" pitchFamily="34" charset="-120"/>
              </a:rPr>
              <a:t>Assign</a:t>
            </a:r>
            <a:endParaRPr lang="en-US" sz="1400" dirty="0"/>
          </a:p>
        </p:txBody>
      </p:sp>
      <p:sp>
        <p:nvSpPr>
          <p:cNvPr id="34" name="Text 31"/>
          <p:cNvSpPr txBox="1"/>
          <p:nvPr/>
        </p:nvSpPr>
        <p:spPr>
          <a:xfrm>
            <a:off x="8814816" y="3511296"/>
            <a:ext cx="2615184" cy="658368"/>
          </a:xfrm>
          <a:prstGeom prst="rect">
            <a:avLst/>
          </a:prstGeom>
          <a:noFill/>
          <a:ln/>
        </p:spPr>
        <p:txBody>
          <a:bodyPr wrap="square" lIns="0" tIns="0" rIns="0" bIns="0" rtlCol="0" anchor="t"/>
          <a:lstStyle/>
          <a:p>
            <a:pPr indent="0" marL="0">
              <a:lnSpc>
                <a:spcPts val="1400"/>
              </a:lnSpc>
              <a:buNone/>
            </a:pPr>
            <a:r>
              <a:rPr lang="en-US" sz="1050" dirty="0">
                <a:solidFill>
                  <a:srgbClr val="5C6B7A"/>
                </a:solidFill>
                <a:latin typeface="Calibri" pitchFamily="34" charset="0"/>
                <a:ea typeface="Calibri" pitchFamily="34" charset="-122"/>
                <a:cs typeface="Calibri" pitchFamily="34" charset="-120"/>
              </a:rPr>
              <a:t>Exact linear-sum assignment per component, then detect 1:N and N:1 groups</a:t>
            </a:r>
            <a:endParaRPr lang="en-US" sz="1050" dirty="0"/>
          </a:p>
        </p:txBody>
      </p:sp>
      <p:sp>
        <p:nvSpPr>
          <p:cNvPr id="35" name="Shape 32"/>
          <p:cNvSpPr/>
          <p:nvPr/>
        </p:nvSpPr>
        <p:spPr>
          <a:xfrm>
            <a:off x="566928" y="4553712"/>
            <a:ext cx="11027664" cy="1572768"/>
          </a:xfrm>
          <a:prstGeom prst="roundRect">
            <a:avLst>
              <a:gd name="adj" fmla="val 4651"/>
            </a:avLst>
          </a:prstGeom>
          <a:solidFill>
            <a:srgbClr val="13202F"/>
          </a:solidFill>
          <a:ln w="12700">
            <a:solidFill>
              <a:srgbClr val="13202F"/>
            </a:solidFill>
            <a:prstDash val="solid"/>
          </a:ln>
        </p:spPr>
      </p:sp>
      <p:sp>
        <p:nvSpPr>
          <p:cNvPr id="36" name="Text 33"/>
          <p:cNvSpPr txBox="1"/>
          <p:nvPr/>
        </p:nvSpPr>
        <p:spPr>
          <a:xfrm>
            <a:off x="841248" y="4700016"/>
            <a:ext cx="2377440" cy="640080"/>
          </a:xfrm>
          <a:prstGeom prst="rect">
            <a:avLst/>
          </a:prstGeom>
          <a:noFill/>
          <a:ln/>
        </p:spPr>
        <p:txBody>
          <a:bodyPr wrap="square" lIns="0" tIns="0" rIns="0" bIns="0" rtlCol="0" anchor="t"/>
          <a:lstStyle/>
          <a:p>
            <a:pPr indent="0" marL="0">
              <a:buNone/>
            </a:pPr>
            <a:r>
              <a:rPr lang="en-US" sz="2600" b="1" dirty="0">
                <a:solidFill>
                  <a:srgbClr val="D9743B"/>
                </a:solidFill>
                <a:latin typeface="Cambria" pitchFamily="34" charset="0"/>
                <a:ea typeface="Cambria" pitchFamily="34" charset="-122"/>
                <a:cs typeface="Cambria" pitchFamily="34" charset="-120"/>
              </a:rPr>
              <a:t>99.92%</a:t>
            </a:r>
            <a:endParaRPr lang="en-US" sz="2600" dirty="0"/>
          </a:p>
        </p:txBody>
      </p:sp>
      <p:sp>
        <p:nvSpPr>
          <p:cNvPr id="37" name="Text 34"/>
          <p:cNvSpPr txBox="1"/>
          <p:nvPr/>
        </p:nvSpPr>
        <p:spPr>
          <a:xfrm>
            <a:off x="841248" y="5340096"/>
            <a:ext cx="2377440" cy="713232"/>
          </a:xfrm>
          <a:prstGeom prst="rect">
            <a:avLst/>
          </a:prstGeom>
          <a:noFill/>
          <a:ln/>
        </p:spPr>
        <p:txBody>
          <a:bodyPr wrap="square" lIns="0" tIns="0" rIns="0" bIns="0" rtlCol="0" anchor="t"/>
          <a:lstStyle/>
          <a:p>
            <a:pPr indent="0" marL="0">
              <a:lnSpc>
                <a:spcPts val="1500"/>
              </a:lnSpc>
              <a:buNone/>
            </a:pPr>
            <a:r>
              <a:rPr lang="en-US" sz="1100" dirty="0">
                <a:solidFill>
                  <a:srgbClr val="C9D6E2"/>
                </a:solidFill>
                <a:latin typeface="Calibri" pitchFamily="34" charset="0"/>
                <a:ea typeface="Calibri" pitchFamily="34" charset="-122"/>
                <a:cs typeface="Calibri" pitchFamily="34" charset="-120"/>
              </a:rPr>
              <a:t>of the 39 M possible pairs eliminated by blocking</a:t>
            </a:r>
            <a:endParaRPr lang="en-US" sz="1100" dirty="0"/>
          </a:p>
        </p:txBody>
      </p:sp>
      <p:sp>
        <p:nvSpPr>
          <p:cNvPr id="38" name="Text 35"/>
          <p:cNvSpPr txBox="1"/>
          <p:nvPr/>
        </p:nvSpPr>
        <p:spPr>
          <a:xfrm>
            <a:off x="3538728" y="4700016"/>
            <a:ext cx="2377440" cy="640080"/>
          </a:xfrm>
          <a:prstGeom prst="rect">
            <a:avLst/>
          </a:prstGeom>
          <a:noFill/>
          <a:ln/>
        </p:spPr>
        <p:txBody>
          <a:bodyPr wrap="square" lIns="0" tIns="0" rIns="0" bIns="0" rtlCol="0" anchor="t"/>
          <a:lstStyle/>
          <a:p>
            <a:pPr indent="0" marL="0">
              <a:buNone/>
            </a:pPr>
            <a:r>
              <a:rPr lang="en-US" sz="2600" b="1" dirty="0">
                <a:solidFill>
                  <a:srgbClr val="D9743B"/>
                </a:solidFill>
                <a:latin typeface="Cambria" pitchFamily="34" charset="0"/>
                <a:ea typeface="Cambria" pitchFamily="34" charset="-122"/>
                <a:cs typeface="Cambria" pitchFamily="34" charset="-120"/>
              </a:rPr>
              <a:t>1.000</a:t>
            </a:r>
            <a:endParaRPr lang="en-US" sz="2600" dirty="0"/>
          </a:p>
        </p:txBody>
      </p:sp>
      <p:sp>
        <p:nvSpPr>
          <p:cNvPr id="39" name="Text 36"/>
          <p:cNvSpPr txBox="1"/>
          <p:nvPr/>
        </p:nvSpPr>
        <p:spPr>
          <a:xfrm>
            <a:off x="3538728" y="5340096"/>
            <a:ext cx="2377440" cy="713232"/>
          </a:xfrm>
          <a:prstGeom prst="rect">
            <a:avLst/>
          </a:prstGeom>
          <a:noFill/>
          <a:ln/>
        </p:spPr>
        <p:txBody>
          <a:bodyPr wrap="square" lIns="0" tIns="0" rIns="0" bIns="0" rtlCol="0" anchor="t"/>
          <a:lstStyle/>
          <a:p>
            <a:pPr indent="0" marL="0">
              <a:lnSpc>
                <a:spcPts val="1500"/>
              </a:lnSpc>
              <a:buNone/>
            </a:pPr>
            <a:r>
              <a:rPr lang="en-US" sz="1100" dirty="0">
                <a:solidFill>
                  <a:srgbClr val="C9D6E2"/>
                </a:solidFill>
                <a:latin typeface="Calibri" pitchFamily="34" charset="0"/>
                <a:ea typeface="Calibri" pitchFamily="34" charset="-122"/>
                <a:cs typeface="Calibri" pitchFamily="34" charset="-120"/>
              </a:rPr>
              <a:t>cross-validated AUC on held-out weak labels</a:t>
            </a:r>
            <a:endParaRPr lang="en-US" sz="1100" dirty="0"/>
          </a:p>
        </p:txBody>
      </p:sp>
      <p:sp>
        <p:nvSpPr>
          <p:cNvPr id="40" name="Text 37"/>
          <p:cNvSpPr txBox="1"/>
          <p:nvPr/>
        </p:nvSpPr>
        <p:spPr>
          <a:xfrm>
            <a:off x="6236208" y="4700016"/>
            <a:ext cx="2377440" cy="640080"/>
          </a:xfrm>
          <a:prstGeom prst="rect">
            <a:avLst/>
          </a:prstGeom>
          <a:noFill/>
          <a:ln/>
        </p:spPr>
        <p:txBody>
          <a:bodyPr wrap="square" lIns="0" tIns="0" rIns="0" bIns="0" rtlCol="0" anchor="t"/>
          <a:lstStyle/>
          <a:p>
            <a:pPr indent="0" marL="0">
              <a:buNone/>
            </a:pPr>
            <a:r>
              <a:rPr lang="en-US" sz="2600" b="1" dirty="0">
                <a:solidFill>
                  <a:srgbClr val="D9743B"/>
                </a:solidFill>
                <a:latin typeface="Cambria" pitchFamily="34" charset="0"/>
                <a:ea typeface="Cambria" pitchFamily="34" charset="-122"/>
                <a:cs typeface="Cambria" pitchFamily="34" charset="-120"/>
              </a:rPr>
              <a:t>0.0003</a:t>
            </a:r>
            <a:endParaRPr lang="en-US" sz="2600" dirty="0"/>
          </a:p>
        </p:txBody>
      </p:sp>
      <p:sp>
        <p:nvSpPr>
          <p:cNvPr id="41" name="Text 38"/>
          <p:cNvSpPr txBox="1"/>
          <p:nvPr/>
        </p:nvSpPr>
        <p:spPr>
          <a:xfrm>
            <a:off x="6236208" y="5340096"/>
            <a:ext cx="2377440" cy="713232"/>
          </a:xfrm>
          <a:prstGeom prst="rect">
            <a:avLst/>
          </a:prstGeom>
          <a:noFill/>
          <a:ln/>
        </p:spPr>
        <p:txBody>
          <a:bodyPr wrap="square" lIns="0" tIns="0" rIns="0" bIns="0" rtlCol="0" anchor="t"/>
          <a:lstStyle/>
          <a:p>
            <a:pPr indent="0" marL="0">
              <a:lnSpc>
                <a:spcPts val="1500"/>
              </a:lnSpc>
              <a:buNone/>
            </a:pPr>
            <a:r>
              <a:rPr lang="en-US" sz="1100" dirty="0">
                <a:solidFill>
                  <a:srgbClr val="C9D6E2"/>
                </a:solidFill>
                <a:latin typeface="Calibri" pitchFamily="34" charset="0"/>
                <a:ea typeface="Calibri" pitchFamily="34" charset="-122"/>
                <a:cs typeface="Calibri" pitchFamily="34" charset="-120"/>
              </a:rPr>
              <a:t>expected calibration error</a:t>
            </a:r>
            <a:endParaRPr lang="en-US" sz="1100" dirty="0"/>
          </a:p>
        </p:txBody>
      </p:sp>
      <p:sp>
        <p:nvSpPr>
          <p:cNvPr id="42" name="Text 39"/>
          <p:cNvSpPr txBox="1"/>
          <p:nvPr/>
        </p:nvSpPr>
        <p:spPr>
          <a:xfrm>
            <a:off x="8933688" y="4700016"/>
            <a:ext cx="2377440" cy="640080"/>
          </a:xfrm>
          <a:prstGeom prst="rect">
            <a:avLst/>
          </a:prstGeom>
          <a:noFill/>
          <a:ln/>
        </p:spPr>
        <p:txBody>
          <a:bodyPr wrap="square" lIns="0" tIns="0" rIns="0" bIns="0" rtlCol="0" anchor="t"/>
          <a:lstStyle/>
          <a:p>
            <a:pPr indent="0" marL="0">
              <a:buNone/>
            </a:pPr>
            <a:r>
              <a:rPr lang="en-US" sz="2600" b="1" dirty="0">
                <a:solidFill>
                  <a:srgbClr val="D9743B"/>
                </a:solidFill>
                <a:latin typeface="Cambria" pitchFamily="34" charset="0"/>
                <a:ea typeface="Cambria" pitchFamily="34" charset="-122"/>
                <a:cs typeface="Cambria" pitchFamily="34" charset="-120"/>
              </a:rPr>
              <a:t>1,854</a:t>
            </a:r>
            <a:endParaRPr lang="en-US" sz="2600" dirty="0"/>
          </a:p>
        </p:txBody>
      </p:sp>
      <p:sp>
        <p:nvSpPr>
          <p:cNvPr id="43" name="Text 40"/>
          <p:cNvSpPr txBox="1"/>
          <p:nvPr/>
        </p:nvSpPr>
        <p:spPr>
          <a:xfrm>
            <a:off x="8933688" y="5340096"/>
            <a:ext cx="2377440" cy="713232"/>
          </a:xfrm>
          <a:prstGeom prst="rect">
            <a:avLst/>
          </a:prstGeom>
          <a:noFill/>
          <a:ln/>
        </p:spPr>
        <p:txBody>
          <a:bodyPr wrap="square" lIns="0" tIns="0" rIns="0" bIns="0" rtlCol="0" anchor="t"/>
          <a:lstStyle/>
          <a:p>
            <a:pPr indent="0" marL="0">
              <a:lnSpc>
                <a:spcPts val="1500"/>
              </a:lnSpc>
              <a:buNone/>
            </a:pPr>
            <a:r>
              <a:rPr lang="en-US" sz="1100" dirty="0">
                <a:solidFill>
                  <a:srgbClr val="C9D6E2"/>
                </a:solidFill>
                <a:latin typeface="Calibri" pitchFamily="34" charset="0"/>
                <a:ea typeface="Calibri" pitchFamily="34" charset="-122"/>
                <a:cs typeface="Calibri" pitchFamily="34" charset="-120"/>
              </a:rPr>
              <a:t>subdivisions and amalgamations detected</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3202F"/>
        </a:solidFill>
      </p:bgPr>
    </p:bg>
    <p:spTree>
      <p:nvGrpSpPr>
        <p:cNvPr id="1" name=""/>
        <p:cNvGrpSpPr/>
        <p:nvPr/>
      </p:nvGrpSpPr>
      <p:grpSpPr>
        <a:xfrm>
          <a:off x="0" y="0"/>
          <a:ext cx="0" cy="0"/>
          <a:chOff x="0" y="0"/>
          <a:chExt cx="0" cy="0"/>
        </a:xfrm>
      </p:grpSpPr>
      <p:sp>
        <p:nvSpPr>
          <p:cNvPr id="3" name="Text 0"/>
          <p:cNvSpPr txBox="1"/>
          <p:nvPr/>
        </p:nvSpPr>
        <p:spPr>
          <a:xfrm>
            <a:off x="566928" y="566928"/>
            <a:ext cx="5486400" cy="274320"/>
          </a:xfrm>
          <a:prstGeom prst="rect">
            <a:avLst/>
          </a:prstGeom>
          <a:noFill/>
          <a:ln/>
        </p:spPr>
        <p:txBody>
          <a:bodyPr wrap="square" lIns="0" tIns="0" rIns="0" bIns="0" rtlCol="0" anchor="t"/>
          <a:lstStyle/>
          <a:p>
            <a:pPr indent="0" marL="0">
              <a:buNone/>
            </a:pPr>
            <a:r>
              <a:rPr lang="en-US" sz="1100" b="1" spc="200" kern="0" dirty="0">
                <a:solidFill>
                  <a:srgbClr val="D9743B"/>
                </a:solidFill>
                <a:latin typeface="Calibri" pitchFamily="34" charset="0"/>
                <a:ea typeface="Calibri" pitchFamily="34" charset="-122"/>
                <a:cs typeface="Calibri" pitchFamily="34" charset="-120"/>
              </a:rPr>
              <a:t>MEASURED ON REAL DATA</a:t>
            </a:r>
            <a:endParaRPr lang="en-US" sz="1100" dirty="0"/>
          </a:p>
        </p:txBody>
      </p:sp>
      <p:sp>
        <p:nvSpPr>
          <p:cNvPr id="4" name="Text 1"/>
          <p:cNvSpPr txBox="1"/>
          <p:nvPr/>
        </p:nvSpPr>
        <p:spPr>
          <a:xfrm>
            <a:off x="566928" y="969264"/>
            <a:ext cx="5852160" cy="1463040"/>
          </a:xfrm>
          <a:prstGeom prst="rect">
            <a:avLst/>
          </a:prstGeom>
          <a:noFill/>
          <a:ln/>
        </p:spPr>
        <p:txBody>
          <a:bodyPr wrap="square" lIns="0" tIns="0" rIns="0" bIns="0" rtlCol="0" anchor="t"/>
          <a:lstStyle/>
          <a:p>
            <a:pPr indent="0" marL="0">
              <a:buNone/>
            </a:pPr>
            <a:r>
              <a:rPr lang="en-US" sz="9200" b="1" dirty="0">
                <a:solidFill>
                  <a:srgbClr val="FFFFFF"/>
                </a:solidFill>
                <a:latin typeface="Cambria" pitchFamily="34" charset="0"/>
                <a:ea typeface="Cambria" pitchFamily="34" charset="-122"/>
                <a:cs typeface="Cambria" pitchFamily="34" charset="-120"/>
              </a:rPr>
              <a:t>1.51 m</a:t>
            </a:r>
            <a:endParaRPr lang="en-US" sz="9200" dirty="0"/>
          </a:p>
        </p:txBody>
      </p:sp>
      <p:sp>
        <p:nvSpPr>
          <p:cNvPr id="5" name="Text 2"/>
          <p:cNvSpPr txBox="1"/>
          <p:nvPr/>
        </p:nvSpPr>
        <p:spPr>
          <a:xfrm>
            <a:off x="566928" y="2487168"/>
            <a:ext cx="6492240" cy="822960"/>
          </a:xfrm>
          <a:prstGeom prst="rect">
            <a:avLst/>
          </a:prstGeom>
          <a:noFill/>
          <a:ln/>
        </p:spPr>
        <p:txBody>
          <a:bodyPr wrap="square" lIns="0" tIns="0" rIns="0" bIns="0" rtlCol="0" anchor="t"/>
          <a:lstStyle/>
          <a:p>
            <a:pPr indent="0" marL="0">
              <a:lnSpc>
                <a:spcPts val="2500"/>
              </a:lnSpc>
              <a:buNone/>
            </a:pPr>
            <a:r>
              <a:rPr lang="en-US" sz="1600" dirty="0">
                <a:solidFill>
                  <a:srgbClr val="C9D6E2"/>
                </a:solidFill>
                <a:latin typeface="Calibri" pitchFamily="34" charset="0"/>
                <a:ea typeface="Calibri" pitchFamily="34" charset="-122"/>
                <a:cs typeface="Calibri" pitchFamily="34" charset="-120"/>
              </a:rPr>
              <a:t>systematic offset between the Greater Chennai Corporation survey</a:t>
            </a:r>
            <a:endParaRPr lang="en-US" sz="1600" dirty="0"/>
          </a:p>
          <a:p>
            <a:pPr indent="0" marL="0">
              <a:lnSpc>
                <a:spcPts val="2500"/>
              </a:lnSpc>
              <a:buNone/>
            </a:pPr>
            <a:r>
              <a:rPr lang="en-US" sz="1600" dirty="0">
                <a:solidFill>
                  <a:srgbClr val="C9D6E2"/>
                </a:solidFill>
                <a:latin typeface="Calibri" pitchFamily="34" charset="0"/>
                <a:ea typeface="Calibri" pitchFamily="34" charset="-122"/>
                <a:cs typeface="Calibri" pitchFamily="34" charset="-120"/>
              </a:rPr>
              <a:t>and the Google Open Buildings extraction, on a bearing of 073°</a:t>
            </a:r>
            <a:endParaRPr lang="en-US" sz="1600" dirty="0"/>
          </a:p>
        </p:txBody>
      </p:sp>
      <p:sp>
        <p:nvSpPr>
          <p:cNvPr id="6" name="Text 3"/>
          <p:cNvSpPr txBox="1"/>
          <p:nvPr/>
        </p:nvSpPr>
        <p:spPr>
          <a:xfrm>
            <a:off x="566928" y="3529584"/>
            <a:ext cx="6492240" cy="2103120"/>
          </a:xfrm>
          <a:prstGeom prst="rect">
            <a:avLst/>
          </a:prstGeom>
          <a:noFill/>
          <a:ln/>
        </p:spPr>
        <p:txBody>
          <a:bodyPr wrap="square" lIns="0" tIns="0" rIns="0" bIns="0" rtlCol="0" anchor="t"/>
          <a:lstStyle/>
          <a:p>
            <a:pPr marL="228600" indent="-228600">
              <a:spcAft>
                <a:spcPts val="1100"/>
              </a:spcAft>
              <a:buSzPct val="100000"/>
              <a:buChar char="•"/>
            </a:pPr>
            <a:r>
              <a:rPr lang="en-US" sz="1250" dirty="0">
                <a:solidFill>
                  <a:srgbClr val="C9D6E2"/>
                </a:solidFill>
                <a:latin typeface="Calibri" pitchFamily="34" charset="0"/>
                <a:ea typeface="Calibri" pitchFamily="34" charset="-122"/>
                <a:cs typeface="Calibri" pitchFamily="34" charset="-120"/>
              </a:rPr>
              <a:t>Estimated from 5,226 confident pairs by the median, not the mean — the sample is contaminated by genuine change, and the median is unmoved by up to half of it.</a:t>
            </a:r>
            <a:endParaRPr lang="en-US" sz="1250" dirty="0"/>
          </a:p>
          <a:p>
            <a:pPr marL="228600" indent="-228600">
              <a:spcAft>
                <a:spcPts val="1100"/>
              </a:spcAft>
              <a:buSzPct val="100000"/>
              <a:buChar char="•"/>
            </a:pPr>
            <a:r>
              <a:rPr lang="en-US" sz="1250" dirty="0">
                <a:solidFill>
                  <a:srgbClr val="C9D6E2"/>
                </a:solidFill>
                <a:latin typeface="Calibri" pitchFamily="34" charset="0"/>
                <a:ea typeface="Calibri" pitchFamily="34" charset="-122"/>
                <a:cs typeface="Calibri" pitchFamily="34" charset="-120"/>
              </a:rPr>
              <a:t>Removed before matching. Left in, it collapses IoU for every pair simultaneously and the matcher's most informative feature becomes noise.</a:t>
            </a:r>
            <a:endParaRPr lang="en-US" sz="1250" dirty="0"/>
          </a:p>
          <a:p>
            <a:pPr marL="228600" indent="-228600">
              <a:spcAft>
                <a:spcPts val="1100"/>
              </a:spcAft>
              <a:buSzPct val="100000"/>
              <a:buChar char="•"/>
            </a:pPr>
            <a:r>
              <a:rPr lang="en-US" sz="1250" dirty="0">
                <a:solidFill>
                  <a:srgbClr val="C9D6E2"/>
                </a:solidFill>
                <a:latin typeface="Calibri" pitchFamily="34" charset="0"/>
                <a:ea typeface="Calibri" pitchFamily="34" charset="-122"/>
                <a:cs typeface="Calibri" pitchFamily="34" charset="-120"/>
              </a:rPr>
              <a:t>Reported to the department, because it is a finding about their data — not something to quietly correct and forget.</a:t>
            </a:r>
            <a:endParaRPr lang="en-US" sz="1250" dirty="0"/>
          </a:p>
        </p:txBody>
      </p:sp>
      <p:sp>
        <p:nvSpPr>
          <p:cNvPr id="7" name="Shape 4"/>
          <p:cNvSpPr/>
          <p:nvPr/>
        </p:nvSpPr>
        <p:spPr>
          <a:xfrm>
            <a:off x="7406640" y="969264"/>
            <a:ext cx="4187952" cy="4224528"/>
          </a:xfrm>
          <a:prstGeom prst="roundRect">
            <a:avLst>
              <a:gd name="adj" fmla="val 1747"/>
            </a:avLst>
          </a:prstGeom>
          <a:solidFill>
            <a:srgbClr val="1E3350"/>
          </a:solidFill>
          <a:ln w="12700">
            <a:solidFill>
              <a:srgbClr val="1E3350"/>
            </a:solidFill>
            <a:prstDash val="solid"/>
          </a:ln>
        </p:spPr>
      </p:sp>
      <p:sp>
        <p:nvSpPr>
          <p:cNvPr id="8" name="Text 5"/>
          <p:cNvSpPr txBox="1"/>
          <p:nvPr/>
        </p:nvSpPr>
        <p:spPr>
          <a:xfrm>
            <a:off x="7680960" y="1170432"/>
            <a:ext cx="3657600" cy="365760"/>
          </a:xfrm>
          <a:prstGeom prst="rect">
            <a:avLst/>
          </a:prstGeom>
          <a:noFill/>
          <a:ln/>
        </p:spPr>
        <p:txBody>
          <a:bodyPr wrap="square" lIns="0" tIns="0" rIns="0" bIns="0" rtlCol="0" anchor="t"/>
          <a:lstStyle/>
          <a:p>
            <a:pPr indent="0" marL="0">
              <a:buNone/>
            </a:pPr>
            <a:r>
              <a:rPr lang="en-US" sz="1900" b="1" dirty="0">
                <a:solidFill>
                  <a:srgbClr val="D9743B"/>
                </a:solidFill>
                <a:latin typeface="Cambria" pitchFamily="34" charset="0"/>
                <a:ea typeface="Cambria" pitchFamily="34" charset="-122"/>
                <a:cs typeface="Cambria" pitchFamily="34" charset="-120"/>
              </a:rPr>
              <a:t>Why it matters</a:t>
            </a:r>
            <a:endParaRPr lang="en-US" sz="1900" dirty="0"/>
          </a:p>
        </p:txBody>
      </p:sp>
      <p:sp>
        <p:nvSpPr>
          <p:cNvPr id="9" name="Text 6"/>
          <p:cNvSpPr txBox="1"/>
          <p:nvPr/>
        </p:nvSpPr>
        <p:spPr>
          <a:xfrm>
            <a:off x="7680960" y="1664208"/>
            <a:ext cx="3657600" cy="2834640"/>
          </a:xfrm>
          <a:prstGeom prst="rect">
            <a:avLst/>
          </a:prstGeom>
          <a:noFill/>
          <a:ln/>
        </p:spPr>
        <p:txBody>
          <a:bodyPr wrap="square" lIns="0" tIns="0" rIns="0" bIns="0" rtlCol="0" anchor="t"/>
          <a:lstStyle/>
          <a:p>
            <a:pPr indent="0" marL="0">
              <a:lnSpc>
                <a:spcPts val="2100"/>
              </a:lnSpc>
              <a:buNone/>
            </a:pPr>
            <a:r>
              <a:rPr lang="en-US" sz="1300" dirty="0">
                <a:solidFill>
                  <a:srgbClr val="C9D6E2"/>
                </a:solidFill>
                <a:latin typeface="Calibri" pitchFamily="34" charset="0"/>
                <a:ea typeface="Calibri" pitchFamily="34" charset="-122"/>
                <a:cs typeface="Calibri" pitchFamily="34" charset="-120"/>
              </a:rPr>
              <a:t>A 1 m offset across a ward is roughly the width of a set-back.</a:t>
            </a:r>
            <a:endParaRPr lang="en-US" sz="1300" dirty="0"/>
          </a:p>
          <a:p>
            <a:pPr indent="0" marL="0">
              <a:lnSpc>
                <a:spcPts val="2100"/>
              </a:lnSpc>
              <a:buNone/>
            </a:pPr>
            <a:endParaRPr lang="en-US" sz="1300" dirty="0"/>
          </a:p>
          <a:p>
            <a:pPr indent="0" marL="0">
              <a:lnSpc>
                <a:spcPts val="2100"/>
              </a:lnSpc>
              <a:buNone/>
            </a:pPr>
            <a:r>
              <a:rPr lang="en-US" sz="1300" dirty="0">
                <a:solidFill>
                  <a:srgbClr val="C9D6E2"/>
                </a:solidFill>
                <a:latin typeface="Calibri" pitchFamily="34" charset="0"/>
                <a:ea typeface="Calibri" pitchFamily="34" charset="-122"/>
                <a:cs typeface="Calibri" pitchFamily="34" charset="-120"/>
              </a:rPr>
              <a:t>Overlay the two layers without removing it and every building appears to encroach slightly on its neighbour — thousands of false findings, each of which costs an officer's time to dismiss.</a:t>
            </a:r>
            <a:endParaRPr lang="en-US" sz="1300" dirty="0"/>
          </a:p>
          <a:p>
            <a:pPr indent="0" marL="0">
              <a:lnSpc>
                <a:spcPts val="2100"/>
              </a:lnSpc>
              <a:buNone/>
            </a:pPr>
            <a:endParaRPr lang="en-US" sz="1300" dirty="0"/>
          </a:p>
          <a:p>
            <a:pPr indent="0" marL="0">
              <a:lnSpc>
                <a:spcPts val="2100"/>
              </a:lnSpc>
              <a:buNone/>
            </a:pPr>
            <a:r>
              <a:rPr lang="en-US" sz="1300" dirty="0">
                <a:solidFill>
                  <a:srgbClr val="C9D6E2"/>
                </a:solidFill>
                <a:latin typeface="Calibri" pitchFamily="34" charset="0"/>
                <a:ea typeface="Calibri" pitchFamily="34" charset="-122"/>
                <a:cs typeface="Calibri" pitchFamily="34" charset="-120"/>
              </a:rPr>
              <a:t>Remove it first and the residual disagreement is the real disagreement.</a:t>
            </a:r>
            <a:endParaRPr lang="en-US" sz="1300" dirty="0"/>
          </a:p>
        </p:txBody>
      </p:sp>
      <p:sp>
        <p:nvSpPr>
          <p:cNvPr id="10" name="Text 7"/>
          <p:cNvSpPr txBox="1"/>
          <p:nvPr/>
        </p:nvSpPr>
        <p:spPr>
          <a:xfrm>
            <a:off x="7680960" y="4626864"/>
            <a:ext cx="3657600" cy="402336"/>
          </a:xfrm>
          <a:prstGeom prst="rect">
            <a:avLst/>
          </a:prstGeom>
          <a:noFill/>
          <a:ln/>
        </p:spPr>
        <p:txBody>
          <a:bodyPr wrap="square" lIns="0" tIns="0" rIns="0" bIns="0" rtlCol="0" anchor="ctr"/>
          <a:lstStyle/>
          <a:p>
            <a:pPr indent="0" marL="0">
              <a:buNone/>
            </a:pPr>
            <a:r>
              <a:rPr lang="en-US" sz="1150" b="1" dirty="0">
                <a:solidFill>
                  <a:srgbClr val="D9743B"/>
                </a:solidFill>
                <a:latin typeface="Calibri" pitchFamily="34" charset="0"/>
                <a:ea typeface="Calibri" pitchFamily="34" charset="-122"/>
                <a:cs typeface="Calibri" pitchFamily="34" charset="-120"/>
              </a:rPr>
              <a:t>5,226 pairs  ·  median estimator  ·  under one second</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10896"/>
            <a:ext cx="10058400" cy="237744"/>
          </a:xfrm>
          <a:prstGeom prst="rect">
            <a:avLst/>
          </a:prstGeom>
          <a:noFill/>
          <a:ln/>
        </p:spPr>
        <p:txBody>
          <a:bodyPr wrap="square" lIns="0" tIns="0" rIns="0" bIns="0" rtlCol="0" anchor="t"/>
          <a:lstStyle/>
          <a:p>
            <a:pPr indent="0" marL="0">
              <a:buNone/>
            </a:pPr>
            <a:r>
              <a:rPr lang="en-US" sz="1100" b="1" spc="200" kern="0" dirty="0">
                <a:solidFill>
                  <a:srgbClr val="D9743B"/>
                </a:solidFill>
                <a:latin typeface="Calibri" pitchFamily="34" charset="0"/>
                <a:ea typeface="Calibri" pitchFamily="34" charset="-122"/>
                <a:cs typeface="Calibri" pitchFamily="34" charset="-120"/>
              </a:rPr>
              <a:t>SPATIAL CONFLICT RESOLUTION</a:t>
            </a:r>
            <a:endParaRPr lang="en-US" sz="1100" dirty="0"/>
          </a:p>
        </p:txBody>
      </p:sp>
      <p:sp>
        <p:nvSpPr>
          <p:cNvPr id="3" name="Text 1"/>
          <p:cNvSpPr txBox="1"/>
          <p:nvPr/>
        </p:nvSpPr>
        <p:spPr>
          <a:xfrm>
            <a:off x="566928" y="621792"/>
            <a:ext cx="11064240" cy="896112"/>
          </a:xfrm>
          <a:prstGeom prst="rect">
            <a:avLst/>
          </a:prstGeom>
          <a:noFill/>
          <a:ln/>
        </p:spPr>
        <p:txBody>
          <a:bodyPr wrap="square" lIns="0" tIns="0" rIns="0" bIns="0" rtlCol="0" anchor="t"/>
          <a:lstStyle/>
          <a:p>
            <a:pPr indent="0" marL="0">
              <a:buNone/>
            </a:pPr>
            <a:r>
              <a:rPr lang="en-US" sz="3000" b="1" dirty="0">
                <a:solidFill>
                  <a:srgbClr val="13202F"/>
                </a:solidFill>
                <a:latin typeface="Cambria" pitchFamily="34" charset="0"/>
                <a:ea typeface="Cambria" pitchFamily="34" charset="-122"/>
                <a:cs typeface="Cambria" pitchFamily="34" charset="-120"/>
              </a:rPr>
              <a:t>Deciding between sources — and knowing when not to</a:t>
            </a:r>
            <a:endParaRPr lang="en-US" sz="3000" dirty="0"/>
          </a:p>
        </p:txBody>
      </p:sp>
      <p:sp>
        <p:nvSpPr>
          <p:cNvPr id="5" name="Text 2"/>
          <p:cNvSpPr txBox="1"/>
          <p:nvPr/>
        </p:nvSpPr>
        <p:spPr>
          <a:xfrm>
            <a:off x="566928" y="1810512"/>
            <a:ext cx="5120640" cy="292608"/>
          </a:xfrm>
          <a:prstGeom prst="rect">
            <a:avLst/>
          </a:prstGeom>
          <a:noFill/>
          <a:ln/>
        </p:spPr>
        <p:txBody>
          <a:bodyPr wrap="square" lIns="0" tIns="0" rIns="0" bIns="0" rtlCol="0" anchor="t"/>
          <a:lstStyle/>
          <a:p>
            <a:pPr indent="0" marL="0">
              <a:buNone/>
            </a:pPr>
            <a:r>
              <a:rPr lang="en-US" sz="1400" b="1" dirty="0">
                <a:solidFill>
                  <a:srgbClr val="13202F"/>
                </a:solidFill>
                <a:latin typeface="Calibri" pitchFamily="34" charset="0"/>
                <a:ea typeface="Calibri" pitchFamily="34" charset="-122"/>
                <a:cs typeface="Calibri" pitchFamily="34" charset="-120"/>
              </a:rPr>
              <a:t>What everyone tries, and why it fails</a:t>
            </a:r>
            <a:endParaRPr lang="en-US" sz="1400" dirty="0"/>
          </a:p>
        </p:txBody>
      </p:sp>
      <p:sp>
        <p:nvSpPr>
          <p:cNvPr id="6" name="Shape 3"/>
          <p:cNvSpPr/>
          <p:nvPr/>
        </p:nvSpPr>
        <p:spPr>
          <a:xfrm>
            <a:off x="566928" y="2231136"/>
            <a:ext cx="5212080" cy="713232"/>
          </a:xfrm>
          <a:prstGeom prst="roundRect">
            <a:avLst>
              <a:gd name="adj" fmla="val 10256"/>
            </a:avLst>
          </a:prstGeom>
          <a:solidFill>
            <a:srgbClr val="EEF2F5"/>
          </a:solidFill>
          <a:ln w="12700">
            <a:solidFill>
              <a:srgbClr val="EEF2F5"/>
            </a:solidFill>
            <a:prstDash val="solid"/>
          </a:ln>
        </p:spPr>
      </p:sp>
      <p:sp>
        <p:nvSpPr>
          <p:cNvPr id="7" name="Text 4"/>
          <p:cNvSpPr txBox="1"/>
          <p:nvPr/>
        </p:nvSpPr>
        <p:spPr>
          <a:xfrm>
            <a:off x="786384" y="2313432"/>
            <a:ext cx="4754880" cy="274320"/>
          </a:xfrm>
          <a:prstGeom prst="rect">
            <a:avLst/>
          </a:prstGeom>
          <a:noFill/>
          <a:ln/>
        </p:spPr>
        <p:txBody>
          <a:bodyPr wrap="square" lIns="0" tIns="0" rIns="0" bIns="0" rtlCol="0" anchor="t"/>
          <a:lstStyle/>
          <a:p>
            <a:pPr indent="0" marL="0">
              <a:buNone/>
            </a:pPr>
            <a:r>
              <a:rPr lang="en-US" sz="1250" b="1" dirty="0">
                <a:solidFill>
                  <a:srgbClr val="13202F"/>
                </a:solidFill>
                <a:latin typeface="Calibri" pitchFamily="34" charset="0"/>
                <a:ea typeface="Calibri" pitchFamily="34" charset="-122"/>
                <a:cs typeface="Calibri" pitchFamily="34" charset="-120"/>
              </a:rPr>
              <a:t>Trust the newest</a:t>
            </a:r>
            <a:endParaRPr lang="en-US" sz="1250" dirty="0"/>
          </a:p>
        </p:txBody>
      </p:sp>
      <p:sp>
        <p:nvSpPr>
          <p:cNvPr id="8" name="Text 5"/>
          <p:cNvSpPr txBox="1"/>
          <p:nvPr/>
        </p:nvSpPr>
        <p:spPr>
          <a:xfrm>
            <a:off x="786384" y="2596896"/>
            <a:ext cx="4791456" cy="310896"/>
          </a:xfrm>
          <a:prstGeom prst="rect">
            <a:avLst/>
          </a:prstGeom>
          <a:noFill/>
          <a:ln/>
        </p:spPr>
        <p:txBody>
          <a:bodyPr wrap="square" lIns="0" tIns="0" rIns="0" bIns="0" rtlCol="0" anchor="t"/>
          <a:lstStyle/>
          <a:p>
            <a:pPr indent="0" marL="0">
              <a:buNone/>
            </a:pPr>
            <a:r>
              <a:rPr lang="en-US" sz="1050" dirty="0">
                <a:solidFill>
                  <a:srgbClr val="5C6B7A"/>
                </a:solidFill>
                <a:latin typeface="Calibri" pitchFamily="34" charset="0"/>
                <a:ea typeface="Calibri" pitchFamily="34" charset="-122"/>
                <a:cs typeface="Calibri" pitchFamily="34" charset="-120"/>
              </a:rPr>
              <a:t>A recent bad survey beats an old good one</a:t>
            </a:r>
            <a:endParaRPr lang="en-US" sz="1050" dirty="0"/>
          </a:p>
        </p:txBody>
      </p:sp>
      <p:sp>
        <p:nvSpPr>
          <p:cNvPr id="9" name="Shape 6"/>
          <p:cNvSpPr/>
          <p:nvPr/>
        </p:nvSpPr>
        <p:spPr>
          <a:xfrm>
            <a:off x="566928" y="3072384"/>
            <a:ext cx="5212080" cy="713232"/>
          </a:xfrm>
          <a:prstGeom prst="roundRect">
            <a:avLst>
              <a:gd name="adj" fmla="val 10256"/>
            </a:avLst>
          </a:prstGeom>
          <a:solidFill>
            <a:srgbClr val="EEF2F5"/>
          </a:solidFill>
          <a:ln w="12700">
            <a:solidFill>
              <a:srgbClr val="EEF2F5"/>
            </a:solidFill>
            <a:prstDash val="solid"/>
          </a:ln>
        </p:spPr>
      </p:sp>
      <p:sp>
        <p:nvSpPr>
          <p:cNvPr id="10" name="Text 7"/>
          <p:cNvSpPr txBox="1"/>
          <p:nvPr/>
        </p:nvSpPr>
        <p:spPr>
          <a:xfrm>
            <a:off x="786384" y="3154680"/>
            <a:ext cx="4754880" cy="274320"/>
          </a:xfrm>
          <a:prstGeom prst="rect">
            <a:avLst/>
          </a:prstGeom>
          <a:noFill/>
          <a:ln/>
        </p:spPr>
        <p:txBody>
          <a:bodyPr wrap="square" lIns="0" tIns="0" rIns="0" bIns="0" rtlCol="0" anchor="t"/>
          <a:lstStyle/>
          <a:p>
            <a:pPr indent="0" marL="0">
              <a:buNone/>
            </a:pPr>
            <a:r>
              <a:rPr lang="en-US" sz="1250" b="1" dirty="0">
                <a:solidFill>
                  <a:srgbClr val="13202F"/>
                </a:solidFill>
                <a:latin typeface="Calibri" pitchFamily="34" charset="0"/>
                <a:ea typeface="Calibri" pitchFamily="34" charset="-122"/>
                <a:cs typeface="Calibri" pitchFamily="34" charset="-120"/>
              </a:rPr>
              <a:t>Trust the highest authority</a:t>
            </a:r>
            <a:endParaRPr lang="en-US" sz="1250" dirty="0"/>
          </a:p>
        </p:txBody>
      </p:sp>
      <p:sp>
        <p:nvSpPr>
          <p:cNvPr id="11" name="Text 8"/>
          <p:cNvSpPr txBox="1"/>
          <p:nvPr/>
        </p:nvSpPr>
        <p:spPr>
          <a:xfrm>
            <a:off x="786384" y="3438144"/>
            <a:ext cx="4791456" cy="310896"/>
          </a:xfrm>
          <a:prstGeom prst="rect">
            <a:avLst/>
          </a:prstGeom>
          <a:noFill/>
          <a:ln/>
        </p:spPr>
        <p:txBody>
          <a:bodyPr wrap="square" lIns="0" tIns="0" rIns="0" bIns="0" rtlCol="0" anchor="t"/>
          <a:lstStyle/>
          <a:p>
            <a:pPr indent="0" marL="0">
              <a:buNone/>
            </a:pPr>
            <a:r>
              <a:rPr lang="en-US" sz="1050" dirty="0">
                <a:solidFill>
                  <a:srgbClr val="5C6B7A"/>
                </a:solidFill>
                <a:latin typeface="Calibri" pitchFamily="34" charset="0"/>
                <a:ea typeface="Calibri" pitchFamily="34" charset="-122"/>
                <a:cs typeface="Calibri" pitchFamily="34" charset="-120"/>
              </a:rPr>
              <a:t>Revenue is authoritative on ownership, hopeless on geometry</a:t>
            </a:r>
            <a:endParaRPr lang="en-US" sz="1050" dirty="0"/>
          </a:p>
        </p:txBody>
      </p:sp>
      <p:sp>
        <p:nvSpPr>
          <p:cNvPr id="12" name="Shape 9"/>
          <p:cNvSpPr/>
          <p:nvPr/>
        </p:nvSpPr>
        <p:spPr>
          <a:xfrm>
            <a:off x="566928" y="3913632"/>
            <a:ext cx="5212080" cy="713232"/>
          </a:xfrm>
          <a:prstGeom prst="roundRect">
            <a:avLst>
              <a:gd name="adj" fmla="val 10256"/>
            </a:avLst>
          </a:prstGeom>
          <a:solidFill>
            <a:srgbClr val="EEF2F5"/>
          </a:solidFill>
          <a:ln w="12700">
            <a:solidFill>
              <a:srgbClr val="EEF2F5"/>
            </a:solidFill>
            <a:prstDash val="solid"/>
          </a:ln>
        </p:spPr>
      </p:sp>
      <p:sp>
        <p:nvSpPr>
          <p:cNvPr id="13" name="Text 10"/>
          <p:cNvSpPr txBox="1"/>
          <p:nvPr/>
        </p:nvSpPr>
        <p:spPr>
          <a:xfrm>
            <a:off x="786384" y="3995928"/>
            <a:ext cx="4754880" cy="274320"/>
          </a:xfrm>
          <a:prstGeom prst="rect">
            <a:avLst/>
          </a:prstGeom>
          <a:noFill/>
          <a:ln/>
        </p:spPr>
        <p:txBody>
          <a:bodyPr wrap="square" lIns="0" tIns="0" rIns="0" bIns="0" rtlCol="0" anchor="t"/>
          <a:lstStyle/>
          <a:p>
            <a:pPr indent="0" marL="0">
              <a:buNone/>
            </a:pPr>
            <a:r>
              <a:rPr lang="en-US" sz="1250" b="1" dirty="0">
                <a:solidFill>
                  <a:srgbClr val="13202F"/>
                </a:solidFill>
                <a:latin typeface="Calibri" pitchFamily="34" charset="0"/>
                <a:ea typeface="Calibri" pitchFamily="34" charset="-122"/>
                <a:cs typeface="Calibri" pitchFamily="34" charset="-120"/>
              </a:rPr>
              <a:t>Average the geometries</a:t>
            </a:r>
            <a:endParaRPr lang="en-US" sz="1250" dirty="0"/>
          </a:p>
        </p:txBody>
      </p:sp>
      <p:sp>
        <p:nvSpPr>
          <p:cNvPr id="14" name="Text 11"/>
          <p:cNvSpPr txBox="1"/>
          <p:nvPr/>
        </p:nvSpPr>
        <p:spPr>
          <a:xfrm>
            <a:off x="786384" y="4279392"/>
            <a:ext cx="4791456" cy="310896"/>
          </a:xfrm>
          <a:prstGeom prst="rect">
            <a:avLst/>
          </a:prstGeom>
          <a:noFill/>
          <a:ln/>
        </p:spPr>
        <p:txBody>
          <a:bodyPr wrap="square" lIns="0" tIns="0" rIns="0" bIns="0" rtlCol="0" anchor="t"/>
          <a:lstStyle/>
          <a:p>
            <a:pPr indent="0" marL="0">
              <a:buNone/>
            </a:pPr>
            <a:r>
              <a:rPr lang="en-US" sz="1050" dirty="0">
                <a:solidFill>
                  <a:srgbClr val="5C6B7A"/>
                </a:solidFill>
                <a:latin typeface="Calibri" pitchFamily="34" charset="0"/>
                <a:ea typeface="Calibri" pitchFamily="34" charset="-122"/>
                <a:cs typeface="Calibri" pitchFamily="34" charset="-120"/>
              </a:rPr>
              <a:t>Invents a boundary no surveyor observed and none can re-verify</a:t>
            </a:r>
            <a:endParaRPr lang="en-US" sz="1050" dirty="0"/>
          </a:p>
        </p:txBody>
      </p:sp>
      <p:sp>
        <p:nvSpPr>
          <p:cNvPr id="15" name="Shape 12"/>
          <p:cNvSpPr/>
          <p:nvPr/>
        </p:nvSpPr>
        <p:spPr>
          <a:xfrm>
            <a:off x="566928" y="4754880"/>
            <a:ext cx="5212080" cy="713232"/>
          </a:xfrm>
          <a:prstGeom prst="roundRect">
            <a:avLst>
              <a:gd name="adj" fmla="val 10256"/>
            </a:avLst>
          </a:prstGeom>
          <a:solidFill>
            <a:srgbClr val="EEF2F5"/>
          </a:solidFill>
          <a:ln w="12700">
            <a:solidFill>
              <a:srgbClr val="EEF2F5"/>
            </a:solidFill>
            <a:prstDash val="solid"/>
          </a:ln>
        </p:spPr>
      </p:sp>
      <p:sp>
        <p:nvSpPr>
          <p:cNvPr id="16" name="Text 13"/>
          <p:cNvSpPr txBox="1"/>
          <p:nvPr/>
        </p:nvSpPr>
        <p:spPr>
          <a:xfrm>
            <a:off x="786384" y="4837176"/>
            <a:ext cx="4754880" cy="274320"/>
          </a:xfrm>
          <a:prstGeom prst="rect">
            <a:avLst/>
          </a:prstGeom>
          <a:noFill/>
          <a:ln/>
        </p:spPr>
        <p:txBody>
          <a:bodyPr wrap="square" lIns="0" tIns="0" rIns="0" bIns="0" rtlCol="0" anchor="t"/>
          <a:lstStyle/>
          <a:p>
            <a:pPr indent="0" marL="0">
              <a:buNone/>
            </a:pPr>
            <a:r>
              <a:rPr lang="en-US" sz="1250" b="1" dirty="0">
                <a:solidFill>
                  <a:srgbClr val="13202F"/>
                </a:solidFill>
                <a:latin typeface="Calibri" pitchFamily="34" charset="0"/>
                <a:ea typeface="Calibri" pitchFamily="34" charset="-122"/>
                <a:cs typeface="Calibri" pitchFamily="34" charset="-120"/>
              </a:rPr>
              <a:t>Majority vote</a:t>
            </a:r>
            <a:endParaRPr lang="en-US" sz="1250" dirty="0"/>
          </a:p>
        </p:txBody>
      </p:sp>
      <p:sp>
        <p:nvSpPr>
          <p:cNvPr id="17" name="Text 14"/>
          <p:cNvSpPr txBox="1"/>
          <p:nvPr/>
        </p:nvSpPr>
        <p:spPr>
          <a:xfrm>
            <a:off x="786384" y="5120640"/>
            <a:ext cx="4791456" cy="310896"/>
          </a:xfrm>
          <a:prstGeom prst="rect">
            <a:avLst/>
          </a:prstGeom>
          <a:noFill/>
          <a:ln/>
        </p:spPr>
        <p:txBody>
          <a:bodyPr wrap="square" lIns="0" tIns="0" rIns="0" bIns="0" rtlCol="0" anchor="t"/>
          <a:lstStyle/>
          <a:p>
            <a:pPr indent="0" marL="0">
              <a:buNone/>
            </a:pPr>
            <a:r>
              <a:rPr lang="en-US" sz="1050" dirty="0">
                <a:solidFill>
                  <a:srgbClr val="5C6B7A"/>
                </a:solidFill>
                <a:latin typeface="Calibri" pitchFamily="34" charset="0"/>
                <a:ea typeface="Calibri" pitchFamily="34" charset="-122"/>
                <a:cs typeface="Calibri" pitchFamily="34" charset="-120"/>
              </a:rPr>
              <a:t>Three derivatives of one survey count as three witnesses</a:t>
            </a:r>
            <a:endParaRPr lang="en-US" sz="1050" dirty="0"/>
          </a:p>
        </p:txBody>
      </p:sp>
      <p:sp>
        <p:nvSpPr>
          <p:cNvPr id="18" name="Shape 15"/>
          <p:cNvSpPr/>
          <p:nvPr/>
        </p:nvSpPr>
        <p:spPr>
          <a:xfrm>
            <a:off x="6126480" y="1645920"/>
            <a:ext cx="5468112" cy="3675888"/>
          </a:xfrm>
          <a:prstGeom prst="roundRect">
            <a:avLst>
              <a:gd name="adj" fmla="val 1990"/>
            </a:avLst>
          </a:prstGeom>
          <a:solidFill>
            <a:srgbClr val="13202F"/>
          </a:solidFill>
          <a:ln w="12700">
            <a:solidFill>
              <a:srgbClr val="13202F"/>
            </a:solidFill>
            <a:prstDash val="solid"/>
          </a:ln>
        </p:spPr>
      </p:sp>
      <p:sp>
        <p:nvSpPr>
          <p:cNvPr id="19" name="Text 16"/>
          <p:cNvSpPr txBox="1"/>
          <p:nvPr/>
        </p:nvSpPr>
        <p:spPr>
          <a:xfrm>
            <a:off x="6364224" y="1810512"/>
            <a:ext cx="4846320" cy="292608"/>
          </a:xfrm>
          <a:prstGeom prst="rect">
            <a:avLst/>
          </a:prstGeom>
          <a:noFill/>
          <a:ln/>
        </p:spPr>
        <p:txBody>
          <a:bodyPr wrap="square" lIns="0" tIns="0" rIns="0" bIns="0" rtlCol="0" anchor="t"/>
          <a:lstStyle/>
          <a:p>
            <a:pPr indent="0" marL="0">
              <a:buNone/>
            </a:pPr>
            <a:r>
              <a:rPr lang="en-US" sz="1400" b="1" dirty="0">
                <a:solidFill>
                  <a:srgbClr val="D9743B"/>
                </a:solidFill>
                <a:latin typeface="Calibri" pitchFamily="34" charset="0"/>
                <a:ea typeface="Calibri" pitchFamily="34" charset="-122"/>
                <a:cs typeface="Calibri" pitchFamily="34" charset="-120"/>
              </a:rPr>
              <a:t>What SAMANVAY does</a:t>
            </a:r>
            <a:endParaRPr lang="en-US" sz="1400" dirty="0"/>
          </a:p>
        </p:txBody>
      </p:sp>
      <p:sp>
        <p:nvSpPr>
          <p:cNvPr id="20" name="Shape 17"/>
          <p:cNvSpPr/>
          <p:nvPr/>
        </p:nvSpPr>
        <p:spPr>
          <a:xfrm>
            <a:off x="6364224" y="2249424"/>
            <a:ext cx="365760" cy="365760"/>
          </a:xfrm>
          <a:prstGeom prst="ellipse">
            <a:avLst/>
          </a:prstGeom>
          <a:solidFill>
            <a:srgbClr val="0F6E5F"/>
          </a:solidFill>
          <a:ln w="12700">
            <a:solidFill>
              <a:srgbClr val="0F6E5F"/>
            </a:solidFill>
            <a:prstDash val="solid"/>
          </a:ln>
        </p:spPr>
      </p:sp>
      <p:sp>
        <p:nvSpPr>
          <p:cNvPr id="21" name="Text 18"/>
          <p:cNvSpPr txBox="1"/>
          <p:nvPr/>
        </p:nvSpPr>
        <p:spPr>
          <a:xfrm>
            <a:off x="6364224" y="224942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22" name="Text 19"/>
          <p:cNvSpPr txBox="1"/>
          <p:nvPr/>
        </p:nvSpPr>
        <p:spPr>
          <a:xfrm>
            <a:off x="6839712" y="2231136"/>
            <a:ext cx="4114800" cy="256032"/>
          </a:xfrm>
          <a:prstGeom prst="rect">
            <a:avLst/>
          </a:prstGeom>
          <a:noFill/>
          <a:ln/>
        </p:spPr>
        <p:txBody>
          <a:bodyPr wrap="square" lIns="0" tIns="0" rIns="0" bIns="0" rtlCol="0" anchor="t"/>
          <a:lstStyle/>
          <a:p>
            <a:pPr indent="0" marL="0">
              <a:buNone/>
            </a:pPr>
            <a:r>
              <a:rPr lang="en-US" sz="1250" b="1" dirty="0">
                <a:solidFill>
                  <a:srgbClr val="FFFFFF"/>
                </a:solidFill>
                <a:latin typeface="Calibri" pitchFamily="34" charset="0"/>
                <a:ea typeface="Calibri" pitchFamily="34" charset="-122"/>
                <a:cs typeface="Calibri" pitchFamily="34" charset="-120"/>
              </a:rPr>
              <a:t>Statutory rules</a:t>
            </a:r>
            <a:endParaRPr lang="en-US" sz="1250" dirty="0"/>
          </a:p>
        </p:txBody>
      </p:sp>
      <p:sp>
        <p:nvSpPr>
          <p:cNvPr id="23" name="Text 20"/>
          <p:cNvSpPr txBox="1"/>
          <p:nvPr/>
        </p:nvSpPr>
        <p:spPr>
          <a:xfrm>
            <a:off x="6839712" y="2505456"/>
            <a:ext cx="4480560" cy="512064"/>
          </a:xfrm>
          <a:prstGeom prst="rect">
            <a:avLst/>
          </a:prstGeom>
          <a:noFill/>
          <a:ln/>
        </p:spPr>
        <p:txBody>
          <a:bodyPr wrap="square" lIns="0" tIns="0" rIns="0" bIns="0" rtlCol="0" anchor="t"/>
          <a:lstStyle/>
          <a:p>
            <a:pPr indent="0" marL="0">
              <a:lnSpc>
                <a:spcPts val="1400"/>
              </a:lnSpc>
              <a:buNone/>
            </a:pPr>
            <a:r>
              <a:rPr lang="en-US" sz="1050" dirty="0">
                <a:solidFill>
                  <a:srgbClr val="C9D6E2"/>
                </a:solidFill>
                <a:latin typeface="Calibri" pitchFamily="34" charset="0"/>
                <a:ea typeface="Calibri" pitchFamily="34" charset="-122"/>
                <a:cs typeface="Calibri" pitchFamily="34" charset="-120"/>
              </a:rPr>
              <a:t>A structure on poramboke land is an encroachment finding — not evidence the classification is wrong.</a:t>
            </a:r>
            <a:endParaRPr lang="en-US" sz="1050" dirty="0"/>
          </a:p>
        </p:txBody>
      </p:sp>
      <p:sp>
        <p:nvSpPr>
          <p:cNvPr id="24" name="Shape 21"/>
          <p:cNvSpPr/>
          <p:nvPr/>
        </p:nvSpPr>
        <p:spPr>
          <a:xfrm>
            <a:off x="6364224" y="3035808"/>
            <a:ext cx="365760" cy="365760"/>
          </a:xfrm>
          <a:prstGeom prst="ellipse">
            <a:avLst/>
          </a:prstGeom>
          <a:solidFill>
            <a:srgbClr val="0F6E5F"/>
          </a:solidFill>
          <a:ln w="12700">
            <a:solidFill>
              <a:srgbClr val="0F6E5F"/>
            </a:solidFill>
            <a:prstDash val="solid"/>
          </a:ln>
        </p:spPr>
      </p:sp>
      <p:sp>
        <p:nvSpPr>
          <p:cNvPr id="25" name="Text 22"/>
          <p:cNvSpPr txBox="1"/>
          <p:nvPr/>
        </p:nvSpPr>
        <p:spPr>
          <a:xfrm>
            <a:off x="6364224" y="303580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6" name="Text 23"/>
          <p:cNvSpPr txBox="1"/>
          <p:nvPr/>
        </p:nvSpPr>
        <p:spPr>
          <a:xfrm>
            <a:off x="6839712" y="3017520"/>
            <a:ext cx="4114800" cy="256032"/>
          </a:xfrm>
          <a:prstGeom prst="rect">
            <a:avLst/>
          </a:prstGeom>
          <a:noFill/>
          <a:ln/>
        </p:spPr>
        <p:txBody>
          <a:bodyPr wrap="square" lIns="0" tIns="0" rIns="0" bIns="0" rtlCol="0" anchor="t"/>
          <a:lstStyle/>
          <a:p>
            <a:pPr indent="0" marL="0">
              <a:buNone/>
            </a:pPr>
            <a:r>
              <a:rPr lang="en-US" sz="1250" b="1" dirty="0">
                <a:solidFill>
                  <a:srgbClr val="FFFFFF"/>
                </a:solidFill>
                <a:latin typeface="Calibri" pitchFamily="34" charset="0"/>
                <a:ea typeface="Calibri" pitchFamily="34" charset="-122"/>
                <a:cs typeface="Calibri" pitchFamily="34" charset="-120"/>
              </a:rPr>
              <a:t>Domain precedence</a:t>
            </a:r>
            <a:endParaRPr lang="en-US" sz="1250" dirty="0"/>
          </a:p>
        </p:txBody>
      </p:sp>
      <p:sp>
        <p:nvSpPr>
          <p:cNvPr id="27" name="Text 24"/>
          <p:cNvSpPr txBox="1"/>
          <p:nvPr/>
        </p:nvSpPr>
        <p:spPr>
          <a:xfrm>
            <a:off x="6839712" y="3291840"/>
            <a:ext cx="4480560" cy="512064"/>
          </a:xfrm>
          <a:prstGeom prst="rect">
            <a:avLst/>
          </a:prstGeom>
          <a:noFill/>
          <a:ln/>
        </p:spPr>
        <p:txBody>
          <a:bodyPr wrap="square" lIns="0" tIns="0" rIns="0" bIns="0" rtlCol="0" anchor="t"/>
          <a:lstStyle/>
          <a:p>
            <a:pPr indent="0" marL="0">
              <a:lnSpc>
                <a:spcPts val="1400"/>
              </a:lnSpc>
              <a:buNone/>
            </a:pPr>
            <a:r>
              <a:rPr lang="en-US" sz="1050" dirty="0">
                <a:solidFill>
                  <a:srgbClr val="C9D6E2"/>
                </a:solidFill>
                <a:latin typeface="Calibri" pitchFamily="34" charset="0"/>
                <a:ea typeface="Calibri" pitchFamily="34" charset="-122"/>
                <a:cs typeface="Calibri" pitchFamily="34" charset="-120"/>
              </a:rPr>
              <a:t>Tenure from the revenue record. Position from GNSS/CORS. Ward from the corporation.</a:t>
            </a:r>
            <a:endParaRPr lang="en-US" sz="1050" dirty="0"/>
          </a:p>
        </p:txBody>
      </p:sp>
      <p:sp>
        <p:nvSpPr>
          <p:cNvPr id="28" name="Shape 25"/>
          <p:cNvSpPr/>
          <p:nvPr/>
        </p:nvSpPr>
        <p:spPr>
          <a:xfrm>
            <a:off x="6364224" y="3822192"/>
            <a:ext cx="365760" cy="365760"/>
          </a:xfrm>
          <a:prstGeom prst="ellipse">
            <a:avLst/>
          </a:prstGeom>
          <a:solidFill>
            <a:srgbClr val="0F6E5F"/>
          </a:solidFill>
          <a:ln w="12700">
            <a:solidFill>
              <a:srgbClr val="0F6E5F"/>
            </a:solidFill>
            <a:prstDash val="solid"/>
          </a:ln>
        </p:spPr>
      </p:sp>
      <p:sp>
        <p:nvSpPr>
          <p:cNvPr id="29" name="Text 26"/>
          <p:cNvSpPr txBox="1"/>
          <p:nvPr/>
        </p:nvSpPr>
        <p:spPr>
          <a:xfrm>
            <a:off x="6364224" y="382219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30" name="Text 27"/>
          <p:cNvSpPr txBox="1"/>
          <p:nvPr/>
        </p:nvSpPr>
        <p:spPr>
          <a:xfrm>
            <a:off x="6839712" y="3803904"/>
            <a:ext cx="4114800" cy="256032"/>
          </a:xfrm>
          <a:prstGeom prst="rect">
            <a:avLst/>
          </a:prstGeom>
          <a:noFill/>
          <a:ln/>
        </p:spPr>
        <p:txBody>
          <a:bodyPr wrap="square" lIns="0" tIns="0" rIns="0" bIns="0" rtlCol="0" anchor="t"/>
          <a:lstStyle/>
          <a:p>
            <a:pPr indent="0" marL="0">
              <a:buNone/>
            </a:pPr>
            <a:r>
              <a:rPr lang="en-US" sz="1250" b="1" dirty="0">
                <a:solidFill>
                  <a:srgbClr val="FFFFFF"/>
                </a:solidFill>
                <a:latin typeface="Calibri" pitchFamily="34" charset="0"/>
                <a:ea typeface="Calibri" pitchFamily="34" charset="-122"/>
                <a:cs typeface="Calibri" pitchFamily="34" charset="-120"/>
              </a:rPr>
              <a:t>Evidence fusion</a:t>
            </a:r>
            <a:endParaRPr lang="en-US" sz="1250" dirty="0"/>
          </a:p>
        </p:txBody>
      </p:sp>
      <p:sp>
        <p:nvSpPr>
          <p:cNvPr id="31" name="Text 28"/>
          <p:cNvSpPr txBox="1"/>
          <p:nvPr/>
        </p:nvSpPr>
        <p:spPr>
          <a:xfrm>
            <a:off x="6839712" y="4078224"/>
            <a:ext cx="4480560" cy="512064"/>
          </a:xfrm>
          <a:prstGeom prst="rect">
            <a:avLst/>
          </a:prstGeom>
          <a:noFill/>
          <a:ln/>
        </p:spPr>
        <p:txBody>
          <a:bodyPr wrap="square" lIns="0" tIns="0" rIns="0" bIns="0" rtlCol="0" anchor="t"/>
          <a:lstStyle/>
          <a:p>
            <a:pPr indent="0" marL="0">
              <a:lnSpc>
                <a:spcPts val="1400"/>
              </a:lnSpc>
              <a:buNone/>
            </a:pPr>
            <a:r>
              <a:rPr lang="en-US" sz="1050" dirty="0">
                <a:solidFill>
                  <a:srgbClr val="C9D6E2"/>
                </a:solidFill>
                <a:latin typeface="Calibri" pitchFamily="34" charset="0"/>
                <a:ea typeface="Calibri" pitchFamily="34" charset="-122"/>
                <a:cs typeface="Calibri" pitchFamily="34" charset="-120"/>
              </a:rPr>
              <a:t>Dempster–Shafer with independence discounting, so shared-lineage sources count once.</a:t>
            </a:r>
            <a:endParaRPr lang="en-US" sz="1050" dirty="0"/>
          </a:p>
        </p:txBody>
      </p:sp>
      <p:sp>
        <p:nvSpPr>
          <p:cNvPr id="32" name="Shape 29"/>
          <p:cNvSpPr/>
          <p:nvPr/>
        </p:nvSpPr>
        <p:spPr>
          <a:xfrm>
            <a:off x="6364224" y="4608576"/>
            <a:ext cx="365760" cy="365760"/>
          </a:xfrm>
          <a:prstGeom prst="ellipse">
            <a:avLst/>
          </a:prstGeom>
          <a:solidFill>
            <a:srgbClr val="D9743B"/>
          </a:solidFill>
          <a:ln w="12700">
            <a:solidFill>
              <a:srgbClr val="D9743B"/>
            </a:solidFill>
            <a:prstDash val="solid"/>
          </a:ln>
        </p:spPr>
      </p:sp>
      <p:sp>
        <p:nvSpPr>
          <p:cNvPr id="33" name="Text 30"/>
          <p:cNvSpPr txBox="1"/>
          <p:nvPr/>
        </p:nvSpPr>
        <p:spPr>
          <a:xfrm>
            <a:off x="6364224" y="460857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4" name="Text 31"/>
          <p:cNvSpPr txBox="1"/>
          <p:nvPr/>
        </p:nvSpPr>
        <p:spPr>
          <a:xfrm>
            <a:off x="6839712" y="4590288"/>
            <a:ext cx="4114800" cy="256032"/>
          </a:xfrm>
          <a:prstGeom prst="rect">
            <a:avLst/>
          </a:prstGeom>
          <a:noFill/>
          <a:ln/>
        </p:spPr>
        <p:txBody>
          <a:bodyPr wrap="square" lIns="0" tIns="0" rIns="0" bIns="0" rtlCol="0" anchor="t"/>
          <a:lstStyle/>
          <a:p>
            <a:pPr indent="0" marL="0">
              <a:buNone/>
            </a:pPr>
            <a:r>
              <a:rPr lang="en-US" sz="1250" b="1" dirty="0">
                <a:solidFill>
                  <a:srgbClr val="FFFFFF"/>
                </a:solidFill>
                <a:latin typeface="Calibri" pitchFamily="34" charset="0"/>
                <a:ea typeface="Calibri" pitchFamily="34" charset="-122"/>
                <a:cs typeface="Calibri" pitchFamily="34" charset="-120"/>
              </a:rPr>
              <a:t>Escalation</a:t>
            </a:r>
            <a:endParaRPr lang="en-US" sz="1250" dirty="0"/>
          </a:p>
        </p:txBody>
      </p:sp>
      <p:sp>
        <p:nvSpPr>
          <p:cNvPr id="35" name="Text 32"/>
          <p:cNvSpPr txBox="1"/>
          <p:nvPr/>
        </p:nvSpPr>
        <p:spPr>
          <a:xfrm>
            <a:off x="6839712" y="4864608"/>
            <a:ext cx="4480560" cy="512064"/>
          </a:xfrm>
          <a:prstGeom prst="rect">
            <a:avLst/>
          </a:prstGeom>
          <a:noFill/>
          <a:ln/>
        </p:spPr>
        <p:txBody>
          <a:bodyPr wrap="square" lIns="0" tIns="0" rIns="0" bIns="0" rtlCol="0" anchor="t"/>
          <a:lstStyle/>
          <a:p>
            <a:pPr indent="0" marL="0">
              <a:lnSpc>
                <a:spcPts val="1400"/>
              </a:lnSpc>
              <a:buNone/>
            </a:pPr>
            <a:r>
              <a:rPr lang="en-US" sz="1050" dirty="0">
                <a:solidFill>
                  <a:srgbClr val="C9D6E2"/>
                </a:solidFill>
                <a:latin typeface="Calibri" pitchFamily="34" charset="0"/>
                <a:ea typeface="Calibri" pitchFamily="34" charset="-122"/>
                <a:cs typeface="Calibri" pitchFamily="34" charset="-120"/>
              </a:rPr>
              <a:t>High conflict mass, low belief or thin evidence → a human, with everything needed to decide.</a:t>
            </a:r>
            <a:endParaRPr lang="en-US" sz="1050" dirty="0"/>
          </a:p>
        </p:txBody>
      </p:sp>
      <p:sp>
        <p:nvSpPr>
          <p:cNvPr id="36" name="Shape 33"/>
          <p:cNvSpPr/>
          <p:nvPr/>
        </p:nvSpPr>
        <p:spPr>
          <a:xfrm>
            <a:off x="566928" y="5760720"/>
            <a:ext cx="11027664" cy="658368"/>
          </a:xfrm>
          <a:prstGeom prst="roundRect">
            <a:avLst>
              <a:gd name="adj" fmla="val 11111"/>
            </a:avLst>
          </a:prstGeom>
          <a:solidFill>
            <a:srgbClr val="0F6E5F"/>
          </a:solidFill>
          <a:ln w="12700">
            <a:solidFill>
              <a:srgbClr val="0F6E5F"/>
            </a:solidFill>
            <a:prstDash val="solid"/>
          </a:ln>
        </p:spPr>
      </p:sp>
      <p:sp>
        <p:nvSpPr>
          <p:cNvPr id="37" name="Text 34"/>
          <p:cNvSpPr txBox="1"/>
          <p:nvPr/>
        </p:nvSpPr>
        <p:spPr>
          <a:xfrm>
            <a:off x="804672" y="5760720"/>
            <a:ext cx="10515600" cy="65836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The platform never averages geometries. Every boundary it emits is one that some survey actually observed.</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10896"/>
            <a:ext cx="10058400" cy="237744"/>
          </a:xfrm>
          <a:prstGeom prst="rect">
            <a:avLst/>
          </a:prstGeom>
          <a:noFill/>
          <a:ln/>
        </p:spPr>
        <p:txBody>
          <a:bodyPr wrap="square" lIns="0" tIns="0" rIns="0" bIns="0" rtlCol="0" anchor="t"/>
          <a:lstStyle/>
          <a:p>
            <a:pPr indent="0" marL="0">
              <a:buNone/>
            </a:pPr>
            <a:r>
              <a:rPr lang="en-US" sz="1100" b="1" spc="200" kern="0" dirty="0">
                <a:solidFill>
                  <a:srgbClr val="D9743B"/>
                </a:solidFill>
                <a:latin typeface="Calibri" pitchFamily="34" charset="0"/>
                <a:ea typeface="Calibri" pitchFamily="34" charset="-122"/>
                <a:cs typeface="Calibri" pitchFamily="34" charset="-120"/>
              </a:rPr>
              <a:t>CONFIDENCE SCORING</a:t>
            </a:r>
            <a:endParaRPr lang="en-US" sz="1100" dirty="0"/>
          </a:p>
        </p:txBody>
      </p:sp>
      <p:sp>
        <p:nvSpPr>
          <p:cNvPr id="3" name="Text 1"/>
          <p:cNvSpPr txBox="1"/>
          <p:nvPr/>
        </p:nvSpPr>
        <p:spPr>
          <a:xfrm>
            <a:off x="566928" y="621792"/>
            <a:ext cx="11064240" cy="896112"/>
          </a:xfrm>
          <a:prstGeom prst="rect">
            <a:avLst/>
          </a:prstGeom>
          <a:noFill/>
          <a:ln/>
        </p:spPr>
        <p:txBody>
          <a:bodyPr wrap="square" lIns="0" tIns="0" rIns="0" bIns="0" rtlCol="0" anchor="t"/>
          <a:lstStyle/>
          <a:p>
            <a:pPr indent="0" marL="0">
              <a:buNone/>
            </a:pPr>
            <a:r>
              <a:rPr lang="en-US" sz="3000" b="1" dirty="0">
                <a:solidFill>
                  <a:srgbClr val="13202F"/>
                </a:solidFill>
                <a:latin typeface="Cambria" pitchFamily="34" charset="0"/>
                <a:ea typeface="Cambria" pitchFamily="34" charset="-122"/>
                <a:cs typeface="Cambria" pitchFamily="34" charset="-120"/>
              </a:rPr>
              <a:t>Confidence an officer can act on</a:t>
            </a:r>
            <a:endParaRPr lang="en-US" sz="3000" dirty="0"/>
          </a:p>
        </p:txBody>
      </p:sp>
      <p:graphicFrame>
        <p:nvGraphicFramePr>
          <p:cNvPr id="5" name="Chart 0" descr=""/>
          <p:cNvGraphicFramePr/>
          <p:nvPr/>
        </p:nvGraphicFramePr>
        <p:xfrm>
          <a:off x="475488" y="1572768"/>
          <a:ext cx="6492240" cy="4114800"/>
        </p:xfrm>
        <a:graphic xmlns:a="http://schemas.openxmlformats.org/drawingml/2006/main">
          <a:graphicData uri="http://schemas.openxmlformats.org/drawingml/2006/chart">
            <c:chart xmlns:c="http://schemas.openxmlformats.org/drawingml/2006/chart" r:id="rId1"/>
          </a:graphicData>
        </a:graphic>
      </p:graphicFrame>
      <p:sp>
        <p:nvSpPr>
          <p:cNvPr id="6" name="Shape 2"/>
          <p:cNvSpPr/>
          <p:nvPr/>
        </p:nvSpPr>
        <p:spPr>
          <a:xfrm>
            <a:off x="6949440" y="1572768"/>
            <a:ext cx="4645152" cy="4114800"/>
          </a:xfrm>
          <a:prstGeom prst="roundRect">
            <a:avLst>
              <a:gd name="adj" fmla="val 1778"/>
            </a:avLst>
          </a:prstGeom>
          <a:solidFill>
            <a:srgbClr val="EEF2F5"/>
          </a:solidFill>
          <a:ln w="12700">
            <a:solidFill>
              <a:srgbClr val="EEF2F5"/>
            </a:solidFill>
            <a:prstDash val="solid"/>
          </a:ln>
        </p:spPr>
      </p:sp>
      <p:sp>
        <p:nvSpPr>
          <p:cNvPr id="7" name="Text 3"/>
          <p:cNvSpPr txBox="1"/>
          <p:nvPr/>
        </p:nvSpPr>
        <p:spPr>
          <a:xfrm>
            <a:off x="7187184" y="1755648"/>
            <a:ext cx="4114800" cy="292608"/>
          </a:xfrm>
          <a:prstGeom prst="rect">
            <a:avLst/>
          </a:prstGeom>
          <a:noFill/>
          <a:ln/>
        </p:spPr>
        <p:txBody>
          <a:bodyPr wrap="square" lIns="0" tIns="0" rIns="0" bIns="0" rtlCol="0" anchor="t"/>
          <a:lstStyle/>
          <a:p>
            <a:pPr indent="0" marL="0">
              <a:buNone/>
            </a:pPr>
            <a:r>
              <a:rPr lang="en-US" sz="1400" b="1" dirty="0">
                <a:solidFill>
                  <a:srgbClr val="13202F"/>
                </a:solidFill>
                <a:latin typeface="Calibri" pitchFamily="34" charset="0"/>
                <a:ea typeface="Calibri" pitchFamily="34" charset="-122"/>
                <a:cs typeface="Calibri" pitchFamily="34" charset="-120"/>
              </a:rPr>
              <a:t>A–E grades, not a number</a:t>
            </a:r>
            <a:endParaRPr lang="en-US" sz="1400" dirty="0"/>
          </a:p>
        </p:txBody>
      </p:sp>
      <p:sp>
        <p:nvSpPr>
          <p:cNvPr id="8" name="Shape 4"/>
          <p:cNvSpPr/>
          <p:nvPr/>
        </p:nvSpPr>
        <p:spPr>
          <a:xfrm>
            <a:off x="7223760" y="2176272"/>
            <a:ext cx="402336" cy="402336"/>
          </a:xfrm>
          <a:prstGeom prst="ellipse">
            <a:avLst/>
          </a:prstGeom>
          <a:solidFill>
            <a:srgbClr val="0F6E5F"/>
          </a:solidFill>
          <a:ln w="12700">
            <a:solidFill>
              <a:srgbClr val="0F6E5F"/>
            </a:solidFill>
            <a:prstDash val="solid"/>
          </a:ln>
        </p:spPr>
      </p:sp>
      <p:sp>
        <p:nvSpPr>
          <p:cNvPr id="9" name="Text 5"/>
          <p:cNvSpPr txBox="1"/>
          <p:nvPr/>
        </p:nvSpPr>
        <p:spPr>
          <a:xfrm>
            <a:off x="7223760" y="217627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a:t>
            </a:r>
            <a:endParaRPr lang="en-US" sz="1300" dirty="0"/>
          </a:p>
        </p:txBody>
      </p:sp>
      <p:sp>
        <p:nvSpPr>
          <p:cNvPr id="10" name="Text 6"/>
          <p:cNvSpPr txBox="1"/>
          <p:nvPr/>
        </p:nvSpPr>
        <p:spPr>
          <a:xfrm>
            <a:off x="7754112" y="2176272"/>
            <a:ext cx="3566160" cy="402336"/>
          </a:xfrm>
          <a:prstGeom prst="rect">
            <a:avLst/>
          </a:prstGeom>
          <a:noFill/>
          <a:ln/>
        </p:spPr>
        <p:txBody>
          <a:bodyPr wrap="square" lIns="0" tIns="0" rIns="0" bIns="0" rtlCol="0" anchor="ctr"/>
          <a:lstStyle/>
          <a:p>
            <a:pPr indent="0" marL="0">
              <a:buNone/>
            </a:pPr>
            <a:r>
              <a:rPr lang="en-US" sz="1250" dirty="0">
                <a:solidFill>
                  <a:srgbClr val="13202F"/>
                </a:solidFill>
                <a:latin typeface="Calibri" pitchFamily="34" charset="0"/>
                <a:ea typeface="Calibri" pitchFamily="34" charset="-122"/>
                <a:cs typeface="Calibri" pitchFamily="34" charset="-120"/>
              </a:rPr>
              <a:t>Publish without review</a:t>
            </a:r>
            <a:endParaRPr lang="en-US" sz="1250" dirty="0"/>
          </a:p>
        </p:txBody>
      </p:sp>
      <p:sp>
        <p:nvSpPr>
          <p:cNvPr id="11" name="Shape 7"/>
          <p:cNvSpPr/>
          <p:nvPr/>
        </p:nvSpPr>
        <p:spPr>
          <a:xfrm>
            <a:off x="7223760" y="2743200"/>
            <a:ext cx="402336" cy="402336"/>
          </a:xfrm>
          <a:prstGeom prst="ellipse">
            <a:avLst/>
          </a:prstGeom>
          <a:solidFill>
            <a:srgbClr val="3F8C6E"/>
          </a:solidFill>
          <a:ln w="12700">
            <a:solidFill>
              <a:srgbClr val="3F8C6E"/>
            </a:solidFill>
            <a:prstDash val="solid"/>
          </a:ln>
        </p:spPr>
      </p:sp>
      <p:sp>
        <p:nvSpPr>
          <p:cNvPr id="12" name="Text 8"/>
          <p:cNvSpPr txBox="1"/>
          <p:nvPr/>
        </p:nvSpPr>
        <p:spPr>
          <a:xfrm>
            <a:off x="7223760" y="274320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a:t>
            </a:r>
            <a:endParaRPr lang="en-US" sz="1300" dirty="0"/>
          </a:p>
        </p:txBody>
      </p:sp>
      <p:sp>
        <p:nvSpPr>
          <p:cNvPr id="13" name="Text 9"/>
          <p:cNvSpPr txBox="1"/>
          <p:nvPr/>
        </p:nvSpPr>
        <p:spPr>
          <a:xfrm>
            <a:off x="7754112" y="2743200"/>
            <a:ext cx="3566160" cy="402336"/>
          </a:xfrm>
          <a:prstGeom prst="rect">
            <a:avLst/>
          </a:prstGeom>
          <a:noFill/>
          <a:ln/>
        </p:spPr>
        <p:txBody>
          <a:bodyPr wrap="square" lIns="0" tIns="0" rIns="0" bIns="0" rtlCol="0" anchor="ctr"/>
          <a:lstStyle/>
          <a:p>
            <a:pPr indent="0" marL="0">
              <a:buNone/>
            </a:pPr>
            <a:r>
              <a:rPr lang="en-US" sz="1250" dirty="0">
                <a:solidFill>
                  <a:srgbClr val="13202F"/>
                </a:solidFill>
                <a:latin typeface="Calibri" pitchFamily="34" charset="0"/>
                <a:ea typeface="Calibri" pitchFamily="34" charset="-122"/>
                <a:cs typeface="Calibri" pitchFamily="34" charset="-120"/>
              </a:rPr>
              <a:t>Publish, flagged</a:t>
            </a:r>
            <a:endParaRPr lang="en-US" sz="1250" dirty="0"/>
          </a:p>
        </p:txBody>
      </p:sp>
      <p:sp>
        <p:nvSpPr>
          <p:cNvPr id="14" name="Shape 10"/>
          <p:cNvSpPr/>
          <p:nvPr/>
        </p:nvSpPr>
        <p:spPr>
          <a:xfrm>
            <a:off x="7223760" y="3310128"/>
            <a:ext cx="402336" cy="402336"/>
          </a:xfrm>
          <a:prstGeom prst="ellipse">
            <a:avLst/>
          </a:prstGeom>
          <a:solidFill>
            <a:srgbClr val="B08A1E"/>
          </a:solidFill>
          <a:ln w="12700">
            <a:solidFill>
              <a:srgbClr val="B08A1E"/>
            </a:solidFill>
            <a:prstDash val="solid"/>
          </a:ln>
        </p:spPr>
      </p:sp>
      <p:sp>
        <p:nvSpPr>
          <p:cNvPr id="15" name="Text 11"/>
          <p:cNvSpPr txBox="1"/>
          <p:nvPr/>
        </p:nvSpPr>
        <p:spPr>
          <a:xfrm>
            <a:off x="7223760" y="33101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16" name="Text 12"/>
          <p:cNvSpPr txBox="1"/>
          <p:nvPr/>
        </p:nvSpPr>
        <p:spPr>
          <a:xfrm>
            <a:off x="7754112" y="3310128"/>
            <a:ext cx="3566160" cy="402336"/>
          </a:xfrm>
          <a:prstGeom prst="rect">
            <a:avLst/>
          </a:prstGeom>
          <a:noFill/>
          <a:ln/>
        </p:spPr>
        <p:txBody>
          <a:bodyPr wrap="square" lIns="0" tIns="0" rIns="0" bIns="0" rtlCol="0" anchor="ctr"/>
          <a:lstStyle/>
          <a:p>
            <a:pPr indent="0" marL="0">
              <a:buNone/>
            </a:pPr>
            <a:r>
              <a:rPr lang="en-US" sz="1250" dirty="0">
                <a:solidFill>
                  <a:srgbClr val="13202F"/>
                </a:solidFill>
                <a:latin typeface="Calibri" pitchFamily="34" charset="0"/>
                <a:ea typeface="Calibri" pitchFamily="34" charset="-122"/>
                <a:cs typeface="Calibri" pitchFamily="34" charset="-120"/>
              </a:rPr>
              <a:t>Desk review</a:t>
            </a:r>
            <a:endParaRPr lang="en-US" sz="1250" dirty="0"/>
          </a:p>
        </p:txBody>
      </p:sp>
      <p:sp>
        <p:nvSpPr>
          <p:cNvPr id="17" name="Shape 13"/>
          <p:cNvSpPr/>
          <p:nvPr/>
        </p:nvSpPr>
        <p:spPr>
          <a:xfrm>
            <a:off x="7223760" y="3877056"/>
            <a:ext cx="402336" cy="402336"/>
          </a:xfrm>
          <a:prstGeom prst="ellipse">
            <a:avLst/>
          </a:prstGeom>
          <a:solidFill>
            <a:srgbClr val="D9743B"/>
          </a:solidFill>
          <a:ln w="12700">
            <a:solidFill>
              <a:srgbClr val="D9743B"/>
            </a:solidFill>
            <a:prstDash val="solid"/>
          </a:ln>
        </p:spPr>
      </p:sp>
      <p:sp>
        <p:nvSpPr>
          <p:cNvPr id="18" name="Text 14"/>
          <p:cNvSpPr txBox="1"/>
          <p:nvPr/>
        </p:nvSpPr>
        <p:spPr>
          <a:xfrm>
            <a:off x="7223760" y="387705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a:t>
            </a:r>
            <a:endParaRPr lang="en-US" sz="1300" dirty="0"/>
          </a:p>
        </p:txBody>
      </p:sp>
      <p:sp>
        <p:nvSpPr>
          <p:cNvPr id="19" name="Text 15"/>
          <p:cNvSpPr txBox="1"/>
          <p:nvPr/>
        </p:nvSpPr>
        <p:spPr>
          <a:xfrm>
            <a:off x="7754112" y="3877056"/>
            <a:ext cx="3566160" cy="402336"/>
          </a:xfrm>
          <a:prstGeom prst="rect">
            <a:avLst/>
          </a:prstGeom>
          <a:noFill/>
          <a:ln/>
        </p:spPr>
        <p:txBody>
          <a:bodyPr wrap="square" lIns="0" tIns="0" rIns="0" bIns="0" rtlCol="0" anchor="ctr"/>
          <a:lstStyle/>
          <a:p>
            <a:pPr indent="0" marL="0">
              <a:buNone/>
            </a:pPr>
            <a:r>
              <a:rPr lang="en-US" sz="1250" dirty="0">
                <a:solidFill>
                  <a:srgbClr val="13202F"/>
                </a:solidFill>
                <a:latin typeface="Calibri" pitchFamily="34" charset="0"/>
                <a:ea typeface="Calibri" pitchFamily="34" charset="-122"/>
                <a:cs typeface="Calibri" pitchFamily="34" charset="-120"/>
              </a:rPr>
              <a:t>Field verification</a:t>
            </a:r>
            <a:endParaRPr lang="en-US" sz="1250" dirty="0"/>
          </a:p>
        </p:txBody>
      </p:sp>
      <p:sp>
        <p:nvSpPr>
          <p:cNvPr id="20" name="Shape 16"/>
          <p:cNvSpPr/>
          <p:nvPr/>
        </p:nvSpPr>
        <p:spPr>
          <a:xfrm>
            <a:off x="7223760" y="4443984"/>
            <a:ext cx="402336" cy="402336"/>
          </a:xfrm>
          <a:prstGeom prst="ellipse">
            <a:avLst/>
          </a:prstGeom>
          <a:solidFill>
            <a:srgbClr val="A83A2B"/>
          </a:solidFill>
          <a:ln w="12700">
            <a:solidFill>
              <a:srgbClr val="A83A2B"/>
            </a:solidFill>
            <a:prstDash val="solid"/>
          </a:ln>
        </p:spPr>
      </p:sp>
      <p:sp>
        <p:nvSpPr>
          <p:cNvPr id="21" name="Text 17"/>
          <p:cNvSpPr txBox="1"/>
          <p:nvPr/>
        </p:nvSpPr>
        <p:spPr>
          <a:xfrm>
            <a:off x="7223760" y="444398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E</a:t>
            </a:r>
            <a:endParaRPr lang="en-US" sz="1300" dirty="0"/>
          </a:p>
        </p:txBody>
      </p:sp>
      <p:sp>
        <p:nvSpPr>
          <p:cNvPr id="22" name="Text 18"/>
          <p:cNvSpPr txBox="1"/>
          <p:nvPr/>
        </p:nvSpPr>
        <p:spPr>
          <a:xfrm>
            <a:off x="7754112" y="4443984"/>
            <a:ext cx="3566160" cy="402336"/>
          </a:xfrm>
          <a:prstGeom prst="rect">
            <a:avLst/>
          </a:prstGeom>
          <a:noFill/>
          <a:ln/>
        </p:spPr>
        <p:txBody>
          <a:bodyPr wrap="square" lIns="0" tIns="0" rIns="0" bIns="0" rtlCol="0" anchor="ctr"/>
          <a:lstStyle/>
          <a:p>
            <a:pPr indent="0" marL="0">
              <a:buNone/>
            </a:pPr>
            <a:r>
              <a:rPr lang="en-US" sz="1250" dirty="0">
                <a:solidFill>
                  <a:srgbClr val="13202F"/>
                </a:solidFill>
                <a:latin typeface="Calibri" pitchFamily="34" charset="0"/>
                <a:ea typeface="Calibri" pitchFamily="34" charset="-122"/>
                <a:cs typeface="Calibri" pitchFamily="34" charset="-120"/>
              </a:rPr>
              <a:t>Reject</a:t>
            </a:r>
            <a:endParaRPr lang="en-US" sz="1250" dirty="0"/>
          </a:p>
        </p:txBody>
      </p:sp>
      <p:sp>
        <p:nvSpPr>
          <p:cNvPr id="23" name="Text 19"/>
          <p:cNvSpPr txBox="1"/>
          <p:nvPr/>
        </p:nvSpPr>
        <p:spPr>
          <a:xfrm>
            <a:off x="7187184" y="5102352"/>
            <a:ext cx="4114800" cy="566928"/>
          </a:xfrm>
          <a:prstGeom prst="rect">
            <a:avLst/>
          </a:prstGeom>
          <a:noFill/>
          <a:ln/>
        </p:spPr>
        <p:txBody>
          <a:bodyPr wrap="square" lIns="0" tIns="0" rIns="0" bIns="0" rtlCol="0" anchor="t"/>
          <a:lstStyle/>
          <a:p>
            <a:pPr indent="0" marL="0">
              <a:lnSpc>
                <a:spcPts val="1400"/>
              </a:lnSpc>
              <a:buNone/>
            </a:pPr>
            <a:r>
              <a:rPr lang="en-US" sz="1050" i="1" dirty="0">
                <a:solidFill>
                  <a:srgbClr val="5C6B7A"/>
                </a:solidFill>
                <a:latin typeface="Calibri" pitchFamily="34" charset="0"/>
                <a:ea typeface="Calibri" pitchFamily="34" charset="-122"/>
                <a:cs typeface="Calibri" pitchFamily="34" charset="-120"/>
              </a:rPr>
              <a:t>Every feature also carries its six component scores and a plain-language sentence naming its weakest dimension.</a:t>
            </a:r>
            <a:endParaRPr lang="en-US" sz="1050" dirty="0"/>
          </a:p>
        </p:txBody>
      </p:sp>
      <p:sp>
        <p:nvSpPr>
          <p:cNvPr id="24" name="Text 20"/>
          <p:cNvSpPr txBox="1"/>
          <p:nvPr/>
        </p:nvSpPr>
        <p:spPr>
          <a:xfrm>
            <a:off x="566928" y="6400800"/>
            <a:ext cx="11064240" cy="274320"/>
          </a:xfrm>
          <a:prstGeom prst="rect">
            <a:avLst/>
          </a:prstGeom>
          <a:noFill/>
          <a:ln/>
        </p:spPr>
        <p:txBody>
          <a:bodyPr wrap="square" lIns="0" tIns="0" rIns="0" bIns="0" rtlCol="0" anchor="t"/>
          <a:lstStyle/>
          <a:p>
            <a:pPr indent="0" marL="0">
              <a:buNone/>
            </a:pPr>
            <a:r>
              <a:rPr lang="en-US" sz="950" i="1" dirty="0">
                <a:solidFill>
                  <a:srgbClr val="5C6B7A"/>
                </a:solidFill>
                <a:latin typeface="Calibri" pitchFamily="34" charset="0"/>
                <a:ea typeface="Calibri" pitchFamily="34" charset="-122"/>
                <a:cs typeface="Calibri" pitchFamily="34" charset="-120"/>
              </a:rPr>
              <a:t>Measured over 107,262 harmonised features across 22 km² of central Chennai. Positional is scored against the NAKSHA 0.5 m urban specification.</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10896"/>
            <a:ext cx="10058400" cy="237744"/>
          </a:xfrm>
          <a:prstGeom prst="rect">
            <a:avLst/>
          </a:prstGeom>
          <a:noFill/>
          <a:ln/>
        </p:spPr>
        <p:txBody>
          <a:bodyPr wrap="square" lIns="0" tIns="0" rIns="0" bIns="0" rtlCol="0" anchor="t"/>
          <a:lstStyle/>
          <a:p>
            <a:pPr indent="0" marL="0">
              <a:buNone/>
            </a:pPr>
            <a:r>
              <a:rPr lang="en-US" sz="1100" b="1" spc="200" kern="0" dirty="0">
                <a:solidFill>
                  <a:srgbClr val="D9743B"/>
                </a:solidFill>
                <a:latin typeface="Calibri" pitchFamily="34" charset="0"/>
                <a:ea typeface="Calibri" pitchFamily="34" charset="-122"/>
                <a:cs typeface="Calibri" pitchFamily="34" charset="-120"/>
              </a:rPr>
              <a:t>OPERATIONS</a:t>
            </a:r>
            <a:endParaRPr lang="en-US" sz="1100" dirty="0"/>
          </a:p>
        </p:txBody>
      </p:sp>
      <p:sp>
        <p:nvSpPr>
          <p:cNvPr id="3" name="Text 1"/>
          <p:cNvSpPr txBox="1"/>
          <p:nvPr/>
        </p:nvSpPr>
        <p:spPr>
          <a:xfrm>
            <a:off x="566928" y="621792"/>
            <a:ext cx="11064240" cy="896112"/>
          </a:xfrm>
          <a:prstGeom prst="rect">
            <a:avLst/>
          </a:prstGeom>
          <a:noFill/>
          <a:ln/>
        </p:spPr>
        <p:txBody>
          <a:bodyPr wrap="square" lIns="0" tIns="0" rIns="0" bIns="0" rtlCol="0" anchor="t"/>
          <a:lstStyle/>
          <a:p>
            <a:pPr indent="0" marL="0">
              <a:buNone/>
            </a:pPr>
            <a:r>
              <a:rPr lang="en-US" sz="3000" b="1" dirty="0">
                <a:solidFill>
                  <a:srgbClr val="13202F"/>
                </a:solidFill>
                <a:latin typeface="Cambria" pitchFamily="34" charset="0"/>
                <a:ea typeface="Cambria" pitchFamily="34" charset="-122"/>
                <a:cs typeface="Cambria" pitchFamily="34" charset="-120"/>
              </a:rPr>
              <a:t>Two ways this saves an officer's day</a:t>
            </a:r>
            <a:endParaRPr lang="en-US" sz="3000" dirty="0"/>
          </a:p>
        </p:txBody>
      </p:sp>
      <p:sp>
        <p:nvSpPr>
          <p:cNvPr id="5" name="Shape 2"/>
          <p:cNvSpPr/>
          <p:nvPr/>
        </p:nvSpPr>
        <p:spPr>
          <a:xfrm>
            <a:off x="566928" y="1609344"/>
            <a:ext cx="5358384" cy="3675888"/>
          </a:xfrm>
          <a:prstGeom prst="roundRect">
            <a:avLst>
              <a:gd name="adj" fmla="val 1990"/>
            </a:avLst>
          </a:prstGeom>
          <a:solidFill>
            <a:srgbClr val="EEF2F5"/>
          </a:solidFill>
          <a:ln w="12700">
            <a:solidFill>
              <a:srgbClr val="EEF2F5"/>
            </a:solidFill>
            <a:prstDash val="solid"/>
          </a:ln>
        </p:spPr>
      </p:sp>
      <p:sp>
        <p:nvSpPr>
          <p:cNvPr id="6" name="Text 3"/>
          <p:cNvSpPr txBox="1"/>
          <p:nvPr/>
        </p:nvSpPr>
        <p:spPr>
          <a:xfrm>
            <a:off x="841248" y="1773936"/>
            <a:ext cx="4754880" cy="310896"/>
          </a:xfrm>
          <a:prstGeom prst="rect">
            <a:avLst/>
          </a:prstGeom>
          <a:noFill/>
          <a:ln/>
        </p:spPr>
        <p:txBody>
          <a:bodyPr wrap="square" lIns="0" tIns="0" rIns="0" bIns="0" rtlCol="0" anchor="t"/>
          <a:lstStyle/>
          <a:p>
            <a:pPr indent="0" marL="0">
              <a:buNone/>
            </a:pPr>
            <a:r>
              <a:rPr lang="en-US" sz="1500" b="1" dirty="0">
                <a:solidFill>
                  <a:srgbClr val="13202F"/>
                </a:solidFill>
                <a:latin typeface="Calibri" pitchFamily="34" charset="0"/>
                <a:ea typeface="Calibri" pitchFamily="34" charset="-122"/>
                <a:cs typeface="Calibri" pitchFamily="34" charset="-120"/>
              </a:rPr>
              <a:t>The adjudication queue</a:t>
            </a:r>
            <a:endParaRPr lang="en-US" sz="1500" dirty="0"/>
          </a:p>
        </p:txBody>
      </p:sp>
      <p:sp>
        <p:nvSpPr>
          <p:cNvPr id="7" name="Text 4"/>
          <p:cNvSpPr txBox="1"/>
          <p:nvPr/>
        </p:nvSpPr>
        <p:spPr>
          <a:xfrm>
            <a:off x="841248" y="2194560"/>
            <a:ext cx="2377440" cy="640080"/>
          </a:xfrm>
          <a:prstGeom prst="rect">
            <a:avLst/>
          </a:prstGeom>
          <a:noFill/>
          <a:ln/>
        </p:spPr>
        <p:txBody>
          <a:bodyPr wrap="square" lIns="0" tIns="0" rIns="0" bIns="0" rtlCol="0" anchor="t"/>
          <a:lstStyle/>
          <a:p>
            <a:pPr indent="0" marL="0">
              <a:buNone/>
            </a:pPr>
            <a:r>
              <a:rPr lang="en-US" sz="3400" b="1" dirty="0">
                <a:solidFill>
                  <a:srgbClr val="0F6E5F"/>
                </a:solidFill>
                <a:latin typeface="Cambria" pitchFamily="34" charset="0"/>
                <a:ea typeface="Cambria" pitchFamily="34" charset="-122"/>
                <a:cs typeface="Cambria" pitchFamily="34" charset="-120"/>
              </a:rPr>
              <a:t>43.4%</a:t>
            </a:r>
            <a:endParaRPr lang="en-US" sz="3400" dirty="0"/>
          </a:p>
        </p:txBody>
      </p:sp>
      <p:sp>
        <p:nvSpPr>
          <p:cNvPr id="8" name="Text 5"/>
          <p:cNvSpPr txBox="1"/>
          <p:nvPr/>
        </p:nvSpPr>
        <p:spPr>
          <a:xfrm>
            <a:off x="841248" y="2834640"/>
            <a:ext cx="2377440" cy="713232"/>
          </a:xfrm>
          <a:prstGeom prst="rect">
            <a:avLst/>
          </a:prstGeom>
          <a:noFill/>
          <a:ln/>
        </p:spPr>
        <p:txBody>
          <a:bodyPr wrap="square" lIns="0" tIns="0" rIns="0" bIns="0" rtlCol="0" anchor="t"/>
          <a:lstStyle/>
          <a:p>
            <a:pPr indent="0" marL="0">
              <a:lnSpc>
                <a:spcPts val="1500"/>
              </a:lnSpc>
              <a:buNone/>
            </a:pPr>
            <a:r>
              <a:rPr lang="en-US" sz="1100" dirty="0">
                <a:solidFill>
                  <a:srgbClr val="5C6B7A"/>
                </a:solidFill>
                <a:latin typeface="Calibri" pitchFamily="34" charset="0"/>
                <a:ea typeface="Calibri" pitchFamily="34" charset="-122"/>
                <a:cs typeface="Calibri" pitchFamily="34" charset="-120"/>
              </a:rPr>
              <a:t>of conflicts resolved automatically</a:t>
            </a:r>
            <a:endParaRPr lang="en-US" sz="1100" dirty="0"/>
          </a:p>
        </p:txBody>
      </p:sp>
      <p:sp>
        <p:nvSpPr>
          <p:cNvPr id="9" name="Text 6"/>
          <p:cNvSpPr txBox="1"/>
          <p:nvPr/>
        </p:nvSpPr>
        <p:spPr>
          <a:xfrm>
            <a:off x="3401568" y="2194560"/>
            <a:ext cx="2468880" cy="640080"/>
          </a:xfrm>
          <a:prstGeom prst="rect">
            <a:avLst/>
          </a:prstGeom>
          <a:noFill/>
          <a:ln/>
        </p:spPr>
        <p:txBody>
          <a:bodyPr wrap="square" lIns="0" tIns="0" rIns="0" bIns="0" rtlCol="0" anchor="t"/>
          <a:lstStyle/>
          <a:p>
            <a:pPr indent="0" marL="0">
              <a:buNone/>
            </a:pPr>
            <a:r>
              <a:rPr lang="en-US" sz="3400" b="1" dirty="0">
                <a:solidFill>
                  <a:srgbClr val="D9743B"/>
                </a:solidFill>
                <a:latin typeface="Cambria" pitchFamily="34" charset="0"/>
                <a:ea typeface="Cambria" pitchFamily="34" charset="-122"/>
                <a:cs typeface="Cambria" pitchFamily="34" charset="-120"/>
              </a:rPr>
              <a:t>2</a:t>
            </a:r>
            <a:endParaRPr lang="en-US" sz="3400" dirty="0"/>
          </a:p>
        </p:txBody>
      </p:sp>
      <p:sp>
        <p:nvSpPr>
          <p:cNvPr id="10" name="Text 7"/>
          <p:cNvSpPr txBox="1"/>
          <p:nvPr/>
        </p:nvSpPr>
        <p:spPr>
          <a:xfrm>
            <a:off x="3401568" y="2834640"/>
            <a:ext cx="2468880" cy="713232"/>
          </a:xfrm>
          <a:prstGeom prst="rect">
            <a:avLst/>
          </a:prstGeom>
          <a:noFill/>
          <a:ln/>
        </p:spPr>
        <p:txBody>
          <a:bodyPr wrap="square" lIns="0" tIns="0" rIns="0" bIns="0" rtlCol="0" anchor="t"/>
          <a:lstStyle/>
          <a:p>
            <a:pPr indent="0" marL="0">
              <a:lnSpc>
                <a:spcPts val="1500"/>
              </a:lnSpc>
              <a:buNone/>
            </a:pPr>
            <a:r>
              <a:rPr lang="en-US" sz="1100" dirty="0">
                <a:solidFill>
                  <a:srgbClr val="5C6B7A"/>
                </a:solidFill>
                <a:latin typeface="Calibri" pitchFamily="34" charset="0"/>
                <a:ea typeface="Calibri" pitchFamily="34" charset="-122"/>
                <a:cs typeface="Calibri" pitchFamily="34" charset="-120"/>
              </a:rPr>
              <a:t>batches hold all 20,207 escalated cases</a:t>
            </a:r>
            <a:endParaRPr lang="en-US" sz="1100" dirty="0"/>
          </a:p>
        </p:txBody>
      </p:sp>
      <p:sp>
        <p:nvSpPr>
          <p:cNvPr id="11" name="Text 8"/>
          <p:cNvSpPr txBox="1"/>
          <p:nvPr/>
        </p:nvSpPr>
        <p:spPr>
          <a:xfrm>
            <a:off x="841248" y="3401568"/>
            <a:ext cx="4828032" cy="2194560"/>
          </a:xfrm>
          <a:prstGeom prst="rect">
            <a:avLst/>
          </a:prstGeom>
          <a:noFill/>
          <a:ln/>
        </p:spPr>
        <p:txBody>
          <a:bodyPr wrap="square" lIns="0" tIns="0" rIns="0" bIns="0" rtlCol="0" anchor="t"/>
          <a:lstStyle/>
          <a:p>
            <a:pPr indent="0" marL="0">
              <a:lnSpc>
                <a:spcPts val="1700"/>
              </a:lnSpc>
              <a:buNone/>
            </a:pPr>
            <a:r>
              <a:rPr lang="en-US" sz="1150" dirty="0">
                <a:solidFill>
                  <a:srgbClr val="13202F"/>
                </a:solidFill>
                <a:latin typeface="Calibri" pitchFamily="34" charset="0"/>
                <a:ea typeface="Calibri" pitchFamily="34" charset="-122"/>
                <a:cs typeface="Calibri" pitchFamily="34" charset="-120"/>
              </a:rPr>
              <a:t>Cases are ranked by the expected value of deciding them — severity, uncertainty, land at stake, and how many similar cases the decision would settle — then grouped by cause, so an officer decides one kind of thing at a time.</a:t>
            </a:r>
            <a:endParaRPr lang="en-US" sz="1150" dirty="0"/>
          </a:p>
          <a:p>
            <a:pPr indent="0" marL="0">
              <a:lnSpc>
                <a:spcPts val="1700"/>
              </a:lnSpc>
              <a:buNone/>
            </a:pPr>
            <a:endParaRPr lang="en-US" sz="1150" dirty="0"/>
          </a:p>
          <a:p>
            <a:pPr indent="0" marL="0">
              <a:lnSpc>
                <a:spcPts val="1700"/>
              </a:lnSpc>
              <a:buNone/>
            </a:pPr>
            <a:r>
              <a:rPr lang="en-US" sz="1150" dirty="0">
                <a:solidFill>
                  <a:srgbClr val="13202F"/>
                </a:solidFill>
                <a:latin typeface="Calibri" pitchFamily="34" charset="0"/>
                <a:ea typeface="Calibri" pitchFamily="34" charset="-122"/>
                <a:cs typeface="Calibri" pitchFamily="34" charset="-120"/>
              </a:rPr>
              <a:t>Every decision becomes a training example and updates that source's empirical reliability, so the priors self-correct over a campaign.</a:t>
            </a:r>
            <a:endParaRPr lang="en-US" sz="1150" dirty="0"/>
          </a:p>
        </p:txBody>
      </p:sp>
      <p:sp>
        <p:nvSpPr>
          <p:cNvPr id="12" name="Shape 9"/>
          <p:cNvSpPr/>
          <p:nvPr/>
        </p:nvSpPr>
        <p:spPr>
          <a:xfrm>
            <a:off x="6236208" y="1609344"/>
            <a:ext cx="5358384" cy="3675888"/>
          </a:xfrm>
          <a:prstGeom prst="roundRect">
            <a:avLst>
              <a:gd name="adj" fmla="val 1990"/>
            </a:avLst>
          </a:prstGeom>
          <a:solidFill>
            <a:srgbClr val="13202F"/>
          </a:solidFill>
          <a:ln w="12700">
            <a:solidFill>
              <a:srgbClr val="13202F"/>
            </a:solidFill>
            <a:prstDash val="solid"/>
          </a:ln>
        </p:spPr>
      </p:sp>
      <p:sp>
        <p:nvSpPr>
          <p:cNvPr id="13" name="Text 10"/>
          <p:cNvSpPr txBox="1"/>
          <p:nvPr/>
        </p:nvSpPr>
        <p:spPr>
          <a:xfrm>
            <a:off x="6510528" y="1773936"/>
            <a:ext cx="4754880" cy="310896"/>
          </a:xfrm>
          <a:prstGeom prst="rect">
            <a:avLst/>
          </a:prstGeom>
          <a:noFill/>
          <a:ln/>
        </p:spPr>
        <p:txBody>
          <a:bodyPr wrap="square" lIns="0" tIns="0" rIns="0" bIns="0" rtlCol="0" anchor="t"/>
          <a:lstStyle/>
          <a:p>
            <a:pPr indent="0" marL="0">
              <a:buNone/>
            </a:pPr>
            <a:r>
              <a:rPr lang="en-US" sz="1500" b="1" dirty="0">
                <a:solidFill>
                  <a:srgbClr val="D9743B"/>
                </a:solidFill>
                <a:latin typeface="Calibri" pitchFamily="34" charset="0"/>
                <a:ea typeface="Calibri" pitchFamily="34" charset="-122"/>
                <a:cs typeface="Calibri" pitchFamily="34" charset="-120"/>
              </a:rPr>
              <a:t>The re-survey trap</a:t>
            </a:r>
            <a:endParaRPr lang="en-US" sz="1500" dirty="0"/>
          </a:p>
        </p:txBody>
      </p:sp>
      <p:sp>
        <p:nvSpPr>
          <p:cNvPr id="14" name="Text 11"/>
          <p:cNvSpPr txBox="1"/>
          <p:nvPr/>
        </p:nvSpPr>
        <p:spPr>
          <a:xfrm>
            <a:off x="6510528" y="2194560"/>
            <a:ext cx="4846320" cy="822960"/>
          </a:xfrm>
          <a:prstGeom prst="rect">
            <a:avLst/>
          </a:prstGeom>
          <a:noFill/>
          <a:ln/>
        </p:spPr>
        <p:txBody>
          <a:bodyPr wrap="square" lIns="0" tIns="0" rIns="0" bIns="0" rtlCol="0" anchor="t"/>
          <a:lstStyle/>
          <a:p>
            <a:pPr indent="0" marL="0">
              <a:lnSpc>
                <a:spcPts val="2500"/>
              </a:lnSpc>
              <a:buNone/>
            </a:pPr>
            <a:r>
              <a:rPr lang="en-US" sz="1700" b="1" dirty="0">
                <a:solidFill>
                  <a:srgbClr val="FFFFFF"/>
                </a:solidFill>
                <a:latin typeface="Cambria" pitchFamily="34" charset="0"/>
                <a:ea typeface="Cambria" pitchFamily="34" charset="-122"/>
                <a:cs typeface="Cambria" pitchFamily="34" charset="-120"/>
              </a:rPr>
              <a:t>A re-survey that moves every boundary in a</a:t>
            </a:r>
            <a:endParaRPr lang="en-US" sz="1700" dirty="0"/>
          </a:p>
          <a:p>
            <a:pPr indent="0" marL="0">
              <a:lnSpc>
                <a:spcPts val="2500"/>
              </a:lnSpc>
              <a:buNone/>
            </a:pPr>
            <a:r>
              <a:rPr lang="en-US" sz="1700" b="1" dirty="0">
                <a:solidFill>
                  <a:srgbClr val="FFFFFF"/>
                </a:solidFill>
                <a:latin typeface="Cambria" pitchFamily="34" charset="0"/>
                <a:ea typeface="Cambria" pitchFamily="34" charset="-122"/>
                <a:cs typeface="Cambria" pitchFamily="34" charset="-120"/>
              </a:rPr>
              <a:t>village by 1.2 m is not two thousand mutations.</a:t>
            </a:r>
            <a:endParaRPr lang="en-US" sz="1700" dirty="0"/>
          </a:p>
        </p:txBody>
      </p:sp>
      <p:sp>
        <p:nvSpPr>
          <p:cNvPr id="15" name="Text 12"/>
          <p:cNvSpPr txBox="1"/>
          <p:nvPr/>
        </p:nvSpPr>
        <p:spPr>
          <a:xfrm>
            <a:off x="6510528" y="3182112"/>
            <a:ext cx="4846320" cy="2377440"/>
          </a:xfrm>
          <a:prstGeom prst="rect">
            <a:avLst/>
          </a:prstGeom>
          <a:noFill/>
          <a:ln/>
        </p:spPr>
        <p:txBody>
          <a:bodyPr wrap="square" lIns="0" tIns="0" rIns="0" bIns="0" rtlCol="0" anchor="t"/>
          <a:lstStyle/>
          <a:p>
            <a:pPr indent="0" marL="0">
              <a:lnSpc>
                <a:spcPts val="1700"/>
              </a:lnSpc>
              <a:buNone/>
            </a:pPr>
            <a:r>
              <a:rPr lang="en-US" sz="1150" dirty="0">
                <a:solidFill>
                  <a:srgbClr val="C9D6E2"/>
                </a:solidFill>
                <a:latin typeface="Calibri" pitchFamily="34" charset="0"/>
                <a:ea typeface="Calibri" pitchFamily="34" charset="-122"/>
                <a:cs typeface="Calibri" pitchFamily="34" charset="-120"/>
              </a:rPr>
              <a:t>The detector estimates the layer-wide systematic offset, subtracts it, and classifies on the residual. Movement explained by the systematic component is typed POSITIONAL_ONLY and marked non-actionable.</a:t>
            </a:r>
            <a:endParaRPr lang="en-US" sz="1150" dirty="0"/>
          </a:p>
          <a:p>
            <a:pPr indent="0" marL="0">
              <a:lnSpc>
                <a:spcPts val="1700"/>
              </a:lnSpc>
              <a:buNone/>
            </a:pPr>
            <a:endParaRPr lang="en-US" sz="1150" dirty="0"/>
          </a:p>
          <a:p>
            <a:pPr indent="0" marL="0">
              <a:lnSpc>
                <a:spcPts val="1700"/>
              </a:lnSpc>
              <a:buNone/>
            </a:pPr>
            <a:r>
              <a:rPr lang="en-US" sz="1150" dirty="0">
                <a:solidFill>
                  <a:srgbClr val="C9D6E2"/>
                </a:solidFill>
                <a:latin typeface="Calibri" pitchFamily="34" charset="0"/>
                <a:ea typeface="Calibri" pitchFamily="34" charset="-122"/>
                <a:cs typeface="Calibri" pitchFamily="34" charset="-120"/>
              </a:rPr>
              <a:t>Equally: contemporaneous sources are not epochs. Cross-source difference is a completeness finding for a custodian, never a mutation for a registry.</a:t>
            </a:r>
            <a:endParaRPr lang="en-US" sz="1150" dirty="0"/>
          </a:p>
        </p:txBody>
      </p:sp>
      <p:sp>
        <p:nvSpPr>
          <p:cNvPr id="16" name="Shape 13"/>
          <p:cNvSpPr/>
          <p:nvPr/>
        </p:nvSpPr>
        <p:spPr>
          <a:xfrm>
            <a:off x="566928" y="5760720"/>
            <a:ext cx="11027664" cy="694944"/>
          </a:xfrm>
          <a:prstGeom prst="roundRect">
            <a:avLst>
              <a:gd name="adj" fmla="val 10526"/>
            </a:avLst>
          </a:prstGeom>
          <a:solidFill>
            <a:srgbClr val="E3EAF0"/>
          </a:solidFill>
          <a:ln w="12700">
            <a:solidFill>
              <a:srgbClr val="E3EAF0"/>
            </a:solidFill>
            <a:prstDash val="solid"/>
          </a:ln>
        </p:spPr>
      </p:sp>
      <p:sp>
        <p:nvSpPr>
          <p:cNvPr id="17" name="Text 14"/>
          <p:cNvSpPr txBox="1"/>
          <p:nvPr/>
        </p:nvSpPr>
        <p:spPr>
          <a:xfrm>
            <a:off x="804672" y="5760720"/>
            <a:ext cx="10515600" cy="694944"/>
          </a:xfrm>
          <a:prstGeom prst="rect">
            <a:avLst/>
          </a:prstGeom>
          <a:noFill/>
          <a:ln/>
        </p:spPr>
        <p:txBody>
          <a:bodyPr wrap="square" lIns="0" tIns="0" rIns="0" bIns="0" rtlCol="0" anchor="ctr"/>
          <a:lstStyle/>
          <a:p>
            <a:pPr indent="0" marL="0">
              <a:buNone/>
            </a:pPr>
            <a:r>
              <a:rPr lang="en-US" sz="1250" dirty="0">
                <a:solidFill>
                  <a:srgbClr val="13202F"/>
                </a:solidFill>
                <a:latin typeface="Calibri" pitchFamily="34" charset="0"/>
                <a:ea typeface="Calibri" pitchFamily="34" charset="-122"/>
                <a:cs typeface="Calibri" pitchFamily="34" charset="-120"/>
              </a:rPr>
              <a:t>Each change type carries the registry action it implies — assess for tax, close the assessment, record a mutation, serve notice — in the language a revenue officer uses.</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10896"/>
            <a:ext cx="10058400" cy="237744"/>
          </a:xfrm>
          <a:prstGeom prst="rect">
            <a:avLst/>
          </a:prstGeom>
          <a:noFill/>
          <a:ln/>
        </p:spPr>
        <p:txBody>
          <a:bodyPr wrap="square" lIns="0" tIns="0" rIns="0" bIns="0" rtlCol="0" anchor="t"/>
          <a:lstStyle/>
          <a:p>
            <a:pPr indent="0" marL="0">
              <a:buNone/>
            </a:pPr>
            <a:r>
              <a:rPr lang="en-US" sz="1100" b="1" spc="200" kern="0" dirty="0">
                <a:solidFill>
                  <a:srgbClr val="D9743B"/>
                </a:solidFill>
                <a:latin typeface="Calibri" pitchFamily="34" charset="0"/>
                <a:ea typeface="Calibri" pitchFamily="34" charset="-122"/>
                <a:cs typeface="Calibri" pitchFamily="34" charset="-120"/>
              </a:rPr>
              <a:t>RASTER TIER</a:t>
            </a:r>
            <a:endParaRPr lang="en-US" sz="1100" dirty="0"/>
          </a:p>
        </p:txBody>
      </p:sp>
      <p:sp>
        <p:nvSpPr>
          <p:cNvPr id="3" name="Text 1"/>
          <p:cNvSpPr txBox="1"/>
          <p:nvPr/>
        </p:nvSpPr>
        <p:spPr>
          <a:xfrm>
            <a:off x="566928" y="621792"/>
            <a:ext cx="11064240" cy="896112"/>
          </a:xfrm>
          <a:prstGeom prst="rect">
            <a:avLst/>
          </a:prstGeom>
          <a:noFill/>
          <a:ln/>
        </p:spPr>
        <p:txBody>
          <a:bodyPr wrap="square" lIns="0" tIns="0" rIns="0" bIns="0" rtlCol="0" anchor="t"/>
          <a:lstStyle/>
          <a:p>
            <a:pPr indent="0" marL="0">
              <a:buNone/>
            </a:pPr>
            <a:r>
              <a:rPr lang="en-US" sz="3000" b="1" dirty="0">
                <a:solidFill>
                  <a:srgbClr val="13202F"/>
                </a:solidFill>
                <a:latin typeface="Cambria" pitchFamily="34" charset="0"/>
                <a:ea typeface="Cambria" pitchFamily="34" charset="-122"/>
                <a:cs typeface="Cambria" pitchFamily="34" charset="-120"/>
              </a:rPr>
              <a:t>Drone imagery, ORI and DSM — measured, not asserted</a:t>
            </a:r>
            <a:endParaRPr lang="en-US" sz="3000" dirty="0"/>
          </a:p>
        </p:txBody>
      </p:sp>
      <p:sp>
        <p:nvSpPr>
          <p:cNvPr id="5" name="Shape 2"/>
          <p:cNvSpPr/>
          <p:nvPr/>
        </p:nvSpPr>
        <p:spPr>
          <a:xfrm>
            <a:off x="566928" y="1572768"/>
            <a:ext cx="2542032" cy="2103120"/>
          </a:xfrm>
          <a:prstGeom prst="roundRect">
            <a:avLst>
              <a:gd name="adj" fmla="val 3478"/>
            </a:avLst>
          </a:prstGeom>
          <a:solidFill>
            <a:srgbClr val="EEF2F5"/>
          </a:solidFill>
          <a:ln w="12700">
            <a:solidFill>
              <a:srgbClr val="EEF2F5"/>
            </a:solidFill>
            <a:prstDash val="solid"/>
          </a:ln>
        </p:spPr>
      </p:sp>
      <p:sp>
        <p:nvSpPr>
          <p:cNvPr id="6" name="Text 3"/>
          <p:cNvSpPr txBox="1"/>
          <p:nvPr/>
        </p:nvSpPr>
        <p:spPr>
          <a:xfrm>
            <a:off x="786384" y="1737360"/>
            <a:ext cx="2194560" cy="256032"/>
          </a:xfrm>
          <a:prstGeom prst="rect">
            <a:avLst/>
          </a:prstGeom>
          <a:noFill/>
          <a:ln/>
        </p:spPr>
        <p:txBody>
          <a:bodyPr wrap="square" lIns="0" tIns="0" rIns="0" bIns="0" rtlCol="0" anchor="t"/>
          <a:lstStyle/>
          <a:p>
            <a:pPr indent="0" marL="0">
              <a:buNone/>
            </a:pPr>
            <a:r>
              <a:rPr lang="en-US" sz="1000" b="1" spc="100" kern="0" dirty="0">
                <a:solidFill>
                  <a:srgbClr val="5C6B7A"/>
                </a:solidFill>
                <a:latin typeface="Calibri" pitchFamily="34" charset="0"/>
                <a:ea typeface="Calibri" pitchFamily="34" charset="-122"/>
                <a:cs typeface="Calibri" pitchFamily="34" charset="-120"/>
              </a:rPr>
              <a:t>ORI REBUILT</a:t>
            </a:r>
            <a:endParaRPr lang="en-US" sz="1000" dirty="0"/>
          </a:p>
        </p:txBody>
      </p:sp>
      <p:sp>
        <p:nvSpPr>
          <p:cNvPr id="7" name="Text 4"/>
          <p:cNvSpPr txBox="1"/>
          <p:nvPr/>
        </p:nvSpPr>
        <p:spPr>
          <a:xfrm>
            <a:off x="786384" y="2011680"/>
            <a:ext cx="2194560" cy="621792"/>
          </a:xfrm>
          <a:prstGeom prst="rect">
            <a:avLst/>
          </a:prstGeom>
          <a:noFill/>
          <a:ln/>
        </p:spPr>
        <p:txBody>
          <a:bodyPr wrap="square" lIns="0" tIns="0" rIns="0" bIns="0" rtlCol="0" anchor="t"/>
          <a:lstStyle/>
          <a:p>
            <a:pPr indent="0" marL="0">
              <a:buNone/>
            </a:pPr>
            <a:r>
              <a:rPr lang="en-US" sz="3200" b="1" dirty="0">
                <a:solidFill>
                  <a:srgbClr val="0F6E5F"/>
                </a:solidFill>
                <a:latin typeface="Cambria" pitchFamily="34" charset="0"/>
                <a:ea typeface="Cambria" pitchFamily="34" charset="-122"/>
                <a:cs typeface="Cambria" pitchFamily="34" charset="-120"/>
              </a:rPr>
              <a:t>0.051 m</a:t>
            </a:r>
            <a:endParaRPr lang="en-US" sz="3200" dirty="0"/>
          </a:p>
        </p:txBody>
      </p:sp>
      <p:sp>
        <p:nvSpPr>
          <p:cNvPr id="8" name="Text 5"/>
          <p:cNvSpPr txBox="1"/>
          <p:nvPr/>
        </p:nvSpPr>
        <p:spPr>
          <a:xfrm>
            <a:off x="786384" y="2670048"/>
            <a:ext cx="2212848" cy="932688"/>
          </a:xfrm>
          <a:prstGeom prst="rect">
            <a:avLst/>
          </a:prstGeom>
          <a:noFill/>
          <a:ln/>
        </p:spPr>
        <p:txBody>
          <a:bodyPr wrap="square" lIns="0" tIns="0" rIns="0" bIns="0" rtlCol="0" anchor="t"/>
          <a:lstStyle/>
          <a:p>
            <a:pPr indent="0" marL="0">
              <a:lnSpc>
                <a:spcPts val="1400"/>
              </a:lnSpc>
              <a:buNone/>
            </a:pPr>
            <a:r>
              <a:rPr lang="en-US" sz="1050" dirty="0">
                <a:solidFill>
                  <a:srgbClr val="5C6B7A"/>
                </a:solidFill>
                <a:latin typeface="Calibri" pitchFamily="34" charset="0"/>
                <a:ea typeface="Calibri" pitchFamily="34" charset="-122"/>
                <a:cs typeface="Calibri" pitchFamily="34" charset="-120"/>
              </a:rPr>
              <a:t>ground resolution, mosaicked from a real UAV tile pyramid into a georeferenced COG</a:t>
            </a:r>
            <a:endParaRPr lang="en-US" sz="1050" dirty="0"/>
          </a:p>
        </p:txBody>
      </p:sp>
      <p:sp>
        <p:nvSpPr>
          <p:cNvPr id="9" name="Shape 6"/>
          <p:cNvSpPr/>
          <p:nvPr/>
        </p:nvSpPr>
        <p:spPr>
          <a:xfrm>
            <a:off x="3383280" y="1572768"/>
            <a:ext cx="2542032" cy="2103120"/>
          </a:xfrm>
          <a:prstGeom prst="roundRect">
            <a:avLst>
              <a:gd name="adj" fmla="val 3478"/>
            </a:avLst>
          </a:prstGeom>
          <a:solidFill>
            <a:srgbClr val="EEF2F5"/>
          </a:solidFill>
          <a:ln w="12700">
            <a:solidFill>
              <a:srgbClr val="EEF2F5"/>
            </a:solidFill>
            <a:prstDash val="solid"/>
          </a:ln>
        </p:spPr>
      </p:sp>
      <p:sp>
        <p:nvSpPr>
          <p:cNvPr id="10" name="Text 7"/>
          <p:cNvSpPr txBox="1"/>
          <p:nvPr/>
        </p:nvSpPr>
        <p:spPr>
          <a:xfrm>
            <a:off x="3602736" y="1737360"/>
            <a:ext cx="2194560" cy="256032"/>
          </a:xfrm>
          <a:prstGeom prst="rect">
            <a:avLst/>
          </a:prstGeom>
          <a:noFill/>
          <a:ln/>
        </p:spPr>
        <p:txBody>
          <a:bodyPr wrap="square" lIns="0" tIns="0" rIns="0" bIns="0" rtlCol="0" anchor="t"/>
          <a:lstStyle/>
          <a:p>
            <a:pPr indent="0" marL="0">
              <a:buNone/>
            </a:pPr>
            <a:r>
              <a:rPr lang="en-US" sz="1000" b="1" spc="100" kern="0" dirty="0">
                <a:solidFill>
                  <a:srgbClr val="5C6B7A"/>
                </a:solidFill>
                <a:latin typeface="Calibri" pitchFamily="34" charset="0"/>
                <a:ea typeface="Calibri" pitchFamily="34" charset="-122"/>
                <a:cs typeface="Calibri" pitchFamily="34" charset="-120"/>
              </a:rPr>
              <a:t>CO-REGISTRATION</a:t>
            </a:r>
            <a:endParaRPr lang="en-US" sz="1000" dirty="0"/>
          </a:p>
        </p:txBody>
      </p:sp>
      <p:sp>
        <p:nvSpPr>
          <p:cNvPr id="11" name="Text 8"/>
          <p:cNvSpPr txBox="1"/>
          <p:nvPr/>
        </p:nvSpPr>
        <p:spPr>
          <a:xfrm>
            <a:off x="3602736" y="2011680"/>
            <a:ext cx="2194560" cy="621792"/>
          </a:xfrm>
          <a:prstGeom prst="rect">
            <a:avLst/>
          </a:prstGeom>
          <a:noFill/>
          <a:ln/>
        </p:spPr>
        <p:txBody>
          <a:bodyPr wrap="square" lIns="0" tIns="0" rIns="0" bIns="0" rtlCol="0" anchor="t"/>
          <a:lstStyle/>
          <a:p>
            <a:pPr indent="0" marL="0">
              <a:buNone/>
            </a:pPr>
            <a:r>
              <a:rPr lang="en-US" sz="3200" b="1" dirty="0">
                <a:solidFill>
                  <a:srgbClr val="0F6E5F"/>
                </a:solidFill>
                <a:latin typeface="Cambria" pitchFamily="34" charset="0"/>
                <a:ea typeface="Cambria" pitchFamily="34" charset="-122"/>
                <a:cs typeface="Cambria" pitchFamily="34" charset="-120"/>
              </a:rPr>
              <a:t>0.14 m</a:t>
            </a:r>
            <a:endParaRPr lang="en-US" sz="3200" dirty="0"/>
          </a:p>
        </p:txBody>
      </p:sp>
      <p:sp>
        <p:nvSpPr>
          <p:cNvPr id="12" name="Text 9"/>
          <p:cNvSpPr txBox="1"/>
          <p:nvPr/>
        </p:nvSpPr>
        <p:spPr>
          <a:xfrm>
            <a:off x="3602736" y="2670048"/>
            <a:ext cx="2212848" cy="932688"/>
          </a:xfrm>
          <a:prstGeom prst="rect">
            <a:avLst/>
          </a:prstGeom>
          <a:noFill/>
          <a:ln/>
        </p:spPr>
        <p:txBody>
          <a:bodyPr wrap="square" lIns="0" tIns="0" rIns="0" bIns="0" rtlCol="0" anchor="t"/>
          <a:lstStyle/>
          <a:p>
            <a:pPr indent="0" marL="0">
              <a:lnSpc>
                <a:spcPts val="1400"/>
              </a:lnSpc>
              <a:buNone/>
            </a:pPr>
            <a:r>
              <a:rPr lang="en-US" sz="1050" dirty="0">
                <a:solidFill>
                  <a:srgbClr val="5C6B7A"/>
                </a:solidFill>
                <a:latin typeface="Calibri" pitchFamily="34" charset="0"/>
                <a:ea typeface="Calibri" pitchFamily="34" charset="-122"/>
                <a:cs typeface="Calibri" pitchFamily="34" charset="-120"/>
              </a:rPr>
              <a:t>residual shift between two engines' reconstructions; peak sharpness 24</a:t>
            </a:r>
            <a:endParaRPr lang="en-US" sz="1050" dirty="0"/>
          </a:p>
        </p:txBody>
      </p:sp>
      <p:sp>
        <p:nvSpPr>
          <p:cNvPr id="13" name="Shape 10"/>
          <p:cNvSpPr/>
          <p:nvPr/>
        </p:nvSpPr>
        <p:spPr>
          <a:xfrm>
            <a:off x="6199632" y="1572768"/>
            <a:ext cx="2542032" cy="2103120"/>
          </a:xfrm>
          <a:prstGeom prst="roundRect">
            <a:avLst>
              <a:gd name="adj" fmla="val 3478"/>
            </a:avLst>
          </a:prstGeom>
          <a:solidFill>
            <a:srgbClr val="13202F"/>
          </a:solidFill>
          <a:ln w="12700">
            <a:solidFill>
              <a:srgbClr val="13202F"/>
            </a:solidFill>
            <a:prstDash val="solid"/>
          </a:ln>
        </p:spPr>
      </p:sp>
      <p:sp>
        <p:nvSpPr>
          <p:cNvPr id="14" name="Text 11"/>
          <p:cNvSpPr txBox="1"/>
          <p:nvPr/>
        </p:nvSpPr>
        <p:spPr>
          <a:xfrm>
            <a:off x="6419088" y="1737360"/>
            <a:ext cx="2194560" cy="256032"/>
          </a:xfrm>
          <a:prstGeom prst="rect">
            <a:avLst/>
          </a:prstGeom>
          <a:noFill/>
          <a:ln/>
        </p:spPr>
        <p:txBody>
          <a:bodyPr wrap="square" lIns="0" tIns="0" rIns="0" bIns="0" rtlCol="0" anchor="t"/>
          <a:lstStyle/>
          <a:p>
            <a:pPr indent="0" marL="0">
              <a:buNone/>
            </a:pPr>
            <a:r>
              <a:rPr lang="en-US" sz="1000" b="1" spc="100" kern="0" dirty="0">
                <a:solidFill>
                  <a:srgbClr val="D9743B"/>
                </a:solidFill>
                <a:latin typeface="Calibri" pitchFamily="34" charset="0"/>
                <a:ea typeface="Calibri" pitchFamily="34" charset="-122"/>
                <a:cs typeface="Calibri" pitchFamily="34" charset="-120"/>
              </a:rPr>
              <a:t>NULL EXPERIMENT</a:t>
            </a:r>
            <a:endParaRPr lang="en-US" sz="1000" dirty="0"/>
          </a:p>
        </p:txBody>
      </p:sp>
      <p:sp>
        <p:nvSpPr>
          <p:cNvPr id="15" name="Text 12"/>
          <p:cNvSpPr txBox="1"/>
          <p:nvPr/>
        </p:nvSpPr>
        <p:spPr>
          <a:xfrm>
            <a:off x="6419088" y="2011680"/>
            <a:ext cx="2194560" cy="621792"/>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1.79%</a:t>
            </a:r>
            <a:endParaRPr lang="en-US" sz="3200" dirty="0"/>
          </a:p>
        </p:txBody>
      </p:sp>
      <p:sp>
        <p:nvSpPr>
          <p:cNvPr id="16" name="Text 13"/>
          <p:cNvSpPr txBox="1"/>
          <p:nvPr/>
        </p:nvSpPr>
        <p:spPr>
          <a:xfrm>
            <a:off x="6419088" y="2670048"/>
            <a:ext cx="2212848" cy="932688"/>
          </a:xfrm>
          <a:prstGeom prst="rect">
            <a:avLst/>
          </a:prstGeom>
          <a:noFill/>
          <a:ln/>
        </p:spPr>
        <p:txBody>
          <a:bodyPr wrap="square" lIns="0" tIns="0" rIns="0" bIns="0" rtlCol="0" anchor="t"/>
          <a:lstStyle/>
          <a:p>
            <a:pPr indent="0" marL="0">
              <a:lnSpc>
                <a:spcPts val="1400"/>
              </a:lnSpc>
              <a:buNone/>
            </a:pPr>
            <a:r>
              <a:rPr lang="en-US" sz="1050" dirty="0">
                <a:solidFill>
                  <a:srgbClr val="C9D6E2"/>
                </a:solidFill>
                <a:latin typeface="Calibri" pitchFamily="34" charset="0"/>
                <a:ea typeface="Calibri" pitchFamily="34" charset="-122"/>
                <a:cs typeface="Calibri" pitchFamily="34" charset="-120"/>
              </a:rPr>
              <a:t>measured false-positive rate of the change detector on identical ground</a:t>
            </a:r>
            <a:endParaRPr lang="en-US" sz="1050" dirty="0"/>
          </a:p>
        </p:txBody>
      </p:sp>
      <p:sp>
        <p:nvSpPr>
          <p:cNvPr id="17" name="Shape 14"/>
          <p:cNvSpPr/>
          <p:nvPr/>
        </p:nvSpPr>
        <p:spPr>
          <a:xfrm>
            <a:off x="9015984" y="1572768"/>
            <a:ext cx="2542032" cy="2103120"/>
          </a:xfrm>
          <a:prstGeom prst="roundRect">
            <a:avLst>
              <a:gd name="adj" fmla="val 3478"/>
            </a:avLst>
          </a:prstGeom>
          <a:solidFill>
            <a:srgbClr val="EEF2F5"/>
          </a:solidFill>
          <a:ln w="12700">
            <a:solidFill>
              <a:srgbClr val="EEF2F5"/>
            </a:solidFill>
            <a:prstDash val="solid"/>
          </a:ln>
        </p:spPr>
      </p:sp>
      <p:sp>
        <p:nvSpPr>
          <p:cNvPr id="18" name="Text 15"/>
          <p:cNvSpPr txBox="1"/>
          <p:nvPr/>
        </p:nvSpPr>
        <p:spPr>
          <a:xfrm>
            <a:off x="9235440" y="1737360"/>
            <a:ext cx="2194560" cy="256032"/>
          </a:xfrm>
          <a:prstGeom prst="rect">
            <a:avLst/>
          </a:prstGeom>
          <a:noFill/>
          <a:ln/>
        </p:spPr>
        <p:txBody>
          <a:bodyPr wrap="square" lIns="0" tIns="0" rIns="0" bIns="0" rtlCol="0" anchor="t"/>
          <a:lstStyle/>
          <a:p>
            <a:pPr indent="0" marL="0">
              <a:buNone/>
            </a:pPr>
            <a:r>
              <a:rPr lang="en-US" sz="1000" b="1" spc="100" kern="0" dirty="0">
                <a:solidFill>
                  <a:srgbClr val="5C6B7A"/>
                </a:solidFill>
                <a:latin typeface="Calibri" pitchFamily="34" charset="0"/>
                <a:ea typeface="Calibri" pitchFamily="34" charset="-122"/>
                <a:cs typeface="Calibri" pitchFamily="34" charset="-120"/>
              </a:rPr>
              <a:t>DSM → DTM</a:t>
            </a:r>
            <a:endParaRPr lang="en-US" sz="1000" dirty="0"/>
          </a:p>
        </p:txBody>
      </p:sp>
      <p:sp>
        <p:nvSpPr>
          <p:cNvPr id="19" name="Text 16"/>
          <p:cNvSpPr txBox="1"/>
          <p:nvPr/>
        </p:nvSpPr>
        <p:spPr>
          <a:xfrm>
            <a:off x="9235440" y="2011680"/>
            <a:ext cx="2194560" cy="621792"/>
          </a:xfrm>
          <a:prstGeom prst="rect">
            <a:avLst/>
          </a:prstGeom>
          <a:noFill/>
          <a:ln/>
        </p:spPr>
        <p:txBody>
          <a:bodyPr wrap="square" lIns="0" tIns="0" rIns="0" bIns="0" rtlCol="0" anchor="t"/>
          <a:lstStyle/>
          <a:p>
            <a:pPr indent="0" marL="0">
              <a:buNone/>
            </a:pPr>
            <a:r>
              <a:rPr lang="en-US" sz="3200" b="1" dirty="0">
                <a:solidFill>
                  <a:srgbClr val="0F6E5F"/>
                </a:solidFill>
                <a:latin typeface="Cambria" pitchFamily="34" charset="0"/>
                <a:ea typeface="Cambria" pitchFamily="34" charset="-122"/>
                <a:cs typeface="Cambria" pitchFamily="34" charset="-120"/>
              </a:rPr>
              <a:t>0.02 m</a:t>
            </a:r>
            <a:endParaRPr lang="en-US" sz="3200" dirty="0"/>
          </a:p>
        </p:txBody>
      </p:sp>
      <p:sp>
        <p:nvSpPr>
          <p:cNvPr id="20" name="Text 17"/>
          <p:cNvSpPr txBox="1"/>
          <p:nvPr/>
        </p:nvSpPr>
        <p:spPr>
          <a:xfrm>
            <a:off x="9235440" y="2670048"/>
            <a:ext cx="2212848" cy="932688"/>
          </a:xfrm>
          <a:prstGeom prst="rect">
            <a:avLst/>
          </a:prstGeom>
          <a:noFill/>
          <a:ln/>
        </p:spPr>
        <p:txBody>
          <a:bodyPr wrap="square" lIns="0" tIns="0" rIns="0" bIns="0" rtlCol="0" anchor="t"/>
          <a:lstStyle/>
          <a:p>
            <a:pPr indent="0" marL="0">
              <a:lnSpc>
                <a:spcPts val="1400"/>
              </a:lnSpc>
              <a:buNone/>
            </a:pPr>
            <a:r>
              <a:rPr lang="en-US" sz="1050" dirty="0">
                <a:solidFill>
                  <a:srgbClr val="5C6B7A"/>
                </a:solidFill>
                <a:latin typeface="Calibri" pitchFamily="34" charset="0"/>
                <a:ea typeface="Calibri" pitchFamily="34" charset="-122"/>
                <a:cs typeface="Calibri" pitchFamily="34" charset="-120"/>
              </a:rPr>
              <a:t>median nDSM over ground — the terrain correctly sits at zero</a:t>
            </a:r>
            <a:endParaRPr lang="en-US" sz="1050" dirty="0"/>
          </a:p>
        </p:txBody>
      </p:sp>
      <p:sp>
        <p:nvSpPr>
          <p:cNvPr id="21" name="Text 18"/>
          <p:cNvSpPr txBox="1"/>
          <p:nvPr/>
        </p:nvSpPr>
        <p:spPr>
          <a:xfrm>
            <a:off x="566928" y="4023360"/>
            <a:ext cx="7315200" cy="292608"/>
          </a:xfrm>
          <a:prstGeom prst="rect">
            <a:avLst/>
          </a:prstGeom>
          <a:noFill/>
          <a:ln/>
        </p:spPr>
        <p:txBody>
          <a:bodyPr wrap="square" lIns="0" tIns="0" rIns="0" bIns="0" rtlCol="0" anchor="t"/>
          <a:lstStyle/>
          <a:p>
            <a:pPr indent="0" marL="0">
              <a:buNone/>
            </a:pPr>
            <a:r>
              <a:rPr lang="en-US" sz="1400" b="1" dirty="0">
                <a:solidFill>
                  <a:srgbClr val="13202F"/>
                </a:solidFill>
                <a:latin typeface="Calibri" pitchFamily="34" charset="0"/>
                <a:ea typeface="Calibri" pitchFamily="34" charset="-122"/>
                <a:cs typeface="Calibri" pitchFamily="34" charset="-120"/>
              </a:rPr>
              <a:t>Structures from height alone — no imagery, no labels, no model</a:t>
            </a:r>
            <a:endParaRPr lang="en-US" sz="1400" dirty="0"/>
          </a:p>
        </p:txBody>
      </p:sp>
      <p:graphicFrame>
        <p:nvGraphicFramePr>
          <p:cNvPr id="22" name="Chart 0" descr=""/>
          <p:cNvGraphicFramePr/>
          <p:nvPr/>
        </p:nvGraphicFramePr>
        <p:xfrm>
          <a:off x="475488" y="4370832"/>
          <a:ext cx="5943600" cy="1773936"/>
        </p:xfrm>
        <a:graphic xmlns:a="http://schemas.openxmlformats.org/drawingml/2006/main">
          <a:graphicData uri="http://schemas.openxmlformats.org/drawingml/2006/chart">
            <c:chart xmlns:c="http://schemas.openxmlformats.org/drawingml/2006/chart" r:id="rId1"/>
          </a:graphicData>
        </a:graphic>
      </p:graphicFrame>
      <p:sp>
        <p:nvSpPr>
          <p:cNvPr id="23" name="Text 19"/>
          <p:cNvSpPr txBox="1"/>
          <p:nvPr/>
        </p:nvSpPr>
        <p:spPr>
          <a:xfrm>
            <a:off x="6583680" y="4370832"/>
            <a:ext cx="5010912" cy="1773936"/>
          </a:xfrm>
          <a:prstGeom prst="rect">
            <a:avLst/>
          </a:prstGeom>
          <a:noFill/>
          <a:ln/>
        </p:spPr>
        <p:txBody>
          <a:bodyPr wrap="square" lIns="0" tIns="0" rIns="0" bIns="0" rtlCol="0" anchor="t"/>
          <a:lstStyle/>
          <a:p>
            <a:pPr indent="0" marL="0">
              <a:lnSpc>
                <a:spcPts val="1700"/>
              </a:lnSpc>
              <a:buNone/>
            </a:pPr>
            <a:r>
              <a:rPr lang="en-US" sz="1150" dirty="0">
                <a:solidFill>
                  <a:srgbClr val="13202F"/>
                </a:solidFill>
                <a:latin typeface="Calibri" pitchFamily="34" charset="0"/>
                <a:ea typeface="Calibri" pitchFamily="34" charset="-122"/>
                <a:cs typeface="Calibri" pitchFamily="34" charset="-120"/>
              </a:rPr>
              <a:t>328 structures segmented from the normalised surface model of a real 1 m airborne DSM. Median footprint 198 m², median height 6.43 m, storeys peaking at two — which is what the site actually looks like.</a:t>
            </a:r>
            <a:endParaRPr lang="en-US" sz="1150" dirty="0"/>
          </a:p>
          <a:p>
            <a:pPr indent="0" marL="0">
              <a:lnSpc>
                <a:spcPts val="1700"/>
              </a:lnSpc>
              <a:buNone/>
            </a:pPr>
            <a:endParaRPr lang="en-US" sz="1150" dirty="0"/>
          </a:p>
          <a:p>
            <a:pPr indent="0" marL="0">
              <a:lnSpc>
                <a:spcPts val="1700"/>
              </a:lnSpc>
              <a:buNone/>
            </a:pPr>
            <a:r>
              <a:rPr lang="en-US" sz="1150" dirty="0">
                <a:solidFill>
                  <a:srgbClr val="13202F"/>
                </a:solidFill>
                <a:latin typeface="Calibri" pitchFamily="34" charset="0"/>
                <a:ea typeface="Calibri" pitchFamily="34" charset="-122"/>
                <a:cs typeface="Calibri" pitchFamily="34" charset="-120"/>
              </a:rPr>
              <a:t>Regularisation then squares the wobbly raster outlines: 52.3% fewer vertices, mean area change −1.15%, and it refuses to square the 106 buildings that are genuinely not rectilinear.</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10896"/>
            <a:ext cx="10058400" cy="237744"/>
          </a:xfrm>
          <a:prstGeom prst="rect">
            <a:avLst/>
          </a:prstGeom>
          <a:noFill/>
          <a:ln/>
        </p:spPr>
        <p:txBody>
          <a:bodyPr wrap="square" lIns="0" tIns="0" rIns="0" bIns="0" rtlCol="0" anchor="t"/>
          <a:lstStyle/>
          <a:p>
            <a:pPr indent="0" marL="0">
              <a:buNone/>
            </a:pPr>
            <a:r>
              <a:rPr lang="en-US" sz="1100" b="1" spc="200" kern="0" dirty="0">
                <a:solidFill>
                  <a:srgbClr val="D9743B"/>
                </a:solidFill>
                <a:latin typeface="Calibri" pitchFamily="34" charset="0"/>
                <a:ea typeface="Calibri" pitchFamily="34" charset="-122"/>
                <a:cs typeface="Calibri" pitchFamily="34" charset="-120"/>
              </a:rPr>
              <a:t>BEYOND THE PS</a:t>
            </a:r>
            <a:endParaRPr lang="en-US" sz="1100" dirty="0"/>
          </a:p>
        </p:txBody>
      </p:sp>
      <p:sp>
        <p:nvSpPr>
          <p:cNvPr id="3" name="Text 1"/>
          <p:cNvSpPr txBox="1"/>
          <p:nvPr/>
        </p:nvSpPr>
        <p:spPr>
          <a:xfrm>
            <a:off x="566928" y="621792"/>
            <a:ext cx="11064240" cy="896112"/>
          </a:xfrm>
          <a:prstGeom prst="rect">
            <a:avLst/>
          </a:prstGeom>
          <a:noFill/>
          <a:ln/>
        </p:spPr>
        <p:txBody>
          <a:bodyPr wrap="square" lIns="0" tIns="0" rIns="0" bIns="0" rtlCol="0" anchor="t"/>
          <a:lstStyle/>
          <a:p>
            <a:pPr indent="0" marL="0">
              <a:buNone/>
            </a:pPr>
            <a:r>
              <a:rPr lang="en-US" sz="3000" b="1" dirty="0">
                <a:solidFill>
                  <a:srgbClr val="13202F"/>
                </a:solidFill>
                <a:latin typeface="Cambria" pitchFamily="34" charset="0"/>
                <a:ea typeface="Cambria" pitchFamily="34" charset="-122"/>
                <a:cs typeface="Cambria" pitchFamily="34" charset="-120"/>
              </a:rPr>
              <a:t>Eight things the problem statement did not ask for</a:t>
            </a:r>
            <a:endParaRPr lang="en-US" sz="3000" dirty="0"/>
          </a:p>
        </p:txBody>
      </p:sp>
      <p:sp>
        <p:nvSpPr>
          <p:cNvPr id="5" name="Shape 2"/>
          <p:cNvSpPr/>
          <p:nvPr/>
        </p:nvSpPr>
        <p:spPr>
          <a:xfrm>
            <a:off x="566928" y="1481328"/>
            <a:ext cx="5340096" cy="932688"/>
          </a:xfrm>
          <a:prstGeom prst="roundRect">
            <a:avLst>
              <a:gd name="adj" fmla="val 7843"/>
            </a:avLst>
          </a:prstGeom>
          <a:solidFill>
            <a:srgbClr val="EEF2F5"/>
          </a:solidFill>
          <a:ln w="12700">
            <a:solidFill>
              <a:srgbClr val="EEF2F5"/>
            </a:solidFill>
            <a:prstDash val="solid"/>
          </a:ln>
        </p:spPr>
      </p:sp>
      <p:sp>
        <p:nvSpPr>
          <p:cNvPr id="6" name="Shape 3"/>
          <p:cNvSpPr/>
          <p:nvPr/>
        </p:nvSpPr>
        <p:spPr>
          <a:xfrm>
            <a:off x="786384" y="1746504"/>
            <a:ext cx="402336" cy="402336"/>
          </a:xfrm>
          <a:prstGeom prst="ellipse">
            <a:avLst/>
          </a:prstGeom>
          <a:solidFill>
            <a:srgbClr val="0F6E5F"/>
          </a:solidFill>
          <a:ln w="12700">
            <a:solidFill>
              <a:srgbClr val="0F6E5F"/>
            </a:solidFill>
            <a:prstDash val="solid"/>
          </a:ln>
        </p:spPr>
      </p:sp>
      <p:sp>
        <p:nvSpPr>
          <p:cNvPr id="7" name="Text 4"/>
          <p:cNvSpPr txBox="1"/>
          <p:nvPr/>
        </p:nvSpPr>
        <p:spPr>
          <a:xfrm>
            <a:off x="786384" y="174650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8" name="Text 5"/>
          <p:cNvSpPr txBox="1"/>
          <p:nvPr/>
        </p:nvSpPr>
        <p:spPr>
          <a:xfrm>
            <a:off x="1298448" y="1581912"/>
            <a:ext cx="4389120" cy="274320"/>
          </a:xfrm>
          <a:prstGeom prst="rect">
            <a:avLst/>
          </a:prstGeom>
          <a:noFill/>
          <a:ln/>
        </p:spPr>
        <p:txBody>
          <a:bodyPr wrap="square" lIns="0" tIns="0" rIns="0" bIns="0" rtlCol="0" anchor="t"/>
          <a:lstStyle/>
          <a:p>
            <a:pPr indent="0" marL="0">
              <a:buNone/>
            </a:pPr>
            <a:r>
              <a:rPr lang="en-US" sz="1350" b="1" dirty="0">
                <a:solidFill>
                  <a:srgbClr val="13202F"/>
                </a:solidFill>
                <a:latin typeface="Calibri" pitchFamily="34" charset="0"/>
                <a:ea typeface="Calibri" pitchFamily="34" charset="-122"/>
                <a:cs typeface="Calibri" pitchFamily="34" charset="-120"/>
              </a:rPr>
              <a:t>ULPIN minting</a:t>
            </a:r>
            <a:endParaRPr lang="en-US" sz="1350" dirty="0"/>
          </a:p>
        </p:txBody>
      </p:sp>
      <p:sp>
        <p:nvSpPr>
          <p:cNvPr id="9" name="Text 6"/>
          <p:cNvSpPr txBox="1"/>
          <p:nvPr/>
        </p:nvSpPr>
        <p:spPr>
          <a:xfrm>
            <a:off x="1298448" y="1865376"/>
            <a:ext cx="4443984" cy="512064"/>
          </a:xfrm>
          <a:prstGeom prst="rect">
            <a:avLst/>
          </a:prstGeom>
          <a:noFill/>
          <a:ln/>
        </p:spPr>
        <p:txBody>
          <a:bodyPr wrap="square" lIns="0" tIns="0" rIns="0" bIns="0" rtlCol="0" anchor="t"/>
          <a:lstStyle/>
          <a:p>
            <a:pPr indent="0" marL="0">
              <a:lnSpc>
                <a:spcPts val="1400"/>
              </a:lnSpc>
              <a:buNone/>
            </a:pPr>
            <a:r>
              <a:rPr lang="en-US" sz="1050" dirty="0">
                <a:solidFill>
                  <a:srgbClr val="5C6B7A"/>
                </a:solidFill>
                <a:latin typeface="Calibri" pitchFamily="34" charset="0"/>
                <a:ea typeface="Calibri" pitchFamily="34" charset="-122"/>
                <a:cs typeface="Calibri" pitchFamily="34" charset="-120"/>
              </a:rPr>
              <a:t>Bhu-Aadhaar identity stable under re-survey, unique by construction, checksum-protected</a:t>
            </a:r>
            <a:endParaRPr lang="en-US" sz="1050" dirty="0"/>
          </a:p>
        </p:txBody>
      </p:sp>
      <p:sp>
        <p:nvSpPr>
          <p:cNvPr id="10" name="Shape 7"/>
          <p:cNvSpPr/>
          <p:nvPr/>
        </p:nvSpPr>
        <p:spPr>
          <a:xfrm>
            <a:off x="6254496" y="1481328"/>
            <a:ext cx="5340096" cy="932688"/>
          </a:xfrm>
          <a:prstGeom prst="roundRect">
            <a:avLst>
              <a:gd name="adj" fmla="val 7843"/>
            </a:avLst>
          </a:prstGeom>
          <a:solidFill>
            <a:srgbClr val="EEF2F5"/>
          </a:solidFill>
          <a:ln w="12700">
            <a:solidFill>
              <a:srgbClr val="EEF2F5"/>
            </a:solidFill>
            <a:prstDash val="solid"/>
          </a:ln>
        </p:spPr>
      </p:sp>
      <p:sp>
        <p:nvSpPr>
          <p:cNvPr id="11" name="Shape 8"/>
          <p:cNvSpPr/>
          <p:nvPr/>
        </p:nvSpPr>
        <p:spPr>
          <a:xfrm>
            <a:off x="6473952" y="1746504"/>
            <a:ext cx="402336" cy="402336"/>
          </a:xfrm>
          <a:prstGeom prst="ellipse">
            <a:avLst/>
          </a:prstGeom>
          <a:solidFill>
            <a:srgbClr val="0F6E5F"/>
          </a:solidFill>
          <a:ln w="12700">
            <a:solidFill>
              <a:srgbClr val="0F6E5F"/>
            </a:solidFill>
            <a:prstDash val="solid"/>
          </a:ln>
        </p:spPr>
      </p:sp>
      <p:sp>
        <p:nvSpPr>
          <p:cNvPr id="12" name="Text 9"/>
          <p:cNvSpPr txBox="1"/>
          <p:nvPr/>
        </p:nvSpPr>
        <p:spPr>
          <a:xfrm>
            <a:off x="6473952" y="174650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3" name="Text 10"/>
          <p:cNvSpPr txBox="1"/>
          <p:nvPr/>
        </p:nvSpPr>
        <p:spPr>
          <a:xfrm>
            <a:off x="6986016" y="1581912"/>
            <a:ext cx="4389120" cy="274320"/>
          </a:xfrm>
          <a:prstGeom prst="rect">
            <a:avLst/>
          </a:prstGeom>
          <a:noFill/>
          <a:ln/>
        </p:spPr>
        <p:txBody>
          <a:bodyPr wrap="square" lIns="0" tIns="0" rIns="0" bIns="0" rtlCol="0" anchor="t"/>
          <a:lstStyle/>
          <a:p>
            <a:pPr indent="0" marL="0">
              <a:buNone/>
            </a:pPr>
            <a:r>
              <a:rPr lang="en-US" sz="1350" b="1" dirty="0">
                <a:solidFill>
                  <a:srgbClr val="13202F"/>
                </a:solidFill>
                <a:latin typeface="Calibri" pitchFamily="34" charset="0"/>
                <a:ea typeface="Calibri" pitchFamily="34" charset="-122"/>
                <a:cs typeface="Calibri" pitchFamily="34" charset="-120"/>
              </a:rPr>
              <a:t>Verifiable ledger</a:t>
            </a:r>
            <a:endParaRPr lang="en-US" sz="1350" dirty="0"/>
          </a:p>
        </p:txBody>
      </p:sp>
      <p:sp>
        <p:nvSpPr>
          <p:cNvPr id="14" name="Text 11"/>
          <p:cNvSpPr txBox="1"/>
          <p:nvPr/>
        </p:nvSpPr>
        <p:spPr>
          <a:xfrm>
            <a:off x="6986016" y="1865376"/>
            <a:ext cx="4443984" cy="512064"/>
          </a:xfrm>
          <a:prstGeom prst="rect">
            <a:avLst/>
          </a:prstGeom>
          <a:noFill/>
          <a:ln/>
        </p:spPr>
        <p:txBody>
          <a:bodyPr wrap="square" lIns="0" tIns="0" rIns="0" bIns="0" rtlCol="0" anchor="t"/>
          <a:lstStyle/>
          <a:p>
            <a:pPr indent="0" marL="0">
              <a:lnSpc>
                <a:spcPts val="1400"/>
              </a:lnSpc>
              <a:buNone/>
            </a:pPr>
            <a:r>
              <a:rPr lang="en-US" sz="1050" dirty="0">
                <a:solidFill>
                  <a:srgbClr val="5C6B7A"/>
                </a:solidFill>
                <a:latin typeface="Calibri" pitchFamily="34" charset="0"/>
                <a:ea typeface="Calibri" pitchFamily="34" charset="-122"/>
                <a:cs typeface="Calibri" pitchFamily="34" charset="-120"/>
              </a:rPr>
              <a:t>Hash-chained with Merkle proofs — a citizen can verify their own record independently</a:t>
            </a:r>
            <a:endParaRPr lang="en-US" sz="1050" dirty="0"/>
          </a:p>
        </p:txBody>
      </p:sp>
      <p:sp>
        <p:nvSpPr>
          <p:cNvPr id="15" name="Shape 12"/>
          <p:cNvSpPr/>
          <p:nvPr/>
        </p:nvSpPr>
        <p:spPr>
          <a:xfrm>
            <a:off x="566928" y="2688336"/>
            <a:ext cx="5340096" cy="932688"/>
          </a:xfrm>
          <a:prstGeom prst="roundRect">
            <a:avLst>
              <a:gd name="adj" fmla="val 7843"/>
            </a:avLst>
          </a:prstGeom>
          <a:solidFill>
            <a:srgbClr val="E3EAF0"/>
          </a:solidFill>
          <a:ln w="12700">
            <a:solidFill>
              <a:srgbClr val="E3EAF0"/>
            </a:solidFill>
            <a:prstDash val="solid"/>
          </a:ln>
        </p:spPr>
      </p:sp>
      <p:sp>
        <p:nvSpPr>
          <p:cNvPr id="16" name="Shape 13"/>
          <p:cNvSpPr/>
          <p:nvPr/>
        </p:nvSpPr>
        <p:spPr>
          <a:xfrm>
            <a:off x="786384" y="2953512"/>
            <a:ext cx="402336" cy="402336"/>
          </a:xfrm>
          <a:prstGeom prst="ellipse">
            <a:avLst/>
          </a:prstGeom>
          <a:solidFill>
            <a:srgbClr val="0F6E5F"/>
          </a:solidFill>
          <a:ln w="12700">
            <a:solidFill>
              <a:srgbClr val="0F6E5F"/>
            </a:solidFill>
            <a:prstDash val="solid"/>
          </a:ln>
        </p:spPr>
      </p:sp>
      <p:sp>
        <p:nvSpPr>
          <p:cNvPr id="17" name="Text 14"/>
          <p:cNvSpPr txBox="1"/>
          <p:nvPr/>
        </p:nvSpPr>
        <p:spPr>
          <a:xfrm>
            <a:off x="786384" y="295351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8" name="Text 15"/>
          <p:cNvSpPr txBox="1"/>
          <p:nvPr/>
        </p:nvSpPr>
        <p:spPr>
          <a:xfrm>
            <a:off x="1298448" y="2788920"/>
            <a:ext cx="4389120" cy="274320"/>
          </a:xfrm>
          <a:prstGeom prst="rect">
            <a:avLst/>
          </a:prstGeom>
          <a:noFill/>
          <a:ln/>
        </p:spPr>
        <p:txBody>
          <a:bodyPr wrap="square" lIns="0" tIns="0" rIns="0" bIns="0" rtlCol="0" anchor="t"/>
          <a:lstStyle/>
          <a:p>
            <a:pPr indent="0" marL="0">
              <a:buNone/>
            </a:pPr>
            <a:r>
              <a:rPr lang="en-US" sz="1350" b="1" dirty="0">
                <a:solidFill>
                  <a:srgbClr val="13202F"/>
                </a:solidFill>
                <a:latin typeface="Calibri" pitchFamily="34" charset="0"/>
                <a:ea typeface="Calibri" pitchFamily="34" charset="-122"/>
                <a:cs typeface="Calibri" pitchFamily="34" charset="-120"/>
              </a:rPr>
              <a:t>Encroachment intelligence</a:t>
            </a:r>
            <a:endParaRPr lang="en-US" sz="1350" dirty="0"/>
          </a:p>
        </p:txBody>
      </p:sp>
      <p:sp>
        <p:nvSpPr>
          <p:cNvPr id="19" name="Text 16"/>
          <p:cNvSpPr txBox="1"/>
          <p:nvPr/>
        </p:nvSpPr>
        <p:spPr>
          <a:xfrm>
            <a:off x="1298448" y="3072384"/>
            <a:ext cx="4443984" cy="512064"/>
          </a:xfrm>
          <a:prstGeom prst="rect">
            <a:avLst/>
          </a:prstGeom>
          <a:noFill/>
          <a:ln/>
        </p:spPr>
        <p:txBody>
          <a:bodyPr wrap="square" lIns="0" tIns="0" rIns="0" bIns="0" rtlCol="0" anchor="t"/>
          <a:lstStyle/>
          <a:p>
            <a:pPr indent="0" marL="0">
              <a:lnSpc>
                <a:spcPts val="1400"/>
              </a:lnSpc>
              <a:buNone/>
            </a:pPr>
            <a:r>
              <a:rPr lang="en-US" sz="1050" dirty="0">
                <a:solidFill>
                  <a:srgbClr val="5C6B7A"/>
                </a:solidFill>
                <a:latin typeface="Calibri" pitchFamily="34" charset="0"/>
                <a:ea typeface="Calibri" pitchFamily="34" charset="-122"/>
                <a:cs typeface="Calibri" pitchFamily="34" charset="-120"/>
              </a:rPr>
              <a:t>Change detection on poramboke land, reported as findings for verification</a:t>
            </a:r>
            <a:endParaRPr lang="en-US" sz="1050" dirty="0"/>
          </a:p>
        </p:txBody>
      </p:sp>
      <p:sp>
        <p:nvSpPr>
          <p:cNvPr id="20" name="Shape 17"/>
          <p:cNvSpPr/>
          <p:nvPr/>
        </p:nvSpPr>
        <p:spPr>
          <a:xfrm>
            <a:off x="6254496" y="2688336"/>
            <a:ext cx="5340096" cy="932688"/>
          </a:xfrm>
          <a:prstGeom prst="roundRect">
            <a:avLst>
              <a:gd name="adj" fmla="val 7843"/>
            </a:avLst>
          </a:prstGeom>
          <a:solidFill>
            <a:srgbClr val="E3EAF0"/>
          </a:solidFill>
          <a:ln w="12700">
            <a:solidFill>
              <a:srgbClr val="E3EAF0"/>
            </a:solidFill>
            <a:prstDash val="solid"/>
          </a:ln>
        </p:spPr>
      </p:sp>
      <p:sp>
        <p:nvSpPr>
          <p:cNvPr id="21" name="Shape 18"/>
          <p:cNvSpPr/>
          <p:nvPr/>
        </p:nvSpPr>
        <p:spPr>
          <a:xfrm>
            <a:off x="6473952" y="2953512"/>
            <a:ext cx="402336" cy="402336"/>
          </a:xfrm>
          <a:prstGeom prst="ellipse">
            <a:avLst/>
          </a:prstGeom>
          <a:solidFill>
            <a:srgbClr val="0F6E5F"/>
          </a:solidFill>
          <a:ln w="12700">
            <a:solidFill>
              <a:srgbClr val="0F6E5F"/>
            </a:solidFill>
            <a:prstDash val="solid"/>
          </a:ln>
        </p:spPr>
      </p:sp>
      <p:sp>
        <p:nvSpPr>
          <p:cNvPr id="22" name="Text 19"/>
          <p:cNvSpPr txBox="1"/>
          <p:nvPr/>
        </p:nvSpPr>
        <p:spPr>
          <a:xfrm>
            <a:off x="6473952" y="295351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23" name="Text 20"/>
          <p:cNvSpPr txBox="1"/>
          <p:nvPr/>
        </p:nvSpPr>
        <p:spPr>
          <a:xfrm>
            <a:off x="6986016" y="2788920"/>
            <a:ext cx="4389120" cy="274320"/>
          </a:xfrm>
          <a:prstGeom prst="rect">
            <a:avLst/>
          </a:prstGeom>
          <a:noFill/>
          <a:ln/>
        </p:spPr>
        <p:txBody>
          <a:bodyPr wrap="square" lIns="0" tIns="0" rIns="0" bIns="0" rtlCol="0" anchor="t"/>
          <a:lstStyle/>
          <a:p>
            <a:pPr indent="0" marL="0">
              <a:buNone/>
            </a:pPr>
            <a:r>
              <a:rPr lang="en-US" sz="1350" b="1" dirty="0">
                <a:solidFill>
                  <a:srgbClr val="13202F"/>
                </a:solidFill>
                <a:latin typeface="Calibri" pitchFamily="34" charset="0"/>
                <a:ea typeface="Calibri" pitchFamily="34" charset="-122"/>
                <a:cs typeface="Calibri" pitchFamily="34" charset="-120"/>
              </a:rPr>
              <a:t>Area reconciliation</a:t>
            </a:r>
            <a:endParaRPr lang="en-US" sz="1350" dirty="0"/>
          </a:p>
        </p:txBody>
      </p:sp>
      <p:sp>
        <p:nvSpPr>
          <p:cNvPr id="24" name="Text 21"/>
          <p:cNvSpPr txBox="1"/>
          <p:nvPr/>
        </p:nvSpPr>
        <p:spPr>
          <a:xfrm>
            <a:off x="6986016" y="3072384"/>
            <a:ext cx="4443984" cy="512064"/>
          </a:xfrm>
          <a:prstGeom prst="rect">
            <a:avLst/>
          </a:prstGeom>
          <a:noFill/>
          <a:ln/>
        </p:spPr>
        <p:txBody>
          <a:bodyPr wrap="square" lIns="0" tIns="0" rIns="0" bIns="0" rtlCol="0" anchor="t"/>
          <a:lstStyle/>
          <a:p>
            <a:pPr indent="0" marL="0">
              <a:lnSpc>
                <a:spcPts val="1400"/>
              </a:lnSpc>
              <a:buNone/>
            </a:pPr>
            <a:r>
              <a:rPr lang="en-US" sz="1050" dirty="0">
                <a:solidFill>
                  <a:srgbClr val="5C6B7A"/>
                </a:solidFill>
                <a:latin typeface="Calibri" pitchFamily="34" charset="0"/>
                <a:ea typeface="Calibri" pitchFamily="34" charset="-122"/>
                <a:cs typeface="Calibri" pitchFamily="34" charset="-120"/>
              </a:rPr>
              <a:t>Recorded vs geodesic extent, in acre-cent, ground, guntha, kanal</a:t>
            </a:r>
            <a:endParaRPr lang="en-US" sz="1050" dirty="0"/>
          </a:p>
        </p:txBody>
      </p:sp>
      <p:sp>
        <p:nvSpPr>
          <p:cNvPr id="25" name="Shape 22"/>
          <p:cNvSpPr/>
          <p:nvPr/>
        </p:nvSpPr>
        <p:spPr>
          <a:xfrm>
            <a:off x="566928" y="3895344"/>
            <a:ext cx="5340096" cy="932688"/>
          </a:xfrm>
          <a:prstGeom prst="roundRect">
            <a:avLst>
              <a:gd name="adj" fmla="val 7843"/>
            </a:avLst>
          </a:prstGeom>
          <a:solidFill>
            <a:srgbClr val="EEF2F5"/>
          </a:solidFill>
          <a:ln w="12700">
            <a:solidFill>
              <a:srgbClr val="EEF2F5"/>
            </a:solidFill>
            <a:prstDash val="solid"/>
          </a:ln>
        </p:spPr>
      </p:sp>
      <p:sp>
        <p:nvSpPr>
          <p:cNvPr id="26" name="Shape 23"/>
          <p:cNvSpPr/>
          <p:nvPr/>
        </p:nvSpPr>
        <p:spPr>
          <a:xfrm>
            <a:off x="786384" y="4160520"/>
            <a:ext cx="402336" cy="402336"/>
          </a:xfrm>
          <a:prstGeom prst="ellipse">
            <a:avLst/>
          </a:prstGeom>
          <a:solidFill>
            <a:srgbClr val="0F6E5F"/>
          </a:solidFill>
          <a:ln w="12700">
            <a:solidFill>
              <a:srgbClr val="0F6E5F"/>
            </a:solidFill>
            <a:prstDash val="solid"/>
          </a:ln>
        </p:spPr>
      </p:sp>
      <p:sp>
        <p:nvSpPr>
          <p:cNvPr id="27" name="Text 24"/>
          <p:cNvSpPr txBox="1"/>
          <p:nvPr/>
        </p:nvSpPr>
        <p:spPr>
          <a:xfrm>
            <a:off x="786384" y="416052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28" name="Text 25"/>
          <p:cNvSpPr txBox="1"/>
          <p:nvPr/>
        </p:nvSpPr>
        <p:spPr>
          <a:xfrm>
            <a:off x="1298448" y="3995928"/>
            <a:ext cx="4389120" cy="274320"/>
          </a:xfrm>
          <a:prstGeom prst="rect">
            <a:avLst/>
          </a:prstGeom>
          <a:noFill/>
          <a:ln/>
        </p:spPr>
        <p:txBody>
          <a:bodyPr wrap="square" lIns="0" tIns="0" rIns="0" bIns="0" rtlCol="0" anchor="t"/>
          <a:lstStyle/>
          <a:p>
            <a:pPr indent="0" marL="0">
              <a:buNone/>
            </a:pPr>
            <a:r>
              <a:rPr lang="en-US" sz="1350" b="1" dirty="0">
                <a:solidFill>
                  <a:srgbClr val="13202F"/>
                </a:solidFill>
                <a:latin typeface="Calibri" pitchFamily="34" charset="0"/>
                <a:ea typeface="Calibri" pitchFamily="34" charset="-122"/>
                <a:cs typeface="Calibri" pitchFamily="34" charset="-120"/>
              </a:rPr>
              <a:t>Active learning</a:t>
            </a:r>
            <a:endParaRPr lang="en-US" sz="1350" dirty="0"/>
          </a:p>
        </p:txBody>
      </p:sp>
      <p:sp>
        <p:nvSpPr>
          <p:cNvPr id="29" name="Text 26"/>
          <p:cNvSpPr txBox="1"/>
          <p:nvPr/>
        </p:nvSpPr>
        <p:spPr>
          <a:xfrm>
            <a:off x="1298448" y="4279392"/>
            <a:ext cx="4443984" cy="512064"/>
          </a:xfrm>
          <a:prstGeom prst="rect">
            <a:avLst/>
          </a:prstGeom>
          <a:noFill/>
          <a:ln/>
        </p:spPr>
        <p:txBody>
          <a:bodyPr wrap="square" lIns="0" tIns="0" rIns="0" bIns="0" rtlCol="0" anchor="t"/>
          <a:lstStyle/>
          <a:p>
            <a:pPr indent="0" marL="0">
              <a:lnSpc>
                <a:spcPts val="1400"/>
              </a:lnSpc>
              <a:buNone/>
            </a:pPr>
            <a:r>
              <a:rPr lang="en-US" sz="1050" dirty="0">
                <a:solidFill>
                  <a:srgbClr val="5C6B7A"/>
                </a:solidFill>
                <a:latin typeface="Calibri" pitchFamily="34" charset="0"/>
                <a:ea typeface="Calibri" pitchFamily="34" charset="-122"/>
                <a:cs typeface="Calibri" pitchFamily="34" charset="-120"/>
              </a:rPr>
              <a:t>Every adjudication updates that source's empirical reliability, Bayesian-style</a:t>
            </a:r>
            <a:endParaRPr lang="en-US" sz="1050" dirty="0"/>
          </a:p>
        </p:txBody>
      </p:sp>
      <p:sp>
        <p:nvSpPr>
          <p:cNvPr id="30" name="Shape 27"/>
          <p:cNvSpPr/>
          <p:nvPr/>
        </p:nvSpPr>
        <p:spPr>
          <a:xfrm>
            <a:off x="6254496" y="3895344"/>
            <a:ext cx="5340096" cy="932688"/>
          </a:xfrm>
          <a:prstGeom prst="roundRect">
            <a:avLst>
              <a:gd name="adj" fmla="val 7843"/>
            </a:avLst>
          </a:prstGeom>
          <a:solidFill>
            <a:srgbClr val="EEF2F5"/>
          </a:solidFill>
          <a:ln w="12700">
            <a:solidFill>
              <a:srgbClr val="EEF2F5"/>
            </a:solidFill>
            <a:prstDash val="solid"/>
          </a:ln>
        </p:spPr>
      </p:sp>
      <p:sp>
        <p:nvSpPr>
          <p:cNvPr id="31" name="Shape 28"/>
          <p:cNvSpPr/>
          <p:nvPr/>
        </p:nvSpPr>
        <p:spPr>
          <a:xfrm>
            <a:off x="6473952" y="4160520"/>
            <a:ext cx="402336" cy="402336"/>
          </a:xfrm>
          <a:prstGeom prst="ellipse">
            <a:avLst/>
          </a:prstGeom>
          <a:solidFill>
            <a:srgbClr val="0F6E5F"/>
          </a:solidFill>
          <a:ln w="12700">
            <a:solidFill>
              <a:srgbClr val="0F6E5F"/>
            </a:solidFill>
            <a:prstDash val="solid"/>
          </a:ln>
        </p:spPr>
      </p:sp>
      <p:sp>
        <p:nvSpPr>
          <p:cNvPr id="32" name="Text 29"/>
          <p:cNvSpPr txBox="1"/>
          <p:nvPr/>
        </p:nvSpPr>
        <p:spPr>
          <a:xfrm>
            <a:off x="6473952" y="416052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33" name="Text 30"/>
          <p:cNvSpPr txBox="1"/>
          <p:nvPr/>
        </p:nvSpPr>
        <p:spPr>
          <a:xfrm>
            <a:off x="6986016" y="3995928"/>
            <a:ext cx="4389120" cy="274320"/>
          </a:xfrm>
          <a:prstGeom prst="rect">
            <a:avLst/>
          </a:prstGeom>
          <a:noFill/>
          <a:ln/>
        </p:spPr>
        <p:txBody>
          <a:bodyPr wrap="square" lIns="0" tIns="0" rIns="0" bIns="0" rtlCol="0" anchor="t"/>
          <a:lstStyle/>
          <a:p>
            <a:pPr indent="0" marL="0">
              <a:buNone/>
            </a:pPr>
            <a:r>
              <a:rPr lang="en-US" sz="1350" b="1" dirty="0">
                <a:solidFill>
                  <a:srgbClr val="13202F"/>
                </a:solidFill>
                <a:latin typeface="Calibri" pitchFamily="34" charset="0"/>
                <a:ea typeface="Calibri" pitchFamily="34" charset="-122"/>
                <a:cs typeface="Calibri" pitchFamily="34" charset="-120"/>
              </a:rPr>
              <a:t>LOD1 3-D city model</a:t>
            </a:r>
            <a:endParaRPr lang="en-US" sz="1350" dirty="0"/>
          </a:p>
        </p:txBody>
      </p:sp>
      <p:sp>
        <p:nvSpPr>
          <p:cNvPr id="34" name="Text 31"/>
          <p:cNvSpPr txBox="1"/>
          <p:nvPr/>
        </p:nvSpPr>
        <p:spPr>
          <a:xfrm>
            <a:off x="6986016" y="4279392"/>
            <a:ext cx="4443984" cy="512064"/>
          </a:xfrm>
          <a:prstGeom prst="rect">
            <a:avLst/>
          </a:prstGeom>
          <a:noFill/>
          <a:ln/>
        </p:spPr>
        <p:txBody>
          <a:bodyPr wrap="square" lIns="0" tIns="0" rIns="0" bIns="0" rtlCol="0" anchor="t"/>
          <a:lstStyle/>
          <a:p>
            <a:pPr indent="0" marL="0">
              <a:lnSpc>
                <a:spcPts val="1400"/>
              </a:lnSpc>
              <a:buNone/>
            </a:pPr>
            <a:r>
              <a:rPr lang="en-US" sz="1050" dirty="0">
                <a:solidFill>
                  <a:srgbClr val="5C6B7A"/>
                </a:solidFill>
                <a:latin typeface="Calibri" pitchFamily="34" charset="0"/>
                <a:ea typeface="Calibri" pitchFamily="34" charset="-122"/>
                <a:cs typeface="Calibri" pitchFamily="34" charset="-120"/>
              </a:rPr>
              <a:t>CityJSON from harmonised footprints and measured heights; FSI and coverage checks</a:t>
            </a:r>
            <a:endParaRPr lang="en-US" sz="1050" dirty="0"/>
          </a:p>
        </p:txBody>
      </p:sp>
      <p:sp>
        <p:nvSpPr>
          <p:cNvPr id="35" name="Shape 32"/>
          <p:cNvSpPr/>
          <p:nvPr/>
        </p:nvSpPr>
        <p:spPr>
          <a:xfrm>
            <a:off x="566928" y="5102352"/>
            <a:ext cx="5340096" cy="932688"/>
          </a:xfrm>
          <a:prstGeom prst="roundRect">
            <a:avLst>
              <a:gd name="adj" fmla="val 7843"/>
            </a:avLst>
          </a:prstGeom>
          <a:solidFill>
            <a:srgbClr val="E3EAF0"/>
          </a:solidFill>
          <a:ln w="12700">
            <a:solidFill>
              <a:srgbClr val="E3EAF0"/>
            </a:solidFill>
            <a:prstDash val="solid"/>
          </a:ln>
        </p:spPr>
      </p:sp>
      <p:sp>
        <p:nvSpPr>
          <p:cNvPr id="36" name="Shape 33"/>
          <p:cNvSpPr/>
          <p:nvPr/>
        </p:nvSpPr>
        <p:spPr>
          <a:xfrm>
            <a:off x="786384" y="5367528"/>
            <a:ext cx="402336" cy="402336"/>
          </a:xfrm>
          <a:prstGeom prst="ellipse">
            <a:avLst/>
          </a:prstGeom>
          <a:solidFill>
            <a:srgbClr val="0F6E5F"/>
          </a:solidFill>
          <a:ln w="12700">
            <a:solidFill>
              <a:srgbClr val="0F6E5F"/>
            </a:solidFill>
            <a:prstDash val="solid"/>
          </a:ln>
        </p:spPr>
      </p:sp>
      <p:sp>
        <p:nvSpPr>
          <p:cNvPr id="37" name="Text 34"/>
          <p:cNvSpPr txBox="1"/>
          <p:nvPr/>
        </p:nvSpPr>
        <p:spPr>
          <a:xfrm>
            <a:off x="786384" y="53675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38" name="Text 35"/>
          <p:cNvSpPr txBox="1"/>
          <p:nvPr/>
        </p:nvSpPr>
        <p:spPr>
          <a:xfrm>
            <a:off x="1298448" y="5202936"/>
            <a:ext cx="4389120" cy="274320"/>
          </a:xfrm>
          <a:prstGeom prst="rect">
            <a:avLst/>
          </a:prstGeom>
          <a:noFill/>
          <a:ln/>
        </p:spPr>
        <p:txBody>
          <a:bodyPr wrap="square" lIns="0" tIns="0" rIns="0" bIns="0" rtlCol="0" anchor="t"/>
          <a:lstStyle/>
          <a:p>
            <a:pPr indent="0" marL="0">
              <a:buNone/>
            </a:pPr>
            <a:r>
              <a:rPr lang="en-US" sz="1350" b="1" dirty="0">
                <a:solidFill>
                  <a:srgbClr val="13202F"/>
                </a:solidFill>
                <a:latin typeface="Calibri" pitchFamily="34" charset="0"/>
                <a:ea typeface="Calibri" pitchFamily="34" charset="-122"/>
                <a:cs typeface="Calibri" pitchFamily="34" charset="-120"/>
              </a:rPr>
              <a:t>Subscription bus</a:t>
            </a:r>
            <a:endParaRPr lang="en-US" sz="1350" dirty="0"/>
          </a:p>
        </p:txBody>
      </p:sp>
      <p:sp>
        <p:nvSpPr>
          <p:cNvPr id="39" name="Text 36"/>
          <p:cNvSpPr txBox="1"/>
          <p:nvPr/>
        </p:nvSpPr>
        <p:spPr>
          <a:xfrm>
            <a:off x="1298448" y="5486400"/>
            <a:ext cx="4443984" cy="512064"/>
          </a:xfrm>
          <a:prstGeom prst="rect">
            <a:avLst/>
          </a:prstGeom>
          <a:noFill/>
          <a:ln/>
        </p:spPr>
        <p:txBody>
          <a:bodyPr wrap="square" lIns="0" tIns="0" rIns="0" bIns="0" rtlCol="0" anchor="t"/>
          <a:lstStyle/>
          <a:p>
            <a:pPr indent="0" marL="0">
              <a:lnSpc>
                <a:spcPts val="1400"/>
              </a:lnSpc>
              <a:buNone/>
            </a:pPr>
            <a:r>
              <a:rPr lang="en-US" sz="1050" dirty="0">
                <a:solidFill>
                  <a:srgbClr val="5C6B7A"/>
                </a:solidFill>
                <a:latin typeface="Calibri" pitchFamily="34" charset="0"/>
                <a:ea typeface="Calibri" pitchFamily="34" charset="-122"/>
                <a:cs typeface="Calibri" pitchFamily="34" charset="-120"/>
              </a:rPr>
              <a:t>A utility agency is told the moment a parcel it depends on changes</a:t>
            </a:r>
            <a:endParaRPr lang="en-US" sz="1050" dirty="0"/>
          </a:p>
        </p:txBody>
      </p:sp>
      <p:sp>
        <p:nvSpPr>
          <p:cNvPr id="40" name="Shape 37"/>
          <p:cNvSpPr/>
          <p:nvPr/>
        </p:nvSpPr>
        <p:spPr>
          <a:xfrm>
            <a:off x="6254496" y="5102352"/>
            <a:ext cx="5340096" cy="932688"/>
          </a:xfrm>
          <a:prstGeom prst="roundRect">
            <a:avLst>
              <a:gd name="adj" fmla="val 7843"/>
            </a:avLst>
          </a:prstGeom>
          <a:solidFill>
            <a:srgbClr val="E3EAF0"/>
          </a:solidFill>
          <a:ln w="12700">
            <a:solidFill>
              <a:srgbClr val="E3EAF0"/>
            </a:solidFill>
            <a:prstDash val="solid"/>
          </a:ln>
        </p:spPr>
      </p:sp>
      <p:sp>
        <p:nvSpPr>
          <p:cNvPr id="41" name="Shape 38"/>
          <p:cNvSpPr/>
          <p:nvPr/>
        </p:nvSpPr>
        <p:spPr>
          <a:xfrm>
            <a:off x="6473952" y="5367528"/>
            <a:ext cx="402336" cy="402336"/>
          </a:xfrm>
          <a:prstGeom prst="ellipse">
            <a:avLst/>
          </a:prstGeom>
          <a:solidFill>
            <a:srgbClr val="0F6E5F"/>
          </a:solidFill>
          <a:ln w="12700">
            <a:solidFill>
              <a:srgbClr val="0F6E5F"/>
            </a:solidFill>
            <a:prstDash val="solid"/>
          </a:ln>
        </p:spPr>
      </p:sp>
      <p:sp>
        <p:nvSpPr>
          <p:cNvPr id="42" name="Text 39"/>
          <p:cNvSpPr txBox="1"/>
          <p:nvPr/>
        </p:nvSpPr>
        <p:spPr>
          <a:xfrm>
            <a:off x="6473952" y="53675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43" name="Text 40"/>
          <p:cNvSpPr txBox="1"/>
          <p:nvPr/>
        </p:nvSpPr>
        <p:spPr>
          <a:xfrm>
            <a:off x="6986016" y="5202936"/>
            <a:ext cx="4389120" cy="274320"/>
          </a:xfrm>
          <a:prstGeom prst="rect">
            <a:avLst/>
          </a:prstGeom>
          <a:noFill/>
          <a:ln/>
        </p:spPr>
        <p:txBody>
          <a:bodyPr wrap="square" lIns="0" tIns="0" rIns="0" bIns="0" rtlCol="0" anchor="t"/>
          <a:lstStyle/>
          <a:p>
            <a:pPr indent="0" marL="0">
              <a:buNone/>
            </a:pPr>
            <a:r>
              <a:rPr lang="en-US" sz="1350" b="1" dirty="0">
                <a:solidFill>
                  <a:srgbClr val="13202F"/>
                </a:solidFill>
                <a:latin typeface="Calibri" pitchFamily="34" charset="0"/>
                <a:ea typeface="Calibri" pitchFamily="34" charset="-122"/>
                <a:cs typeface="Calibri" pitchFamily="34" charset="-120"/>
              </a:rPr>
              <a:t>DPDP-aware PII</a:t>
            </a:r>
            <a:endParaRPr lang="en-US" sz="1350" dirty="0"/>
          </a:p>
        </p:txBody>
      </p:sp>
      <p:sp>
        <p:nvSpPr>
          <p:cNvPr id="44" name="Text 41"/>
          <p:cNvSpPr txBox="1"/>
          <p:nvPr/>
        </p:nvSpPr>
        <p:spPr>
          <a:xfrm>
            <a:off x="6986016" y="5486400"/>
            <a:ext cx="4443984" cy="512064"/>
          </a:xfrm>
          <a:prstGeom prst="rect">
            <a:avLst/>
          </a:prstGeom>
          <a:noFill/>
          <a:ln/>
        </p:spPr>
        <p:txBody>
          <a:bodyPr wrap="square" lIns="0" tIns="0" rIns="0" bIns="0" rtlCol="0" anchor="t"/>
          <a:lstStyle/>
          <a:p>
            <a:pPr indent="0" marL="0">
              <a:lnSpc>
                <a:spcPts val="1400"/>
              </a:lnSpc>
              <a:buNone/>
            </a:pPr>
            <a:r>
              <a:rPr lang="en-US" sz="1050" dirty="0">
                <a:solidFill>
                  <a:srgbClr val="5C6B7A"/>
                </a:solidFill>
                <a:latin typeface="Calibri" pitchFamily="34" charset="0"/>
                <a:ea typeface="Calibri" pitchFamily="34" charset="-122"/>
                <a:cs typeface="Calibri" pitchFamily="34" charset="-120"/>
              </a:rPr>
              <a:t>Owner data absent from the feature API; purpose-bound and ledger-logged</a:t>
            </a:r>
            <a:endParaRPr lang="en-US" sz="1050" dirty="0"/>
          </a:p>
        </p:txBody>
      </p:sp>
      <p:sp>
        <p:nvSpPr>
          <p:cNvPr id="45" name="Text 42"/>
          <p:cNvSpPr txBox="1"/>
          <p:nvPr/>
        </p:nvSpPr>
        <p:spPr>
          <a:xfrm>
            <a:off x="566928" y="6400800"/>
            <a:ext cx="11064240" cy="274320"/>
          </a:xfrm>
          <a:prstGeom prst="rect">
            <a:avLst/>
          </a:prstGeom>
          <a:noFill/>
          <a:ln/>
        </p:spPr>
        <p:txBody>
          <a:bodyPr wrap="square" lIns="0" tIns="0" rIns="0" bIns="0" rtlCol="0" anchor="t"/>
          <a:lstStyle/>
          <a:p>
            <a:pPr indent="0" marL="0">
              <a:buNone/>
            </a:pPr>
            <a:r>
              <a:rPr lang="en-US" sz="950" i="1" dirty="0">
                <a:solidFill>
                  <a:srgbClr val="5C6B7A"/>
                </a:solidFill>
                <a:latin typeface="Calibri" pitchFamily="34" charset="0"/>
                <a:ea typeface="Calibri" pitchFamily="34" charset="-122"/>
                <a:cs typeface="Calibri" pitchFamily="34" charset="-120"/>
              </a:rPr>
              <a:t>All eight are covered by the test suite — 81 tests, all passing.</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10896"/>
            <a:ext cx="10058400" cy="237744"/>
          </a:xfrm>
          <a:prstGeom prst="rect">
            <a:avLst/>
          </a:prstGeom>
          <a:noFill/>
          <a:ln/>
        </p:spPr>
        <p:txBody>
          <a:bodyPr wrap="square" lIns="0" tIns="0" rIns="0" bIns="0" rtlCol="0" anchor="t"/>
          <a:lstStyle/>
          <a:p>
            <a:pPr indent="0" marL="0">
              <a:buNone/>
            </a:pPr>
            <a:r>
              <a:rPr lang="en-US" sz="1100" b="1" spc="200" kern="0" dirty="0">
                <a:solidFill>
                  <a:srgbClr val="D9743B"/>
                </a:solidFill>
                <a:latin typeface="Calibri" pitchFamily="34" charset="0"/>
                <a:ea typeface="Calibri" pitchFamily="34" charset="-122"/>
                <a:cs typeface="Calibri" pitchFamily="34" charset="-120"/>
              </a:rPr>
              <a:t>FUTURE CAPABILITIES</a:t>
            </a:r>
            <a:endParaRPr lang="en-US" sz="1100" dirty="0"/>
          </a:p>
        </p:txBody>
      </p:sp>
      <p:sp>
        <p:nvSpPr>
          <p:cNvPr id="3" name="Text 1"/>
          <p:cNvSpPr txBox="1"/>
          <p:nvPr/>
        </p:nvSpPr>
        <p:spPr>
          <a:xfrm>
            <a:off x="566928" y="621792"/>
            <a:ext cx="11064240" cy="896112"/>
          </a:xfrm>
          <a:prstGeom prst="rect">
            <a:avLst/>
          </a:prstGeom>
          <a:noFill/>
          <a:ln/>
        </p:spPr>
        <p:txBody>
          <a:bodyPr wrap="square" lIns="0" tIns="0" rIns="0" bIns="0" rtlCol="0" anchor="t"/>
          <a:lstStyle/>
          <a:p>
            <a:pPr indent="0" marL="0">
              <a:buNone/>
            </a:pPr>
            <a:r>
              <a:rPr lang="en-US" sz="3000" b="1" dirty="0">
                <a:solidFill>
                  <a:srgbClr val="13202F"/>
                </a:solidFill>
                <a:latin typeface="Cambria" pitchFamily="34" charset="0"/>
                <a:ea typeface="Cambria" pitchFamily="34" charset="-122"/>
                <a:cs typeface="Cambria" pitchFamily="34" charset="-120"/>
              </a:rPr>
              <a:t>The Roadmap: Bridging AI and traditional workflows</a:t>
            </a:r>
            <a:endParaRPr lang="en-US" sz="3000" dirty="0"/>
          </a:p>
        </p:txBody>
      </p:sp>
      <p:sp>
        <p:nvSpPr>
          <p:cNvPr id="5" name="Shape 2"/>
          <p:cNvSpPr/>
          <p:nvPr/>
        </p:nvSpPr>
        <p:spPr>
          <a:xfrm>
            <a:off x="566928" y="1700784"/>
            <a:ext cx="4754880" cy="3657600"/>
          </a:xfrm>
          <a:prstGeom prst="roundRect">
            <a:avLst>
              <a:gd name="adj" fmla="val 2000"/>
            </a:avLst>
          </a:prstGeom>
          <a:solidFill>
            <a:srgbClr val="EEF2F5"/>
          </a:solidFill>
          <a:ln w="12700">
            <a:solidFill>
              <a:srgbClr val="EEF2F5"/>
            </a:solidFill>
            <a:prstDash val="solid"/>
          </a:ln>
        </p:spPr>
      </p:sp>
      <p:sp>
        <p:nvSpPr>
          <p:cNvPr id="6" name="Text 3"/>
          <p:cNvSpPr txBox="1"/>
          <p:nvPr/>
        </p:nvSpPr>
        <p:spPr>
          <a:xfrm>
            <a:off x="841248" y="1975104"/>
            <a:ext cx="4206240" cy="365760"/>
          </a:xfrm>
          <a:prstGeom prst="rect">
            <a:avLst/>
          </a:prstGeom>
          <a:noFill/>
          <a:ln/>
        </p:spPr>
        <p:txBody>
          <a:bodyPr wrap="square" lIns="0" tIns="0" rIns="0" bIns="0" rtlCol="0" anchor="t"/>
          <a:lstStyle/>
          <a:p>
            <a:pPr indent="0" marL="0">
              <a:buNone/>
            </a:pPr>
            <a:r>
              <a:rPr lang="en-US" sz="2400" b="1" dirty="0">
                <a:solidFill>
                  <a:srgbClr val="13202F"/>
                </a:solidFill>
                <a:latin typeface="Cambria" pitchFamily="34" charset="0"/>
                <a:ea typeface="Cambria" pitchFamily="34" charset="-122"/>
                <a:cs typeface="Cambria" pitchFamily="34" charset="-120"/>
              </a:rPr>
              <a:t>1. Generative Draft FMBs</a:t>
            </a:r>
            <a:endParaRPr lang="en-US" sz="2400" dirty="0"/>
          </a:p>
        </p:txBody>
      </p:sp>
      <p:sp>
        <p:nvSpPr>
          <p:cNvPr id="7" name="Text 4"/>
          <p:cNvSpPr txBox="1"/>
          <p:nvPr/>
        </p:nvSpPr>
        <p:spPr>
          <a:xfrm>
            <a:off x="841248" y="2432304"/>
            <a:ext cx="4206240" cy="2743200"/>
          </a:xfrm>
          <a:prstGeom prst="rect">
            <a:avLst/>
          </a:prstGeom>
          <a:noFill/>
          <a:ln/>
        </p:spPr>
        <p:txBody>
          <a:bodyPr wrap="square" lIns="0" tIns="0" rIns="0" bIns="0" rtlCol="0" anchor="t"/>
          <a:lstStyle/>
          <a:p>
            <a:pPr indent="0" marL="0">
              <a:lnSpc>
                <a:spcPts val="1800"/>
              </a:lnSpc>
              <a:buNone/>
            </a:pPr>
            <a:r>
              <a:rPr lang="en-US" sz="1300" dirty="0">
                <a:solidFill>
                  <a:srgbClr val="13202F"/>
                </a:solidFill>
                <a:latin typeface="Calibri" pitchFamily="34" charset="0"/>
                <a:ea typeface="Calibri" pitchFamily="34" charset="-122"/>
                <a:cs typeface="Calibri" pitchFamily="34" charset="-120"/>
              </a:rPr>
              <a:t>GIS systems store geodesic polygons; Indian revenue systems require topological surveyor sketches.</a:t>
            </a:r>
            <a:endParaRPr lang="en-US" sz="1300" dirty="0"/>
          </a:p>
          <a:p>
            <a:pPr indent="0" marL="0">
              <a:lnSpc>
                <a:spcPts val="1800"/>
              </a:lnSpc>
              <a:buNone/>
            </a:pPr>
            <a:endParaRPr lang="en-US" sz="1300" dirty="0"/>
          </a:p>
          <a:p>
            <a:pPr indent="0" marL="0">
              <a:lnSpc>
                <a:spcPts val="1800"/>
              </a:lnSpc>
              <a:buNone/>
            </a:pPr>
            <a:r>
              <a:rPr lang="en-US" sz="1300" dirty="0">
                <a:solidFill>
                  <a:srgbClr val="13202F"/>
                </a:solidFill>
                <a:latin typeface="Calibri" pitchFamily="34" charset="0"/>
                <a:ea typeface="Calibri" pitchFamily="34" charset="-122"/>
                <a:cs typeface="Calibri" pitchFamily="34" charset="-120"/>
              </a:rPr>
              <a:t>The platform will reproject a harmonised polygon to a planar CRS, calculate the longest diagonal (G-line), and drop perpendicular offsets to all vertices.</a:t>
            </a:r>
            <a:endParaRPr lang="en-US" sz="1300" dirty="0"/>
          </a:p>
          <a:p>
            <a:pPr indent="0" marL="0">
              <a:lnSpc>
                <a:spcPts val="1800"/>
              </a:lnSpc>
              <a:buNone/>
            </a:pPr>
            <a:endParaRPr lang="en-US" sz="1300" dirty="0"/>
          </a:p>
          <a:p>
            <a:pPr indent="0" marL="0">
              <a:lnSpc>
                <a:spcPts val="1800"/>
              </a:lnSpc>
              <a:buNone/>
            </a:pPr>
            <a:r>
              <a:rPr lang="en-US" sz="1300" dirty="0">
                <a:solidFill>
                  <a:srgbClr val="13202F"/>
                </a:solidFill>
                <a:latin typeface="Calibri" pitchFamily="34" charset="0"/>
                <a:ea typeface="Calibri" pitchFamily="34" charset="-122"/>
                <a:cs typeface="Calibri" pitchFamily="34" charset="-120"/>
              </a:rPr>
              <a:t>Output is serialised as CollabLand XML (NIC standard) for native ingestion by state cadastral software, alongside a PDF/A sketch in the regional language.</a:t>
            </a:r>
            <a:endParaRPr lang="en-US" sz="1300" dirty="0"/>
          </a:p>
        </p:txBody>
      </p:sp>
      <p:sp>
        <p:nvSpPr>
          <p:cNvPr id="8" name="Shape 5"/>
          <p:cNvSpPr/>
          <p:nvPr/>
        </p:nvSpPr>
        <p:spPr>
          <a:xfrm>
            <a:off x="6035040" y="1700784"/>
            <a:ext cx="4754880" cy="3657600"/>
          </a:xfrm>
          <a:prstGeom prst="roundRect">
            <a:avLst>
              <a:gd name="adj" fmla="val 2000"/>
            </a:avLst>
          </a:prstGeom>
          <a:solidFill>
            <a:srgbClr val="EEF2F5"/>
          </a:solidFill>
          <a:ln w="12700">
            <a:solidFill>
              <a:srgbClr val="EEF2F5"/>
            </a:solidFill>
            <a:prstDash val="solid"/>
          </a:ln>
        </p:spPr>
      </p:sp>
      <p:sp>
        <p:nvSpPr>
          <p:cNvPr id="9" name="Text 6"/>
          <p:cNvSpPr txBox="1"/>
          <p:nvPr/>
        </p:nvSpPr>
        <p:spPr>
          <a:xfrm>
            <a:off x="6309360" y="1975104"/>
            <a:ext cx="4206240" cy="365760"/>
          </a:xfrm>
          <a:prstGeom prst="rect">
            <a:avLst/>
          </a:prstGeom>
          <a:noFill/>
          <a:ln/>
        </p:spPr>
        <p:txBody>
          <a:bodyPr wrap="square" lIns="0" tIns="0" rIns="0" bIns="0" rtlCol="0" anchor="t"/>
          <a:lstStyle/>
          <a:p>
            <a:pPr indent="0" marL="0">
              <a:buNone/>
            </a:pPr>
            <a:r>
              <a:rPr lang="en-US" sz="2400" b="1" dirty="0">
                <a:solidFill>
                  <a:srgbClr val="13202F"/>
                </a:solidFill>
                <a:latin typeface="Cambria" pitchFamily="34" charset="0"/>
                <a:ea typeface="Cambria" pitchFamily="34" charset="-122"/>
                <a:cs typeface="Cambria" pitchFamily="34" charset="-120"/>
              </a:rPr>
              <a:t>2. Predictive Litigation Mapping</a:t>
            </a:r>
            <a:endParaRPr lang="en-US" sz="2400" dirty="0"/>
          </a:p>
        </p:txBody>
      </p:sp>
      <p:sp>
        <p:nvSpPr>
          <p:cNvPr id="10" name="Text 7"/>
          <p:cNvSpPr txBox="1"/>
          <p:nvPr/>
        </p:nvSpPr>
        <p:spPr>
          <a:xfrm>
            <a:off x="6309360" y="2432304"/>
            <a:ext cx="4206240" cy="2743200"/>
          </a:xfrm>
          <a:prstGeom prst="rect">
            <a:avLst/>
          </a:prstGeom>
          <a:noFill/>
          <a:ln/>
        </p:spPr>
        <p:txBody>
          <a:bodyPr wrap="square" lIns="0" tIns="0" rIns="0" bIns="0" rtlCol="0" anchor="t"/>
          <a:lstStyle/>
          <a:p>
            <a:pPr indent="0" marL="0">
              <a:lnSpc>
                <a:spcPts val="1800"/>
              </a:lnSpc>
              <a:buNone/>
            </a:pPr>
            <a:r>
              <a:rPr lang="en-US" sz="1300" dirty="0">
                <a:solidFill>
                  <a:srgbClr val="13202F"/>
                </a:solidFill>
                <a:latin typeface="Calibri" pitchFamily="34" charset="0"/>
                <a:ea typeface="Calibri" pitchFamily="34" charset="-122"/>
                <a:cs typeface="Calibri" pitchFamily="34" charset="-120"/>
              </a:rPr>
              <a:t>Using the Dempster-Shafer conflict mass (K) as a baseline, the platform ingests active dispute metadata from the e-Courts Services / NJDG API and Encumbrance Certificate flags from State Registration APIs (e.g., TN STAR 2.0).</a:t>
            </a:r>
            <a:endParaRPr lang="en-US" sz="1300" dirty="0"/>
          </a:p>
          <a:p>
            <a:pPr indent="0" marL="0">
              <a:lnSpc>
                <a:spcPts val="1800"/>
              </a:lnSpc>
              <a:buNone/>
            </a:pPr>
            <a:endParaRPr lang="en-US" sz="1300" dirty="0"/>
          </a:p>
          <a:p>
            <a:pPr indent="0" marL="0">
              <a:lnSpc>
                <a:spcPts val="1800"/>
              </a:lnSpc>
              <a:buNone/>
            </a:pPr>
            <a:r>
              <a:rPr lang="en-US" sz="1300" dirty="0">
                <a:solidFill>
                  <a:srgbClr val="13202F"/>
                </a:solidFill>
                <a:latin typeface="Calibri" pitchFamily="34" charset="0"/>
                <a:ea typeface="Calibri" pitchFamily="34" charset="-122"/>
                <a:cs typeface="Calibri" pitchFamily="34" charset="-120"/>
              </a:rPr>
              <a:t>Fusing internal geometric tension with external legal flags produces a dynamic litigation risk index, exposed via OGC API - Features as Mapbox Vector Tiles (MVT) for proactive drone survey targeting.</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3202F"/>
        </a:solidFill>
      </p:bgPr>
    </p:bg>
    <p:spTree>
      <p:nvGrpSpPr>
        <p:cNvPr id="1" name=""/>
        <p:cNvGrpSpPr/>
        <p:nvPr/>
      </p:nvGrpSpPr>
      <p:grpSpPr>
        <a:xfrm>
          <a:off x="0" y="0"/>
          <a:ext cx="0" cy="0"/>
          <a:chOff x="0" y="0"/>
          <a:chExt cx="0" cy="0"/>
        </a:xfrm>
      </p:grpSpPr>
      <p:sp>
        <p:nvSpPr>
          <p:cNvPr id="3" name="Text 0"/>
          <p:cNvSpPr txBox="1"/>
          <p:nvPr/>
        </p:nvSpPr>
        <p:spPr>
          <a:xfrm>
            <a:off x="566928" y="566928"/>
            <a:ext cx="5486400" cy="274320"/>
          </a:xfrm>
          <a:prstGeom prst="rect">
            <a:avLst/>
          </a:prstGeom>
          <a:noFill/>
          <a:ln/>
        </p:spPr>
        <p:txBody>
          <a:bodyPr wrap="square" lIns="0" tIns="0" rIns="0" bIns="0" rtlCol="0" anchor="t"/>
          <a:lstStyle/>
          <a:p>
            <a:pPr indent="0" marL="0">
              <a:buNone/>
            </a:pPr>
            <a:r>
              <a:rPr lang="en-US" sz="1100" b="1" spc="200" kern="0" dirty="0">
                <a:solidFill>
                  <a:srgbClr val="D9743B"/>
                </a:solidFill>
                <a:latin typeface="Calibri" pitchFamily="34" charset="0"/>
                <a:ea typeface="Calibri" pitchFamily="34" charset="-122"/>
                <a:cs typeface="Calibri" pitchFamily="34" charset="-120"/>
              </a:rPr>
              <a:t>THE FINDING</a:t>
            </a:r>
            <a:endParaRPr lang="en-US" sz="1100" dirty="0"/>
          </a:p>
        </p:txBody>
      </p:sp>
      <p:sp>
        <p:nvSpPr>
          <p:cNvPr id="4" name="Text 1"/>
          <p:cNvSpPr txBox="1"/>
          <p:nvPr/>
        </p:nvSpPr>
        <p:spPr>
          <a:xfrm>
            <a:off x="566928" y="969264"/>
            <a:ext cx="6766560" cy="1828800"/>
          </a:xfrm>
          <a:prstGeom prst="rect">
            <a:avLst/>
          </a:prstGeom>
          <a:noFill/>
          <a:ln/>
        </p:spPr>
        <p:txBody>
          <a:bodyPr wrap="square" lIns="0" tIns="0" rIns="0" bIns="0" rtlCol="0" anchor="t"/>
          <a:lstStyle/>
          <a:p>
            <a:pPr indent="0" marL="0">
              <a:lnSpc>
                <a:spcPts val="4100"/>
              </a:lnSpc>
              <a:buNone/>
            </a:pPr>
            <a:r>
              <a:rPr lang="en-US" sz="3000" b="1" dirty="0">
                <a:solidFill>
                  <a:srgbClr val="FFFFFF"/>
                </a:solidFill>
                <a:latin typeface="Cambria" pitchFamily="34" charset="0"/>
                <a:ea typeface="Cambria" pitchFamily="34" charset="-122"/>
                <a:cs typeface="Cambria" pitchFamily="34" charset="-120"/>
              </a:rPr>
              <a:t>Chennai's existing land data does not</a:t>
            </a:r>
            <a:endParaRPr lang="en-US" sz="3000" dirty="0"/>
          </a:p>
          <a:p>
            <a:pPr indent="0" marL="0">
              <a:lnSpc>
                <a:spcPts val="4100"/>
              </a:lnSpc>
              <a:buNone/>
            </a:pPr>
            <a:r>
              <a:rPr lang="en-US" sz="3000" b="1" dirty="0">
                <a:solidFill>
                  <a:srgbClr val="FFFFFF"/>
                </a:solidFill>
                <a:latin typeface="Cambria" pitchFamily="34" charset="0"/>
                <a:ea typeface="Cambria" pitchFamily="34" charset="-122"/>
                <a:cs typeface="Cambria" pitchFamily="34" charset="-120"/>
              </a:rPr>
              <a:t>reach the NAKSHA specification —</a:t>
            </a:r>
            <a:endParaRPr lang="en-US" sz="3000" dirty="0"/>
          </a:p>
          <a:p>
            <a:pPr indent="0" marL="0">
              <a:lnSpc>
                <a:spcPts val="4100"/>
              </a:lnSpc>
              <a:buNone/>
            </a:pPr>
            <a:r>
              <a:rPr lang="en-US" sz="3000" b="1" dirty="0">
                <a:solidFill>
                  <a:srgbClr val="FFFFFF"/>
                </a:solidFill>
                <a:latin typeface="Cambria" pitchFamily="34" charset="0"/>
                <a:ea typeface="Cambria" pitchFamily="34" charset="-122"/>
                <a:cs typeface="Cambria" pitchFamily="34" charset="-120"/>
              </a:rPr>
              <a:t>and now we can say by how much.</a:t>
            </a:r>
            <a:endParaRPr lang="en-US" sz="3000" dirty="0"/>
          </a:p>
        </p:txBody>
      </p:sp>
      <p:sp>
        <p:nvSpPr>
          <p:cNvPr id="5" name="Text 2"/>
          <p:cNvSpPr txBox="1"/>
          <p:nvPr/>
        </p:nvSpPr>
        <p:spPr>
          <a:xfrm>
            <a:off x="566928" y="2999232"/>
            <a:ext cx="6492240" cy="1645920"/>
          </a:xfrm>
          <a:prstGeom prst="rect">
            <a:avLst/>
          </a:prstGeom>
          <a:noFill/>
          <a:ln/>
        </p:spPr>
        <p:txBody>
          <a:bodyPr wrap="square" lIns="0" tIns="0" rIns="0" bIns="0" rtlCol="0" anchor="t"/>
          <a:lstStyle/>
          <a:p>
            <a:pPr marL="228600" indent="-228600">
              <a:spcAft>
                <a:spcPts val="1100"/>
              </a:spcAft>
              <a:buSzPct val="100000"/>
              <a:buChar char="•"/>
            </a:pPr>
            <a:r>
              <a:rPr lang="en-US" sz="1350" dirty="0">
                <a:solidFill>
                  <a:srgbClr val="C9D6E2"/>
                </a:solidFill>
                <a:latin typeface="Calibri" pitchFamily="34" charset="0"/>
                <a:ea typeface="Calibri" pitchFamily="34" charset="-122"/>
                <a:cs typeface="Calibri" pitchFamily="34" charset="-120"/>
              </a:rPr>
              <a:t>No feature grades A or B against a 0.5 m positional specification.</a:t>
            </a:r>
            <a:endParaRPr lang="en-US" sz="1350" dirty="0"/>
          </a:p>
          <a:p>
            <a:pPr marL="228600" indent="-228600">
              <a:spcAft>
                <a:spcPts val="1100"/>
              </a:spcAft>
              <a:buSzPct val="100000"/>
              <a:buChar char="•"/>
            </a:pPr>
            <a:r>
              <a:rPr lang="en-US" sz="1350" dirty="0">
                <a:solidFill>
                  <a:srgbClr val="C9D6E2"/>
                </a:solidFill>
                <a:latin typeface="Calibri" pitchFamily="34" charset="0"/>
                <a:ea typeface="Calibri" pitchFamily="34" charset="-122"/>
                <a:cs typeface="Calibri" pitchFamily="34" charset="-120"/>
              </a:rPr>
              <a:t>The best available source is a 1 m municipal survey.</a:t>
            </a:r>
            <a:endParaRPr lang="en-US" sz="1350" dirty="0"/>
          </a:p>
          <a:p>
            <a:pPr marL="228600" indent="-228600">
              <a:spcAft>
                <a:spcPts val="1100"/>
              </a:spcAft>
              <a:buSzPct val="100000"/>
              <a:buChar char="•"/>
            </a:pPr>
            <a:r>
              <a:rPr lang="en-US" sz="1350" dirty="0">
                <a:solidFill>
                  <a:srgbClr val="C9D6E2"/>
                </a:solidFill>
                <a:latin typeface="Calibri" pitchFamily="34" charset="0"/>
                <a:ea typeface="Calibri" pitchFamily="34" charset="-122"/>
                <a:cs typeface="Calibri" pitchFamily="34" charset="-120"/>
              </a:rPr>
              <a:t>68.0% of features are corroborated by only one source.</a:t>
            </a:r>
            <a:endParaRPr lang="en-US" sz="1350" dirty="0"/>
          </a:p>
          <a:p>
            <a:pPr marL="228600" indent="-228600">
              <a:spcAft>
                <a:spcPts val="1100"/>
              </a:spcAft>
              <a:buSzPct val="100000"/>
              <a:buChar char="•"/>
            </a:pPr>
            <a:r>
              <a:rPr lang="en-US" sz="1350" dirty="0">
                <a:solidFill>
                  <a:srgbClr val="C9D6E2"/>
                </a:solidFill>
                <a:latin typeface="Calibri" pitchFamily="34" charset="0"/>
                <a:ea typeface="Calibri" pitchFamily="34" charset="-122"/>
                <a:cs typeface="Calibri" pitchFamily="34" charset="-120"/>
              </a:rPr>
              <a:t>Weakest dimension across the whole AOI: source agreement, at 0.33.</a:t>
            </a:r>
            <a:endParaRPr lang="en-US" sz="1350" dirty="0"/>
          </a:p>
        </p:txBody>
      </p:sp>
      <p:sp>
        <p:nvSpPr>
          <p:cNvPr id="6" name="Shape 3"/>
          <p:cNvSpPr/>
          <p:nvPr/>
        </p:nvSpPr>
        <p:spPr>
          <a:xfrm>
            <a:off x="566928" y="4791456"/>
            <a:ext cx="6492240" cy="1298448"/>
          </a:xfrm>
          <a:prstGeom prst="roundRect">
            <a:avLst>
              <a:gd name="adj" fmla="val 5634"/>
            </a:avLst>
          </a:prstGeom>
          <a:solidFill>
            <a:srgbClr val="1E3350"/>
          </a:solidFill>
          <a:ln w="12700">
            <a:solidFill>
              <a:srgbClr val="1E3350"/>
            </a:solidFill>
            <a:prstDash val="solid"/>
          </a:ln>
        </p:spPr>
      </p:sp>
      <p:sp>
        <p:nvSpPr>
          <p:cNvPr id="7" name="Text 4"/>
          <p:cNvSpPr txBox="1"/>
          <p:nvPr/>
        </p:nvSpPr>
        <p:spPr>
          <a:xfrm>
            <a:off x="822960" y="4791456"/>
            <a:ext cx="6035040" cy="1298448"/>
          </a:xfrm>
          <a:prstGeom prst="rect">
            <a:avLst/>
          </a:prstGeom>
          <a:noFill/>
          <a:ln/>
        </p:spPr>
        <p:txBody>
          <a:bodyPr wrap="square" lIns="0" tIns="0" rIns="0" bIns="0" rtlCol="0" anchor="ctr"/>
          <a:lstStyle/>
          <a:p>
            <a:pPr indent="0" marL="0">
              <a:lnSpc>
                <a:spcPts val="2000"/>
              </a:lnSpc>
              <a:buNone/>
            </a:pPr>
            <a:r>
              <a:rPr lang="en-US" sz="1350" i="1" dirty="0">
                <a:solidFill>
                  <a:srgbClr val="FFFFFF"/>
                </a:solidFill>
                <a:latin typeface="Calibri" pitchFamily="34" charset="0"/>
                <a:ea typeface="Calibri" pitchFamily="34" charset="-122"/>
                <a:cs typeface="Calibri" pitchFamily="34" charset="-120"/>
              </a:rPr>
              <a:t>A harmonisation platform whose first run reported that everything was fine would not be measuring anything.</a:t>
            </a:r>
            <a:endParaRPr lang="en-US" sz="1350" dirty="0"/>
          </a:p>
        </p:txBody>
      </p:sp>
      <p:graphicFrame>
        <p:nvGraphicFramePr>
          <p:cNvPr id="8" name="Chart 0" descr=""/>
          <p:cNvGraphicFramePr/>
          <p:nvPr/>
        </p:nvGraphicFramePr>
        <p:xfrm>
          <a:off x="7315200" y="969264"/>
          <a:ext cx="4297680" cy="3566160"/>
        </p:xfrm>
        <a:graphic xmlns:a="http://schemas.openxmlformats.org/drawingml/2006/main">
          <a:graphicData uri="http://schemas.openxmlformats.org/drawingml/2006/chart">
            <c:chart xmlns:c="http://schemas.openxmlformats.org/drawingml/2006/chart" r:id="rId1"/>
          </a:graphicData>
        </a:graphic>
      </p:graphicFrame>
      <p:sp>
        <p:nvSpPr>
          <p:cNvPr id="9" name="Text 5"/>
          <p:cNvSpPr txBox="1"/>
          <p:nvPr/>
        </p:nvSpPr>
        <p:spPr>
          <a:xfrm>
            <a:off x="7315200" y="4663440"/>
            <a:ext cx="4297680" cy="329184"/>
          </a:xfrm>
          <a:prstGeom prst="rect">
            <a:avLst/>
          </a:prstGeom>
          <a:noFill/>
          <a:ln/>
        </p:spPr>
        <p:txBody>
          <a:bodyPr wrap="square" lIns="0" tIns="0" rIns="0" bIns="0" rtlCol="0" anchor="t"/>
          <a:lstStyle/>
          <a:p>
            <a:pPr algn="ctr" indent="0" marL="0">
              <a:buNone/>
            </a:pPr>
            <a:r>
              <a:rPr lang="en-US" sz="1150" dirty="0">
                <a:solidFill>
                  <a:srgbClr val="C9D6E2"/>
                </a:solidFill>
                <a:latin typeface="Calibri" pitchFamily="34" charset="0"/>
                <a:ea typeface="Calibri" pitchFamily="34" charset="-122"/>
                <a:cs typeface="Calibri" pitchFamily="34" charset="-120"/>
              </a:rPr>
              <a:t>107,262 harmonised features by confidence grade</a:t>
            </a:r>
            <a:endParaRPr lang="en-US" sz="1150" dirty="0"/>
          </a:p>
        </p:txBody>
      </p:sp>
      <p:sp>
        <p:nvSpPr>
          <p:cNvPr id="10" name="Text 6"/>
          <p:cNvSpPr txBox="1"/>
          <p:nvPr/>
        </p:nvSpPr>
        <p:spPr>
          <a:xfrm>
            <a:off x="7315200" y="5230368"/>
            <a:ext cx="4297680" cy="822960"/>
          </a:xfrm>
          <a:prstGeom prst="rect">
            <a:avLst/>
          </a:prstGeom>
          <a:noFill/>
          <a:ln/>
        </p:spPr>
        <p:txBody>
          <a:bodyPr wrap="square" lIns="0" tIns="0" rIns="0" bIns="0" rtlCol="0" anchor="ctr"/>
          <a:lstStyle/>
          <a:p>
            <a:pPr algn="ctr" indent="0" marL="0">
              <a:buNone/>
            </a:pPr>
            <a:r>
              <a:rPr lang="en-US" sz="1350" b="1" i="1" dirty="0">
                <a:solidFill>
                  <a:srgbClr val="D9743B"/>
                </a:solidFill>
                <a:latin typeface="Calibri" pitchFamily="34" charset="0"/>
                <a:ea typeface="Calibri" pitchFamily="34" charset="-122"/>
                <a:cs typeface="Calibri" pitchFamily="34" charset="-120"/>
              </a:rPr>
              <a:t>This is the map of where to fly the drones first.</a:t>
            </a:r>
            <a:endParaRPr lang="en-US" sz="13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10896"/>
            <a:ext cx="10058400" cy="237744"/>
          </a:xfrm>
          <a:prstGeom prst="rect">
            <a:avLst/>
          </a:prstGeom>
          <a:noFill/>
          <a:ln/>
        </p:spPr>
        <p:txBody>
          <a:bodyPr wrap="square" lIns="0" tIns="0" rIns="0" bIns="0" rtlCol="0" anchor="t"/>
          <a:lstStyle/>
          <a:p>
            <a:pPr indent="0" marL="0">
              <a:buNone/>
            </a:pPr>
            <a:r>
              <a:rPr lang="en-US" sz="1100" b="1" spc="200" kern="0" dirty="0">
                <a:solidFill>
                  <a:srgbClr val="D9743B"/>
                </a:solidFill>
                <a:latin typeface="Calibri" pitchFamily="34" charset="0"/>
                <a:ea typeface="Calibri" pitchFamily="34" charset="-122"/>
                <a:cs typeface="Calibri" pitchFamily="34" charset="-120"/>
              </a:rPr>
              <a:t>STANDARDS &amp; IMPACT</a:t>
            </a:r>
            <a:endParaRPr lang="en-US" sz="1100" dirty="0"/>
          </a:p>
        </p:txBody>
      </p:sp>
      <p:sp>
        <p:nvSpPr>
          <p:cNvPr id="3" name="Text 1"/>
          <p:cNvSpPr txBox="1"/>
          <p:nvPr/>
        </p:nvSpPr>
        <p:spPr>
          <a:xfrm>
            <a:off x="566928" y="621792"/>
            <a:ext cx="11064240" cy="896112"/>
          </a:xfrm>
          <a:prstGeom prst="rect">
            <a:avLst/>
          </a:prstGeom>
          <a:noFill/>
          <a:ln/>
        </p:spPr>
        <p:txBody>
          <a:bodyPr wrap="square" lIns="0" tIns="0" rIns="0" bIns="0" rtlCol="0" anchor="t"/>
          <a:lstStyle/>
          <a:p>
            <a:pPr indent="0" marL="0">
              <a:buNone/>
            </a:pPr>
            <a:r>
              <a:rPr lang="en-US" sz="3000" b="1" dirty="0">
                <a:solidFill>
                  <a:srgbClr val="13202F"/>
                </a:solidFill>
                <a:latin typeface="Cambria" pitchFamily="34" charset="0"/>
                <a:ea typeface="Cambria" pitchFamily="34" charset="-122"/>
                <a:cs typeface="Cambria" pitchFamily="34" charset="-120"/>
              </a:rPr>
              <a:t>Built to fit the frame it has to operate in</a:t>
            </a:r>
            <a:endParaRPr lang="en-US" sz="3000" dirty="0"/>
          </a:p>
        </p:txBody>
      </p:sp>
      <p:sp>
        <p:nvSpPr>
          <p:cNvPr id="5" name="Text 2"/>
          <p:cNvSpPr txBox="1"/>
          <p:nvPr/>
        </p:nvSpPr>
        <p:spPr>
          <a:xfrm>
            <a:off x="566928" y="1810512"/>
            <a:ext cx="4572000" cy="292608"/>
          </a:xfrm>
          <a:prstGeom prst="rect">
            <a:avLst/>
          </a:prstGeom>
          <a:noFill/>
          <a:ln/>
        </p:spPr>
        <p:txBody>
          <a:bodyPr wrap="square" lIns="0" tIns="0" rIns="0" bIns="0" rtlCol="0" anchor="t"/>
          <a:lstStyle/>
          <a:p>
            <a:pPr indent="0" marL="0">
              <a:buNone/>
            </a:pPr>
            <a:r>
              <a:rPr lang="en-US" sz="1400" b="1" dirty="0">
                <a:solidFill>
                  <a:srgbClr val="13202F"/>
                </a:solidFill>
                <a:latin typeface="Calibri" pitchFamily="34" charset="0"/>
                <a:ea typeface="Calibri" pitchFamily="34" charset="-122"/>
                <a:cs typeface="Calibri" pitchFamily="34" charset="-120"/>
              </a:rPr>
              <a:t>Conforms to</a:t>
            </a:r>
            <a:endParaRPr lang="en-US" sz="1400" dirty="0"/>
          </a:p>
        </p:txBody>
      </p:sp>
      <p:sp>
        <p:nvSpPr>
          <p:cNvPr id="6" name="Shape 3"/>
          <p:cNvSpPr/>
          <p:nvPr/>
        </p:nvSpPr>
        <p:spPr>
          <a:xfrm>
            <a:off x="566928" y="2231136"/>
            <a:ext cx="5212080" cy="566928"/>
          </a:xfrm>
          <a:prstGeom prst="roundRect">
            <a:avLst>
              <a:gd name="adj" fmla="val 12903"/>
            </a:avLst>
          </a:prstGeom>
          <a:solidFill>
            <a:srgbClr val="EEF2F5"/>
          </a:solidFill>
          <a:ln w="12700">
            <a:solidFill>
              <a:srgbClr val="EEF2F5"/>
            </a:solidFill>
            <a:prstDash val="solid"/>
          </a:ln>
        </p:spPr>
      </p:sp>
      <p:sp>
        <p:nvSpPr>
          <p:cNvPr id="7" name="Text 4"/>
          <p:cNvSpPr txBox="1"/>
          <p:nvPr/>
        </p:nvSpPr>
        <p:spPr>
          <a:xfrm>
            <a:off x="786384" y="2304288"/>
            <a:ext cx="4754880" cy="237744"/>
          </a:xfrm>
          <a:prstGeom prst="rect">
            <a:avLst/>
          </a:prstGeom>
          <a:noFill/>
          <a:ln/>
        </p:spPr>
        <p:txBody>
          <a:bodyPr wrap="square" lIns="0" tIns="0" rIns="0" bIns="0" rtlCol="0" anchor="t"/>
          <a:lstStyle/>
          <a:p>
            <a:pPr indent="0" marL="0">
              <a:buNone/>
            </a:pPr>
            <a:r>
              <a:rPr lang="en-US" sz="1250" b="1" dirty="0">
                <a:solidFill>
                  <a:srgbClr val="0F6E5F"/>
                </a:solidFill>
                <a:latin typeface="Calibri" pitchFamily="34" charset="0"/>
                <a:ea typeface="Calibri" pitchFamily="34" charset="-122"/>
                <a:cs typeface="Calibri" pitchFamily="34" charset="-120"/>
              </a:rPr>
              <a:t>DILRMP</a:t>
            </a:r>
            <a:endParaRPr lang="en-US" sz="1250" dirty="0"/>
          </a:p>
        </p:txBody>
      </p:sp>
      <p:sp>
        <p:nvSpPr>
          <p:cNvPr id="8" name="Text 5"/>
          <p:cNvSpPr txBox="1"/>
          <p:nvPr/>
        </p:nvSpPr>
        <p:spPr>
          <a:xfrm>
            <a:off x="786384" y="2542032"/>
            <a:ext cx="4791456" cy="237744"/>
          </a:xfrm>
          <a:prstGeom prst="rect">
            <a:avLst/>
          </a:prstGeom>
          <a:noFill/>
          <a:ln/>
        </p:spPr>
        <p:txBody>
          <a:bodyPr wrap="square" lIns="0" tIns="0" rIns="0" bIns="0" rtlCol="0" anchor="t"/>
          <a:lstStyle/>
          <a:p>
            <a:pPr indent="0" marL="0">
              <a:buNone/>
            </a:pPr>
            <a:r>
              <a:rPr lang="en-US" sz="1050" dirty="0">
                <a:solidFill>
                  <a:srgbClr val="5C6B7A"/>
                </a:solidFill>
                <a:latin typeface="Calibri" pitchFamily="34" charset="0"/>
                <a:ea typeface="Calibri" pitchFamily="34" charset="-122"/>
                <a:cs typeface="Calibri" pitchFamily="34" charset="-120"/>
              </a:rPr>
              <a:t>ULPIN, mutation genealogy, extent reconciliation</a:t>
            </a:r>
            <a:endParaRPr lang="en-US" sz="1050" dirty="0"/>
          </a:p>
        </p:txBody>
      </p:sp>
      <p:sp>
        <p:nvSpPr>
          <p:cNvPr id="9" name="Shape 6"/>
          <p:cNvSpPr/>
          <p:nvPr/>
        </p:nvSpPr>
        <p:spPr>
          <a:xfrm>
            <a:off x="566928" y="2944368"/>
            <a:ext cx="5212080" cy="566928"/>
          </a:xfrm>
          <a:prstGeom prst="roundRect">
            <a:avLst>
              <a:gd name="adj" fmla="val 12903"/>
            </a:avLst>
          </a:prstGeom>
          <a:solidFill>
            <a:srgbClr val="E3EAF0"/>
          </a:solidFill>
          <a:ln w="12700">
            <a:solidFill>
              <a:srgbClr val="E3EAF0"/>
            </a:solidFill>
            <a:prstDash val="solid"/>
          </a:ln>
        </p:spPr>
      </p:sp>
      <p:sp>
        <p:nvSpPr>
          <p:cNvPr id="10" name="Text 7"/>
          <p:cNvSpPr txBox="1"/>
          <p:nvPr/>
        </p:nvSpPr>
        <p:spPr>
          <a:xfrm>
            <a:off x="786384" y="3017520"/>
            <a:ext cx="4754880" cy="237744"/>
          </a:xfrm>
          <a:prstGeom prst="rect">
            <a:avLst/>
          </a:prstGeom>
          <a:noFill/>
          <a:ln/>
        </p:spPr>
        <p:txBody>
          <a:bodyPr wrap="square" lIns="0" tIns="0" rIns="0" bIns="0" rtlCol="0" anchor="t"/>
          <a:lstStyle/>
          <a:p>
            <a:pPr indent="0" marL="0">
              <a:buNone/>
            </a:pPr>
            <a:r>
              <a:rPr lang="en-US" sz="1250" b="1" dirty="0">
                <a:solidFill>
                  <a:srgbClr val="0F6E5F"/>
                </a:solidFill>
                <a:latin typeface="Calibri" pitchFamily="34" charset="0"/>
                <a:ea typeface="Calibri" pitchFamily="34" charset="-122"/>
                <a:cs typeface="Calibri" pitchFamily="34" charset="-120"/>
              </a:rPr>
              <a:t>NAKSHA</a:t>
            </a:r>
            <a:endParaRPr lang="en-US" sz="1250" dirty="0"/>
          </a:p>
        </p:txBody>
      </p:sp>
      <p:sp>
        <p:nvSpPr>
          <p:cNvPr id="11" name="Text 8"/>
          <p:cNvSpPr txBox="1"/>
          <p:nvPr/>
        </p:nvSpPr>
        <p:spPr>
          <a:xfrm>
            <a:off x="786384" y="3255264"/>
            <a:ext cx="4791456" cy="237744"/>
          </a:xfrm>
          <a:prstGeom prst="rect">
            <a:avLst/>
          </a:prstGeom>
          <a:noFill/>
          <a:ln/>
        </p:spPr>
        <p:txBody>
          <a:bodyPr wrap="square" lIns="0" tIns="0" rIns="0" bIns="0" rtlCol="0" anchor="t"/>
          <a:lstStyle/>
          <a:p>
            <a:pPr indent="0" marL="0">
              <a:buNone/>
            </a:pPr>
            <a:r>
              <a:rPr lang="en-US" sz="1050" dirty="0">
                <a:solidFill>
                  <a:srgbClr val="5C6B7A"/>
                </a:solidFill>
                <a:latin typeface="Calibri" pitchFamily="34" charset="0"/>
                <a:ea typeface="Calibri" pitchFamily="34" charset="-122"/>
                <a:cs typeface="Calibri" pitchFamily="34" charset="-120"/>
              </a:rPr>
              <a:t>Positional confidence scored against the urban specification</a:t>
            </a:r>
            <a:endParaRPr lang="en-US" sz="1050" dirty="0"/>
          </a:p>
        </p:txBody>
      </p:sp>
      <p:sp>
        <p:nvSpPr>
          <p:cNvPr id="12" name="Shape 9"/>
          <p:cNvSpPr/>
          <p:nvPr/>
        </p:nvSpPr>
        <p:spPr>
          <a:xfrm>
            <a:off x="566928" y="3657600"/>
            <a:ext cx="5212080" cy="566928"/>
          </a:xfrm>
          <a:prstGeom prst="roundRect">
            <a:avLst>
              <a:gd name="adj" fmla="val 12903"/>
            </a:avLst>
          </a:prstGeom>
          <a:solidFill>
            <a:srgbClr val="EEF2F5"/>
          </a:solidFill>
          <a:ln w="12700">
            <a:solidFill>
              <a:srgbClr val="EEF2F5"/>
            </a:solidFill>
            <a:prstDash val="solid"/>
          </a:ln>
        </p:spPr>
      </p:sp>
      <p:sp>
        <p:nvSpPr>
          <p:cNvPr id="13" name="Text 10"/>
          <p:cNvSpPr txBox="1"/>
          <p:nvPr/>
        </p:nvSpPr>
        <p:spPr>
          <a:xfrm>
            <a:off x="786384" y="3730752"/>
            <a:ext cx="4754880" cy="237744"/>
          </a:xfrm>
          <a:prstGeom prst="rect">
            <a:avLst/>
          </a:prstGeom>
          <a:noFill/>
          <a:ln/>
        </p:spPr>
        <p:txBody>
          <a:bodyPr wrap="square" lIns="0" tIns="0" rIns="0" bIns="0" rtlCol="0" anchor="t"/>
          <a:lstStyle/>
          <a:p>
            <a:pPr indent="0" marL="0">
              <a:buNone/>
            </a:pPr>
            <a:r>
              <a:rPr lang="en-US" sz="1250" b="1" dirty="0">
                <a:solidFill>
                  <a:srgbClr val="0F6E5F"/>
                </a:solidFill>
                <a:latin typeface="Calibri" pitchFamily="34" charset="0"/>
                <a:ea typeface="Calibri" pitchFamily="34" charset="-122"/>
                <a:cs typeface="Calibri" pitchFamily="34" charset="-120"/>
              </a:rPr>
              <a:t>LGD</a:t>
            </a:r>
            <a:endParaRPr lang="en-US" sz="1250" dirty="0"/>
          </a:p>
        </p:txBody>
      </p:sp>
      <p:sp>
        <p:nvSpPr>
          <p:cNvPr id="14" name="Text 11"/>
          <p:cNvSpPr txBox="1"/>
          <p:nvPr/>
        </p:nvSpPr>
        <p:spPr>
          <a:xfrm>
            <a:off x="786384" y="3968496"/>
            <a:ext cx="4791456" cy="237744"/>
          </a:xfrm>
          <a:prstGeom prst="rect">
            <a:avLst/>
          </a:prstGeom>
          <a:noFill/>
          <a:ln/>
        </p:spPr>
        <p:txBody>
          <a:bodyPr wrap="square" lIns="0" tIns="0" rIns="0" bIns="0" rtlCol="0" anchor="t"/>
          <a:lstStyle/>
          <a:p>
            <a:pPr indent="0" marL="0">
              <a:buNone/>
            </a:pPr>
            <a:r>
              <a:rPr lang="en-US" sz="1050" dirty="0">
                <a:solidFill>
                  <a:srgbClr val="5C6B7A"/>
                </a:solidFill>
                <a:latin typeface="Calibri" pitchFamily="34" charset="0"/>
                <a:ea typeface="Calibri" pitchFamily="34" charset="-122"/>
                <a:cs typeface="Calibri" pitchFamily="34" charset="-120"/>
              </a:rPr>
              <a:t>The canonical schema is built on the national code hierarchy</a:t>
            </a:r>
            <a:endParaRPr lang="en-US" sz="1050" dirty="0"/>
          </a:p>
        </p:txBody>
      </p:sp>
      <p:sp>
        <p:nvSpPr>
          <p:cNvPr id="15" name="Shape 12"/>
          <p:cNvSpPr/>
          <p:nvPr/>
        </p:nvSpPr>
        <p:spPr>
          <a:xfrm>
            <a:off x="566928" y="4370832"/>
            <a:ext cx="5212080" cy="566928"/>
          </a:xfrm>
          <a:prstGeom prst="roundRect">
            <a:avLst>
              <a:gd name="adj" fmla="val 12903"/>
            </a:avLst>
          </a:prstGeom>
          <a:solidFill>
            <a:srgbClr val="E3EAF0"/>
          </a:solidFill>
          <a:ln w="12700">
            <a:solidFill>
              <a:srgbClr val="E3EAF0"/>
            </a:solidFill>
            <a:prstDash val="solid"/>
          </a:ln>
        </p:spPr>
      </p:sp>
      <p:sp>
        <p:nvSpPr>
          <p:cNvPr id="16" name="Text 13"/>
          <p:cNvSpPr txBox="1"/>
          <p:nvPr/>
        </p:nvSpPr>
        <p:spPr>
          <a:xfrm>
            <a:off x="786384" y="4443984"/>
            <a:ext cx="4754880" cy="237744"/>
          </a:xfrm>
          <a:prstGeom prst="rect">
            <a:avLst/>
          </a:prstGeom>
          <a:noFill/>
          <a:ln/>
        </p:spPr>
        <p:txBody>
          <a:bodyPr wrap="square" lIns="0" tIns="0" rIns="0" bIns="0" rtlCol="0" anchor="t"/>
          <a:lstStyle/>
          <a:p>
            <a:pPr indent="0" marL="0">
              <a:buNone/>
            </a:pPr>
            <a:r>
              <a:rPr lang="en-US" sz="1250" b="1" dirty="0">
                <a:solidFill>
                  <a:srgbClr val="0F6E5F"/>
                </a:solidFill>
                <a:latin typeface="Calibri" pitchFamily="34" charset="0"/>
                <a:ea typeface="Calibri" pitchFamily="34" charset="-122"/>
                <a:cs typeface="Calibri" pitchFamily="34" charset="-120"/>
              </a:rPr>
              <a:t>OGC API - Features</a:t>
            </a:r>
            <a:endParaRPr lang="en-US" sz="1250" dirty="0"/>
          </a:p>
        </p:txBody>
      </p:sp>
      <p:sp>
        <p:nvSpPr>
          <p:cNvPr id="17" name="Text 14"/>
          <p:cNvSpPr txBox="1"/>
          <p:nvPr/>
        </p:nvSpPr>
        <p:spPr>
          <a:xfrm>
            <a:off x="786384" y="4681728"/>
            <a:ext cx="4791456" cy="237744"/>
          </a:xfrm>
          <a:prstGeom prst="rect">
            <a:avLst/>
          </a:prstGeom>
          <a:noFill/>
          <a:ln/>
        </p:spPr>
        <p:txBody>
          <a:bodyPr wrap="square" lIns="0" tIns="0" rIns="0" bIns="0" rtlCol="0" anchor="t"/>
          <a:lstStyle/>
          <a:p>
            <a:pPr indent="0" marL="0">
              <a:buNone/>
            </a:pPr>
            <a:r>
              <a:rPr lang="en-US" sz="1050" dirty="0">
                <a:solidFill>
                  <a:srgbClr val="5C6B7A"/>
                </a:solidFill>
                <a:latin typeface="Calibri" pitchFamily="34" charset="0"/>
                <a:ea typeface="Calibri" pitchFamily="34" charset="-122"/>
                <a:cs typeface="Calibri" pitchFamily="34" charset="-120"/>
              </a:rPr>
              <a:t>Conformant — usable from QGIS with no custom code</a:t>
            </a:r>
            <a:endParaRPr lang="en-US" sz="1050" dirty="0"/>
          </a:p>
        </p:txBody>
      </p:sp>
      <p:sp>
        <p:nvSpPr>
          <p:cNvPr id="18" name="Shape 15"/>
          <p:cNvSpPr/>
          <p:nvPr/>
        </p:nvSpPr>
        <p:spPr>
          <a:xfrm>
            <a:off x="566928" y="5084064"/>
            <a:ext cx="5212080" cy="566928"/>
          </a:xfrm>
          <a:prstGeom prst="roundRect">
            <a:avLst>
              <a:gd name="adj" fmla="val 12903"/>
            </a:avLst>
          </a:prstGeom>
          <a:solidFill>
            <a:srgbClr val="EEF2F5"/>
          </a:solidFill>
          <a:ln w="12700">
            <a:solidFill>
              <a:srgbClr val="EEF2F5"/>
            </a:solidFill>
            <a:prstDash val="solid"/>
          </a:ln>
        </p:spPr>
      </p:sp>
      <p:sp>
        <p:nvSpPr>
          <p:cNvPr id="19" name="Text 16"/>
          <p:cNvSpPr txBox="1"/>
          <p:nvPr/>
        </p:nvSpPr>
        <p:spPr>
          <a:xfrm>
            <a:off x="786384" y="5157216"/>
            <a:ext cx="4754880" cy="237744"/>
          </a:xfrm>
          <a:prstGeom prst="rect">
            <a:avLst/>
          </a:prstGeom>
          <a:noFill/>
          <a:ln/>
        </p:spPr>
        <p:txBody>
          <a:bodyPr wrap="square" lIns="0" tIns="0" rIns="0" bIns="0" rtlCol="0" anchor="t"/>
          <a:lstStyle/>
          <a:p>
            <a:pPr indent="0" marL="0">
              <a:buNone/>
            </a:pPr>
            <a:r>
              <a:rPr lang="en-US" sz="1250" b="1" dirty="0">
                <a:solidFill>
                  <a:srgbClr val="0F6E5F"/>
                </a:solidFill>
                <a:latin typeface="Calibri" pitchFamily="34" charset="0"/>
                <a:ea typeface="Calibri" pitchFamily="34" charset="-122"/>
                <a:cs typeface="Calibri" pitchFamily="34" charset="-120"/>
              </a:rPr>
              <a:t>DPDP Act 2023</a:t>
            </a:r>
            <a:endParaRPr lang="en-US" sz="1250" dirty="0"/>
          </a:p>
        </p:txBody>
      </p:sp>
      <p:sp>
        <p:nvSpPr>
          <p:cNvPr id="20" name="Text 17"/>
          <p:cNvSpPr txBox="1"/>
          <p:nvPr/>
        </p:nvSpPr>
        <p:spPr>
          <a:xfrm>
            <a:off x="786384" y="5394960"/>
            <a:ext cx="4791456" cy="237744"/>
          </a:xfrm>
          <a:prstGeom prst="rect">
            <a:avLst/>
          </a:prstGeom>
          <a:noFill/>
          <a:ln/>
        </p:spPr>
        <p:txBody>
          <a:bodyPr wrap="square" lIns="0" tIns="0" rIns="0" bIns="0" rtlCol="0" anchor="t"/>
          <a:lstStyle/>
          <a:p>
            <a:pPr indent="0" marL="0">
              <a:buNone/>
            </a:pPr>
            <a:r>
              <a:rPr lang="en-US" sz="1050" dirty="0">
                <a:solidFill>
                  <a:srgbClr val="5C6B7A"/>
                </a:solidFill>
                <a:latin typeface="Calibri" pitchFamily="34" charset="0"/>
                <a:ea typeface="Calibri" pitchFamily="34" charset="-122"/>
                <a:cs typeface="Calibri" pitchFamily="34" charset="-120"/>
              </a:rPr>
              <a:t>Owner data absent from the feature API by construction</a:t>
            </a:r>
            <a:endParaRPr lang="en-US" sz="1050" dirty="0"/>
          </a:p>
        </p:txBody>
      </p:sp>
      <p:sp>
        <p:nvSpPr>
          <p:cNvPr id="21" name="Shape 18"/>
          <p:cNvSpPr/>
          <p:nvPr/>
        </p:nvSpPr>
        <p:spPr>
          <a:xfrm>
            <a:off x="566928" y="5797296"/>
            <a:ext cx="5212080" cy="566928"/>
          </a:xfrm>
          <a:prstGeom prst="roundRect">
            <a:avLst>
              <a:gd name="adj" fmla="val 12903"/>
            </a:avLst>
          </a:prstGeom>
          <a:solidFill>
            <a:srgbClr val="E3EAF0"/>
          </a:solidFill>
          <a:ln w="12700">
            <a:solidFill>
              <a:srgbClr val="E3EAF0"/>
            </a:solidFill>
            <a:prstDash val="solid"/>
          </a:ln>
        </p:spPr>
      </p:sp>
      <p:sp>
        <p:nvSpPr>
          <p:cNvPr id="22" name="Text 19"/>
          <p:cNvSpPr txBox="1"/>
          <p:nvPr/>
        </p:nvSpPr>
        <p:spPr>
          <a:xfrm>
            <a:off x="786384" y="5870448"/>
            <a:ext cx="4754880" cy="237744"/>
          </a:xfrm>
          <a:prstGeom prst="rect">
            <a:avLst/>
          </a:prstGeom>
          <a:noFill/>
          <a:ln/>
        </p:spPr>
        <p:txBody>
          <a:bodyPr wrap="square" lIns="0" tIns="0" rIns="0" bIns="0" rtlCol="0" anchor="t"/>
          <a:lstStyle/>
          <a:p>
            <a:pPr indent="0" marL="0">
              <a:buNone/>
            </a:pPr>
            <a:r>
              <a:rPr lang="en-US" sz="1250" b="1" dirty="0">
                <a:solidFill>
                  <a:srgbClr val="0F6E5F"/>
                </a:solidFill>
                <a:latin typeface="Calibri" pitchFamily="34" charset="0"/>
                <a:ea typeface="Calibri" pitchFamily="34" charset="-122"/>
                <a:cs typeface="Calibri" pitchFamily="34" charset="-120"/>
              </a:rPr>
              <a:t>CityGML LOD1 / CityJSON</a:t>
            </a:r>
            <a:endParaRPr lang="en-US" sz="1250" dirty="0"/>
          </a:p>
        </p:txBody>
      </p:sp>
      <p:sp>
        <p:nvSpPr>
          <p:cNvPr id="23" name="Text 20"/>
          <p:cNvSpPr txBox="1"/>
          <p:nvPr/>
        </p:nvSpPr>
        <p:spPr>
          <a:xfrm>
            <a:off x="786384" y="6108192"/>
            <a:ext cx="4791456" cy="237744"/>
          </a:xfrm>
          <a:prstGeom prst="rect">
            <a:avLst/>
          </a:prstGeom>
          <a:noFill/>
          <a:ln/>
        </p:spPr>
        <p:txBody>
          <a:bodyPr wrap="square" lIns="0" tIns="0" rIns="0" bIns="0" rtlCol="0" anchor="t"/>
          <a:lstStyle/>
          <a:p>
            <a:pPr indent="0" marL="0">
              <a:buNone/>
            </a:pPr>
            <a:r>
              <a:rPr lang="en-US" sz="1050" dirty="0">
                <a:solidFill>
                  <a:srgbClr val="5C6B7A"/>
                </a:solidFill>
                <a:latin typeface="Calibri" pitchFamily="34" charset="0"/>
                <a:ea typeface="Calibri" pitchFamily="34" charset="-122"/>
                <a:cs typeface="Calibri" pitchFamily="34" charset="-120"/>
              </a:rPr>
              <a:t>3-D massing for FSI and coverage compliance</a:t>
            </a:r>
            <a:endParaRPr lang="en-US" sz="1050" dirty="0"/>
          </a:p>
        </p:txBody>
      </p:sp>
      <p:sp>
        <p:nvSpPr>
          <p:cNvPr id="24" name="Shape 21"/>
          <p:cNvSpPr/>
          <p:nvPr/>
        </p:nvSpPr>
        <p:spPr>
          <a:xfrm>
            <a:off x="6126480" y="1645920"/>
            <a:ext cx="5468112" cy="4480560"/>
          </a:xfrm>
          <a:prstGeom prst="roundRect">
            <a:avLst>
              <a:gd name="adj" fmla="val 1633"/>
            </a:avLst>
          </a:prstGeom>
          <a:solidFill>
            <a:srgbClr val="13202F"/>
          </a:solidFill>
          <a:ln w="12700">
            <a:solidFill>
              <a:srgbClr val="13202F"/>
            </a:solidFill>
            <a:prstDash val="solid"/>
          </a:ln>
        </p:spPr>
      </p:sp>
      <p:sp>
        <p:nvSpPr>
          <p:cNvPr id="25" name="Text 22"/>
          <p:cNvSpPr txBox="1"/>
          <p:nvPr/>
        </p:nvSpPr>
        <p:spPr>
          <a:xfrm>
            <a:off x="6382512" y="1810512"/>
            <a:ext cx="4846320" cy="292608"/>
          </a:xfrm>
          <a:prstGeom prst="rect">
            <a:avLst/>
          </a:prstGeom>
          <a:noFill/>
          <a:ln/>
        </p:spPr>
        <p:txBody>
          <a:bodyPr wrap="square" lIns="0" tIns="0" rIns="0" bIns="0" rtlCol="0" anchor="t"/>
          <a:lstStyle/>
          <a:p>
            <a:pPr indent="0" marL="0">
              <a:buNone/>
            </a:pPr>
            <a:r>
              <a:rPr lang="en-US" sz="1400" b="1" dirty="0">
                <a:solidFill>
                  <a:srgbClr val="D9743B"/>
                </a:solidFill>
                <a:latin typeface="Calibri" pitchFamily="34" charset="0"/>
                <a:ea typeface="Calibri" pitchFamily="34" charset="-122"/>
                <a:cs typeface="Calibri" pitchFamily="34" charset="-120"/>
              </a:rPr>
              <a:t>What it will not do</a:t>
            </a:r>
            <a:endParaRPr lang="en-US" sz="1400" dirty="0"/>
          </a:p>
        </p:txBody>
      </p:sp>
      <p:sp>
        <p:nvSpPr>
          <p:cNvPr id="26" name="Text 23"/>
          <p:cNvSpPr txBox="1"/>
          <p:nvPr/>
        </p:nvSpPr>
        <p:spPr>
          <a:xfrm>
            <a:off x="6382512" y="2249424"/>
            <a:ext cx="4937760" cy="3200400"/>
          </a:xfrm>
          <a:prstGeom prst="rect">
            <a:avLst/>
          </a:prstGeom>
          <a:noFill/>
          <a:ln/>
        </p:spPr>
        <p:txBody>
          <a:bodyPr wrap="square" lIns="0" tIns="0" rIns="0" bIns="0" rtlCol="0" anchor="t"/>
          <a:lstStyle/>
          <a:p>
            <a:pPr marL="228600" indent="-228600">
              <a:spcAft>
                <a:spcPts val="1100"/>
              </a:spcAft>
              <a:buSzPct val="100000"/>
              <a:buChar char="•"/>
            </a:pPr>
            <a:r>
              <a:rPr lang="en-US" sz="1150" dirty="0">
                <a:solidFill>
                  <a:srgbClr val="C9D6E2"/>
                </a:solidFill>
                <a:latin typeface="Calibri" pitchFamily="34" charset="0"/>
                <a:ea typeface="Calibri" pitchFamily="34" charset="-122"/>
                <a:cs typeface="Calibri" pitchFamily="34" charset="-120"/>
              </a:rPr>
              <a:t>Confer title. It harmonises spatial records; title is a legal determination.</a:t>
            </a:r>
            <a:endParaRPr lang="en-US" sz="1150" dirty="0"/>
          </a:p>
          <a:p>
            <a:pPr marL="228600" indent="-228600">
              <a:spcAft>
                <a:spcPts val="1100"/>
              </a:spcAft>
              <a:buSzPct val="100000"/>
              <a:buChar char="•"/>
            </a:pPr>
            <a:r>
              <a:rPr lang="en-US" sz="1150" dirty="0">
                <a:solidFill>
                  <a:srgbClr val="C9D6E2"/>
                </a:solidFill>
                <a:latin typeface="Calibri" pitchFamily="34" charset="0"/>
                <a:ea typeface="Calibri" pitchFamily="34" charset="-122"/>
                <a:cs typeface="Calibri" pitchFamily="34" charset="-120"/>
              </a:rPr>
              <a:t>Determine encroachment. It puts the geometric evidence in front of the officer who does.</a:t>
            </a:r>
            <a:endParaRPr lang="en-US" sz="1150" dirty="0"/>
          </a:p>
          <a:p>
            <a:pPr marL="228600" indent="-228600">
              <a:spcAft>
                <a:spcPts val="1100"/>
              </a:spcAft>
              <a:buSzPct val="100000"/>
              <a:buChar char="•"/>
            </a:pPr>
            <a:r>
              <a:rPr lang="en-US" sz="1150" dirty="0">
                <a:solidFill>
                  <a:srgbClr val="C9D6E2"/>
                </a:solidFill>
                <a:latin typeface="Calibri" pitchFamily="34" charset="0"/>
                <a:ea typeface="Calibri" pitchFamily="34" charset="-122"/>
                <a:cs typeface="Calibri" pitchFamily="34" charset="-120"/>
              </a:rPr>
              <a:t>Average geometries. Every emitted boundary was observed by some survey.</a:t>
            </a:r>
            <a:endParaRPr lang="en-US" sz="1150" dirty="0"/>
          </a:p>
          <a:p>
            <a:pPr marL="228600" indent="-228600">
              <a:spcAft>
                <a:spcPts val="1100"/>
              </a:spcAft>
              <a:buSzPct val="100000"/>
              <a:buChar char="•"/>
            </a:pPr>
            <a:r>
              <a:rPr lang="en-US" sz="1150" dirty="0">
                <a:solidFill>
                  <a:srgbClr val="C9D6E2"/>
                </a:solidFill>
                <a:latin typeface="Calibri" pitchFamily="34" charset="0"/>
                <a:ea typeface="Calibri" pitchFamily="34" charset="-122"/>
                <a:cs typeface="Calibri" pitchFamily="34" charset="-120"/>
              </a:rPr>
              <a:t>Overwrite a source. Claims are immutable; resolutions supersede.</a:t>
            </a:r>
            <a:endParaRPr lang="en-US" sz="1150" dirty="0"/>
          </a:p>
          <a:p>
            <a:pPr marL="228600" indent="-228600">
              <a:spcAft>
                <a:spcPts val="1100"/>
              </a:spcAft>
              <a:buSzPct val="100000"/>
              <a:buChar char="•"/>
            </a:pPr>
            <a:r>
              <a:rPr lang="en-US" sz="1150" dirty="0">
                <a:solidFill>
                  <a:srgbClr val="C9D6E2"/>
                </a:solidFill>
                <a:latin typeface="Calibri" pitchFamily="34" charset="0"/>
                <a:ea typeface="Calibri" pitchFamily="34" charset="-122"/>
                <a:cs typeface="Calibri" pitchFamily="34" charset="-120"/>
              </a:rPr>
              <a:t>Publish personal data through the feature API. Absent, not redacted on request.</a:t>
            </a:r>
            <a:endParaRPr lang="en-US" sz="1150" dirty="0"/>
          </a:p>
          <a:p>
            <a:pPr marL="228600" indent="-228600">
              <a:spcAft>
                <a:spcPts val="1100"/>
              </a:spcAft>
              <a:buSzPct val="100000"/>
              <a:buChar char="•"/>
            </a:pPr>
            <a:r>
              <a:rPr lang="en-US" sz="1150" dirty="0">
                <a:solidFill>
                  <a:srgbClr val="C9D6E2"/>
                </a:solidFill>
                <a:latin typeface="Calibri" pitchFamily="34" charset="0"/>
                <a:ea typeface="Calibri" pitchFamily="34" charset="-122"/>
                <a:cs typeface="Calibri" pitchFamily="34" charset="-120"/>
              </a:rPr>
              <a:t>Claim measured accuracy it does not have. Without control it says so, per feature.</a:t>
            </a:r>
            <a:endParaRPr lang="en-US" sz="1150" dirty="0"/>
          </a:p>
          <a:p>
            <a:pPr marL="228600" indent="-228600">
              <a:spcAft>
                <a:spcPts val="1100"/>
              </a:spcAft>
              <a:buSzPct val="100000"/>
              <a:buChar char="•"/>
            </a:pPr>
            <a:r>
              <a:rPr lang="en-US" sz="1150" dirty="0">
                <a:solidFill>
                  <a:srgbClr val="C9D6E2"/>
                </a:solidFill>
                <a:latin typeface="Calibri" pitchFamily="34" charset="0"/>
                <a:ea typeface="Calibri" pitchFamily="34" charset="-122"/>
                <a:cs typeface="Calibri" pitchFamily="34" charset="-120"/>
              </a:rPr>
              <a:t>Treat contemporaneous sources as epochs. Disagreement is not a mutation.</a:t>
            </a:r>
            <a:endParaRPr lang="en-US" sz="1150" dirty="0"/>
          </a:p>
        </p:txBody>
      </p:sp>
      <p:sp>
        <p:nvSpPr>
          <p:cNvPr id="27" name="Shape 24"/>
          <p:cNvSpPr/>
          <p:nvPr/>
        </p:nvSpPr>
        <p:spPr>
          <a:xfrm>
            <a:off x="6382512" y="5413248"/>
            <a:ext cx="4937760" cy="603504"/>
          </a:xfrm>
          <a:prstGeom prst="roundRect">
            <a:avLst>
              <a:gd name="adj" fmla="val 12121"/>
            </a:avLst>
          </a:prstGeom>
          <a:solidFill>
            <a:srgbClr val="16283F"/>
          </a:solidFill>
          <a:ln w="12700">
            <a:solidFill>
              <a:srgbClr val="16283F"/>
            </a:solidFill>
            <a:prstDash val="solid"/>
          </a:ln>
        </p:spPr>
      </p:sp>
      <p:sp>
        <p:nvSpPr>
          <p:cNvPr id="28" name="Text 25"/>
          <p:cNvSpPr txBox="1"/>
          <p:nvPr/>
        </p:nvSpPr>
        <p:spPr>
          <a:xfrm>
            <a:off x="6547104" y="5413248"/>
            <a:ext cx="4626864" cy="603504"/>
          </a:xfrm>
          <a:prstGeom prst="rect">
            <a:avLst/>
          </a:prstGeom>
          <a:noFill/>
          <a:ln/>
        </p:spPr>
        <p:txBody>
          <a:bodyPr wrap="square" lIns="0" tIns="0" rIns="0" bIns="0" rtlCol="0" anchor="ctr"/>
          <a:lstStyle/>
          <a:p>
            <a:pPr indent="0" marL="0">
              <a:buNone/>
            </a:pPr>
            <a:r>
              <a:rPr lang="en-US" sz="1150" i="1" dirty="0">
                <a:solidFill>
                  <a:srgbClr val="D9743B"/>
                </a:solidFill>
                <a:latin typeface="Calibri" pitchFamily="34" charset="0"/>
                <a:ea typeface="Calibri" pitchFamily="34" charset="-122"/>
                <a:cs typeface="Calibri" pitchFamily="34" charset="-120"/>
              </a:rPr>
              <a:t>Stating what a system will not do is part of specifying what it does.</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3202F"/>
        </a:solidFill>
      </p:bgPr>
    </p:bg>
    <p:spTree>
      <p:nvGrpSpPr>
        <p:cNvPr id="1" name=""/>
        <p:cNvGrpSpPr/>
        <p:nvPr/>
      </p:nvGrpSpPr>
      <p:grpSpPr>
        <a:xfrm>
          <a:off x="0" y="0"/>
          <a:ext cx="0" cy="0"/>
          <a:chOff x="0" y="0"/>
          <a:chExt cx="0" cy="0"/>
        </a:xfrm>
      </p:grpSpPr>
      <p:sp>
        <p:nvSpPr>
          <p:cNvPr id="3" name="Shape 0"/>
          <p:cNvSpPr/>
          <p:nvPr/>
        </p:nvSpPr>
        <p:spPr>
          <a:xfrm>
            <a:off x="9784080" y="-3200400"/>
            <a:ext cx="5120640" cy="5120640"/>
          </a:xfrm>
          <a:prstGeom prst="ellipse">
            <a:avLst/>
          </a:prstGeom>
          <a:solidFill>
            <a:srgbClr val="1E3350"/>
          </a:solidFill>
          <a:ln w="12700">
            <a:solidFill>
              <a:srgbClr val="1E3350"/>
            </a:solidFill>
            <a:prstDash val="solid"/>
          </a:ln>
        </p:spPr>
      </p:sp>
      <p:sp>
        <p:nvSpPr>
          <p:cNvPr id="4" name="Text 1"/>
          <p:cNvSpPr txBox="1"/>
          <p:nvPr/>
        </p:nvSpPr>
        <p:spPr>
          <a:xfrm>
            <a:off x="566928" y="868680"/>
            <a:ext cx="7315200" cy="914400"/>
          </a:xfrm>
          <a:prstGeom prst="rect">
            <a:avLst/>
          </a:prstGeom>
          <a:noFill/>
          <a:ln/>
        </p:spPr>
        <p:txBody>
          <a:bodyPr wrap="square" lIns="0" tIns="0" rIns="0" bIns="0" rtlCol="0" anchor="t"/>
          <a:lstStyle/>
          <a:p>
            <a:pPr indent="0" marL="0">
              <a:buNone/>
            </a:pPr>
            <a:r>
              <a:rPr lang="en-US" sz="5200" b="1" dirty="0">
                <a:solidFill>
                  <a:srgbClr val="FFFFFF"/>
                </a:solidFill>
                <a:latin typeface="Cambria" pitchFamily="34" charset="0"/>
                <a:ea typeface="Cambria" pitchFamily="34" charset="-122"/>
                <a:cs typeface="Cambria" pitchFamily="34" charset="-120"/>
              </a:rPr>
              <a:t>It runs.</a:t>
            </a:r>
            <a:endParaRPr lang="en-US" sz="5200" dirty="0"/>
          </a:p>
        </p:txBody>
      </p:sp>
      <p:sp>
        <p:nvSpPr>
          <p:cNvPr id="5" name="Text 2"/>
          <p:cNvSpPr txBox="1"/>
          <p:nvPr/>
        </p:nvSpPr>
        <p:spPr>
          <a:xfrm>
            <a:off x="566928" y="1847088"/>
            <a:ext cx="8229600" cy="402336"/>
          </a:xfrm>
          <a:prstGeom prst="rect">
            <a:avLst/>
          </a:prstGeom>
          <a:noFill/>
          <a:ln/>
        </p:spPr>
        <p:txBody>
          <a:bodyPr wrap="square" lIns="0" tIns="0" rIns="0" bIns="0" rtlCol="0" anchor="t"/>
          <a:lstStyle/>
          <a:p>
            <a:pPr indent="0" marL="0">
              <a:buNone/>
            </a:pPr>
            <a:r>
              <a:rPr lang="en-US" sz="1700" dirty="0">
                <a:solidFill>
                  <a:srgbClr val="C9D6E2"/>
                </a:solidFill>
                <a:latin typeface="Calibri" pitchFamily="34" charset="0"/>
                <a:ea typeface="Calibri" pitchFamily="34" charset="-122"/>
                <a:cs typeface="Calibri" pitchFamily="34" charset="-120"/>
              </a:rPr>
              <a:t>Not a mock-up — a working platform, measured on real data.</a:t>
            </a:r>
            <a:endParaRPr lang="en-US" sz="1700" dirty="0"/>
          </a:p>
        </p:txBody>
      </p:sp>
      <p:sp>
        <p:nvSpPr>
          <p:cNvPr id="6" name="Text 3"/>
          <p:cNvSpPr txBox="1"/>
          <p:nvPr/>
        </p:nvSpPr>
        <p:spPr>
          <a:xfrm>
            <a:off x="566928" y="2697480"/>
            <a:ext cx="2560320" cy="640080"/>
          </a:xfrm>
          <a:prstGeom prst="rect">
            <a:avLst/>
          </a:prstGeom>
          <a:noFill/>
          <a:ln/>
        </p:spPr>
        <p:txBody>
          <a:bodyPr wrap="square" lIns="0" tIns="0" rIns="0" bIns="0" rtlCol="0" anchor="t"/>
          <a:lstStyle/>
          <a:p>
            <a:pPr indent="0" marL="0">
              <a:buNone/>
            </a:pPr>
            <a:r>
              <a:rPr lang="en-US" sz="3200" b="1" dirty="0">
                <a:solidFill>
                  <a:srgbClr val="D9743B"/>
                </a:solidFill>
                <a:latin typeface="Cambria" pitchFamily="34" charset="0"/>
                <a:ea typeface="Cambria" pitchFamily="34" charset="-122"/>
                <a:cs typeface="Cambria" pitchFamily="34" charset="-120"/>
              </a:rPr>
              <a:t>~10,000</a:t>
            </a:r>
            <a:endParaRPr lang="en-US" sz="3200" dirty="0"/>
          </a:p>
        </p:txBody>
      </p:sp>
      <p:sp>
        <p:nvSpPr>
          <p:cNvPr id="7" name="Text 4"/>
          <p:cNvSpPr txBox="1"/>
          <p:nvPr/>
        </p:nvSpPr>
        <p:spPr>
          <a:xfrm>
            <a:off x="566928" y="3337560"/>
            <a:ext cx="2560320" cy="713232"/>
          </a:xfrm>
          <a:prstGeom prst="rect">
            <a:avLst/>
          </a:prstGeom>
          <a:noFill/>
          <a:ln/>
        </p:spPr>
        <p:txBody>
          <a:bodyPr wrap="square" lIns="0" tIns="0" rIns="0" bIns="0" rtlCol="0" anchor="t"/>
          <a:lstStyle/>
          <a:p>
            <a:pPr indent="0" marL="0">
              <a:lnSpc>
                <a:spcPts val="1500"/>
              </a:lnSpc>
              <a:buNone/>
            </a:pPr>
            <a:r>
              <a:rPr lang="en-US" sz="1100" dirty="0">
                <a:solidFill>
                  <a:srgbClr val="C9D6E2"/>
                </a:solidFill>
                <a:latin typeface="Calibri" pitchFamily="34" charset="0"/>
                <a:ea typeface="Calibri" pitchFamily="34" charset="-122"/>
                <a:cs typeface="Calibri" pitchFamily="34" charset="-120"/>
              </a:rPr>
              <a:t>lines of Python across 30 modules</a:t>
            </a:r>
            <a:endParaRPr lang="en-US" sz="1100" dirty="0"/>
          </a:p>
        </p:txBody>
      </p:sp>
      <p:sp>
        <p:nvSpPr>
          <p:cNvPr id="8" name="Text 5"/>
          <p:cNvSpPr txBox="1"/>
          <p:nvPr/>
        </p:nvSpPr>
        <p:spPr>
          <a:xfrm>
            <a:off x="3355848" y="2697480"/>
            <a:ext cx="2560320" cy="640080"/>
          </a:xfrm>
          <a:prstGeom prst="rect">
            <a:avLst/>
          </a:prstGeom>
          <a:noFill/>
          <a:ln/>
        </p:spPr>
        <p:txBody>
          <a:bodyPr wrap="square" lIns="0" tIns="0" rIns="0" bIns="0" rtlCol="0" anchor="t"/>
          <a:lstStyle/>
          <a:p>
            <a:pPr indent="0" marL="0">
              <a:buNone/>
            </a:pPr>
            <a:r>
              <a:rPr lang="en-US" sz="3200" b="1" dirty="0">
                <a:solidFill>
                  <a:srgbClr val="D9743B"/>
                </a:solidFill>
                <a:latin typeface="Cambria" pitchFamily="34" charset="0"/>
                <a:ea typeface="Cambria" pitchFamily="34" charset="-122"/>
                <a:cs typeface="Cambria" pitchFamily="34" charset="-120"/>
              </a:rPr>
              <a:t>81</a:t>
            </a:r>
            <a:endParaRPr lang="en-US" sz="3200" dirty="0"/>
          </a:p>
        </p:txBody>
      </p:sp>
      <p:sp>
        <p:nvSpPr>
          <p:cNvPr id="9" name="Text 6"/>
          <p:cNvSpPr txBox="1"/>
          <p:nvPr/>
        </p:nvSpPr>
        <p:spPr>
          <a:xfrm>
            <a:off x="3355848" y="3337560"/>
            <a:ext cx="2560320" cy="713232"/>
          </a:xfrm>
          <a:prstGeom prst="rect">
            <a:avLst/>
          </a:prstGeom>
          <a:noFill/>
          <a:ln/>
        </p:spPr>
        <p:txBody>
          <a:bodyPr wrap="square" lIns="0" tIns="0" rIns="0" bIns="0" rtlCol="0" anchor="t"/>
          <a:lstStyle/>
          <a:p>
            <a:pPr indent="0" marL="0">
              <a:lnSpc>
                <a:spcPts val="1500"/>
              </a:lnSpc>
              <a:buNone/>
            </a:pPr>
            <a:r>
              <a:rPr lang="en-US" sz="1100" dirty="0">
                <a:solidFill>
                  <a:srgbClr val="C9D6E2"/>
                </a:solidFill>
                <a:latin typeface="Calibri" pitchFamily="34" charset="0"/>
                <a:ea typeface="Calibri" pitchFamily="34" charset="-122"/>
                <a:cs typeface="Calibri" pitchFamily="34" charset="-120"/>
              </a:rPr>
              <a:t>tests, all passing</a:t>
            </a:r>
            <a:endParaRPr lang="en-US" sz="1100" dirty="0"/>
          </a:p>
        </p:txBody>
      </p:sp>
      <p:sp>
        <p:nvSpPr>
          <p:cNvPr id="10" name="Text 7"/>
          <p:cNvSpPr txBox="1"/>
          <p:nvPr/>
        </p:nvSpPr>
        <p:spPr>
          <a:xfrm>
            <a:off x="6144768" y="2697480"/>
            <a:ext cx="2560320" cy="640080"/>
          </a:xfrm>
          <a:prstGeom prst="rect">
            <a:avLst/>
          </a:prstGeom>
          <a:noFill/>
          <a:ln/>
        </p:spPr>
        <p:txBody>
          <a:bodyPr wrap="square" lIns="0" tIns="0" rIns="0" bIns="0" rtlCol="0" anchor="t"/>
          <a:lstStyle/>
          <a:p>
            <a:pPr indent="0" marL="0">
              <a:buNone/>
            </a:pPr>
            <a:r>
              <a:rPr lang="en-US" sz="3200" b="1" dirty="0">
                <a:solidFill>
                  <a:srgbClr val="D9743B"/>
                </a:solidFill>
                <a:latin typeface="Cambria" pitchFamily="34" charset="0"/>
                <a:ea typeface="Cambria" pitchFamily="34" charset="-122"/>
                <a:cs typeface="Cambria" pitchFamily="34" charset="-120"/>
              </a:rPr>
              <a:t>107,262</a:t>
            </a:r>
            <a:endParaRPr lang="en-US" sz="3200" dirty="0"/>
          </a:p>
        </p:txBody>
      </p:sp>
      <p:sp>
        <p:nvSpPr>
          <p:cNvPr id="11" name="Text 8"/>
          <p:cNvSpPr txBox="1"/>
          <p:nvPr/>
        </p:nvSpPr>
        <p:spPr>
          <a:xfrm>
            <a:off x="6144768" y="3337560"/>
            <a:ext cx="2560320" cy="713232"/>
          </a:xfrm>
          <a:prstGeom prst="rect">
            <a:avLst/>
          </a:prstGeom>
          <a:noFill/>
          <a:ln/>
        </p:spPr>
        <p:txBody>
          <a:bodyPr wrap="square" lIns="0" tIns="0" rIns="0" bIns="0" rtlCol="0" anchor="t"/>
          <a:lstStyle/>
          <a:p>
            <a:pPr indent="0" marL="0">
              <a:lnSpc>
                <a:spcPts val="1500"/>
              </a:lnSpc>
              <a:buNone/>
            </a:pPr>
            <a:r>
              <a:rPr lang="en-US" sz="1100" dirty="0">
                <a:solidFill>
                  <a:srgbClr val="C9D6E2"/>
                </a:solidFill>
                <a:latin typeface="Calibri" pitchFamily="34" charset="0"/>
                <a:ea typeface="Calibri" pitchFamily="34" charset="-122"/>
                <a:cs typeface="Calibri" pitchFamily="34" charset="-120"/>
              </a:rPr>
              <a:t>features harmonised in one 17.8-minute run</a:t>
            </a:r>
            <a:endParaRPr lang="en-US" sz="1100" dirty="0"/>
          </a:p>
        </p:txBody>
      </p:sp>
      <p:sp>
        <p:nvSpPr>
          <p:cNvPr id="12" name="Text 9"/>
          <p:cNvSpPr txBox="1"/>
          <p:nvPr/>
        </p:nvSpPr>
        <p:spPr>
          <a:xfrm>
            <a:off x="8933688" y="2697480"/>
            <a:ext cx="2560320" cy="640080"/>
          </a:xfrm>
          <a:prstGeom prst="rect">
            <a:avLst/>
          </a:prstGeom>
          <a:noFill/>
          <a:ln/>
        </p:spPr>
        <p:txBody>
          <a:bodyPr wrap="square" lIns="0" tIns="0" rIns="0" bIns="0" rtlCol="0" anchor="t"/>
          <a:lstStyle/>
          <a:p>
            <a:pPr indent="0" marL="0">
              <a:buNone/>
            </a:pPr>
            <a:r>
              <a:rPr lang="en-US" sz="3200" b="1" dirty="0">
                <a:solidFill>
                  <a:srgbClr val="D9743B"/>
                </a:solidFill>
                <a:latin typeface="Cambria" pitchFamily="34" charset="0"/>
                <a:ea typeface="Cambria" pitchFamily="34" charset="-122"/>
                <a:cs typeface="Cambria" pitchFamily="34" charset="-120"/>
              </a:rPr>
              <a:t>2 vCPU</a:t>
            </a:r>
            <a:endParaRPr lang="en-US" sz="3200" dirty="0"/>
          </a:p>
        </p:txBody>
      </p:sp>
      <p:sp>
        <p:nvSpPr>
          <p:cNvPr id="13" name="Text 10"/>
          <p:cNvSpPr txBox="1"/>
          <p:nvPr/>
        </p:nvSpPr>
        <p:spPr>
          <a:xfrm>
            <a:off x="8933688" y="3337560"/>
            <a:ext cx="2560320" cy="713232"/>
          </a:xfrm>
          <a:prstGeom prst="rect">
            <a:avLst/>
          </a:prstGeom>
          <a:noFill/>
          <a:ln/>
        </p:spPr>
        <p:txBody>
          <a:bodyPr wrap="square" lIns="0" tIns="0" rIns="0" bIns="0" rtlCol="0" anchor="t"/>
          <a:lstStyle/>
          <a:p>
            <a:pPr indent="0" marL="0">
              <a:lnSpc>
                <a:spcPts val="1500"/>
              </a:lnSpc>
              <a:buNone/>
            </a:pPr>
            <a:r>
              <a:rPr lang="en-US" sz="1100" dirty="0">
                <a:solidFill>
                  <a:srgbClr val="C9D6E2"/>
                </a:solidFill>
                <a:latin typeface="Calibri" pitchFamily="34" charset="0"/>
                <a:ea typeface="Calibri" pitchFamily="34" charset="-122"/>
                <a:cs typeface="Calibri" pitchFamily="34" charset="-120"/>
              </a:rPr>
              <a:t>and 7 GB of RAM — district-office hardware</a:t>
            </a:r>
            <a:endParaRPr lang="en-US" sz="1100" dirty="0"/>
          </a:p>
        </p:txBody>
      </p:sp>
      <p:sp>
        <p:nvSpPr>
          <p:cNvPr id="14" name="Shape 11"/>
          <p:cNvSpPr/>
          <p:nvPr/>
        </p:nvSpPr>
        <p:spPr>
          <a:xfrm>
            <a:off x="566928" y="4352544"/>
            <a:ext cx="8321040" cy="1371600"/>
          </a:xfrm>
          <a:prstGeom prst="roundRect">
            <a:avLst>
              <a:gd name="adj" fmla="val 5333"/>
            </a:avLst>
          </a:prstGeom>
          <a:solidFill>
            <a:srgbClr val="1E3350"/>
          </a:solidFill>
          <a:ln w="12700">
            <a:solidFill>
              <a:srgbClr val="1E3350"/>
            </a:solidFill>
            <a:prstDash val="solid"/>
          </a:ln>
        </p:spPr>
      </p:sp>
      <p:sp>
        <p:nvSpPr>
          <p:cNvPr id="15" name="Text 12"/>
          <p:cNvSpPr txBox="1"/>
          <p:nvPr/>
        </p:nvSpPr>
        <p:spPr>
          <a:xfrm>
            <a:off x="877824" y="4352544"/>
            <a:ext cx="7772400" cy="1371600"/>
          </a:xfrm>
          <a:prstGeom prst="rect">
            <a:avLst/>
          </a:prstGeom>
          <a:noFill/>
          <a:ln/>
        </p:spPr>
        <p:txBody>
          <a:bodyPr wrap="square" lIns="0" tIns="0" rIns="0" bIns="0" rtlCol="0" anchor="ctr"/>
          <a:lstStyle/>
          <a:p>
            <a:pPr indent="0" marL="0">
              <a:lnSpc>
                <a:spcPts val="2200"/>
              </a:lnSpc>
              <a:buNone/>
            </a:pPr>
            <a:r>
              <a:rPr lang="en-US" sz="1400" dirty="0">
                <a:solidFill>
                  <a:srgbClr val="FFFFFF"/>
                </a:solidFill>
                <a:latin typeface="Calibri" pitchFamily="34" charset="0"/>
                <a:ea typeface="Calibri" pitchFamily="34" charset="-122"/>
                <a:cs typeface="Calibri" pitchFamily="34" charset="-120"/>
              </a:rPr>
              <a:t>Every parcel it publishes carries its confidence, its contributing sources and</a:t>
            </a:r>
            <a:endParaRPr lang="en-US" sz="1400" dirty="0"/>
          </a:p>
          <a:p>
            <a:pPr indent="0" marL="0">
              <a:lnSpc>
                <a:spcPts val="2200"/>
              </a:lnSpc>
              <a:buNone/>
            </a:pPr>
            <a:r>
              <a:rPr lang="en-US" sz="1400" dirty="0">
                <a:solidFill>
                  <a:srgbClr val="FFFFFF"/>
                </a:solidFill>
                <a:latin typeface="Calibri" pitchFamily="34" charset="0"/>
                <a:ea typeface="Calibri" pitchFamily="34" charset="-122"/>
                <a:cs typeface="Calibri" pitchFamily="34" charset="-120"/>
              </a:rPr>
              <a:t>the hash of the ledger entry that produced it. A record whose history cannot</a:t>
            </a:r>
            <a:endParaRPr lang="en-US" sz="1400" dirty="0"/>
          </a:p>
          <a:p>
            <a:pPr indent="0" marL="0">
              <a:lnSpc>
                <a:spcPts val="2200"/>
              </a:lnSpc>
              <a:buNone/>
            </a:pPr>
            <a:r>
              <a:rPr lang="en-US" sz="1400" dirty="0">
                <a:solidFill>
                  <a:srgbClr val="FFFFFF"/>
                </a:solidFill>
                <a:latin typeface="Calibri" pitchFamily="34" charset="0"/>
                <a:ea typeface="Calibri" pitchFamily="34" charset="-122"/>
                <a:cs typeface="Calibri" pitchFamily="34" charset="-120"/>
              </a:rPr>
              <a:t>be reconstructed is a rumour with a geometry column.</a:t>
            </a:r>
            <a:endParaRPr lang="en-US" sz="1400" dirty="0"/>
          </a:p>
        </p:txBody>
      </p:sp>
      <p:sp>
        <p:nvSpPr>
          <p:cNvPr id="16" name="Text 13"/>
          <p:cNvSpPr txBox="1"/>
          <p:nvPr/>
        </p:nvSpPr>
        <p:spPr>
          <a:xfrm>
            <a:off x="566928" y="5998464"/>
            <a:ext cx="11064240" cy="310896"/>
          </a:xfrm>
          <a:prstGeom prst="rect">
            <a:avLst/>
          </a:prstGeom>
          <a:noFill/>
          <a:ln/>
        </p:spPr>
        <p:txBody>
          <a:bodyPr wrap="square" lIns="0" tIns="0" rIns="0" bIns="0" rtlCol="0" anchor="t"/>
          <a:lstStyle/>
          <a:p>
            <a:pPr indent="0" marL="0">
              <a:buNone/>
            </a:pPr>
            <a:r>
              <a:rPr lang="en-US" sz="1150" spc="100" kern="0" dirty="0">
                <a:solidFill>
                  <a:srgbClr val="C9D6E2"/>
                </a:solidFill>
                <a:latin typeface="Calibri" pitchFamily="34" charset="0"/>
                <a:ea typeface="Calibri" pitchFamily="34" charset="-122"/>
                <a:cs typeface="Calibri" pitchFamily="34" charset="-120"/>
              </a:rPr>
              <a:t>SAMANVAY  ·  PS 26013  ·  Department of Land Resources  ·  SIH 2026</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Smart India Hackathon 2026</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SAMANVAY — PS 26013</dc:title>
  <dc:subject>PptxGenJS Presentation</dc:subject>
  <dc:creator>Team SAMANVAY</dc:creator>
  <cp:lastModifiedBy>Team SAMANVAY</cp:lastModifiedBy>
  <cp:revision>1</cp:revision>
  <dcterms:created xsi:type="dcterms:W3CDTF">2026-09-03T02:58:05Z</dcterms:created>
  <dcterms:modified xsi:type="dcterms:W3CDTF">2026-09-03T02:58:05Z</dcterms:modified>
</cp:coreProperties>
</file>